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3"/>
    <p:sldMasterId id="2147483664" r:id="rId4"/>
    <p:sldMasterId id="2147484132" r:id="rId5"/>
    <p:sldMasterId id="2147485969" r:id="rId6"/>
  </p:sldMasterIdLst>
  <p:notesMasterIdLst>
    <p:notesMasterId r:id="rId27"/>
  </p:notesMasterIdLst>
  <p:handoutMasterIdLst>
    <p:handoutMasterId r:id="rId28"/>
  </p:handoutMasterIdLst>
  <p:sldIdLst>
    <p:sldId id="561" r:id="rId7"/>
    <p:sldId id="550" r:id="rId8"/>
    <p:sldId id="516" r:id="rId9"/>
    <p:sldId id="542" r:id="rId10"/>
    <p:sldId id="549" r:id="rId11"/>
    <p:sldId id="551" r:id="rId12"/>
    <p:sldId id="530" r:id="rId13"/>
    <p:sldId id="552" r:id="rId14"/>
    <p:sldId id="553" r:id="rId15"/>
    <p:sldId id="554" r:id="rId16"/>
    <p:sldId id="555" r:id="rId17"/>
    <p:sldId id="556" r:id="rId18"/>
    <p:sldId id="557" r:id="rId19"/>
    <p:sldId id="558" r:id="rId20"/>
    <p:sldId id="559" r:id="rId21"/>
    <p:sldId id="560" r:id="rId22"/>
    <p:sldId id="562" r:id="rId23"/>
    <p:sldId id="548" r:id="rId24"/>
    <p:sldId id="511" r:id="rId25"/>
    <p:sldId id="517" r:id="rId26"/>
  </p:sldIdLst>
  <p:sldSz cx="12192000" cy="6858000"/>
  <p:notesSz cx="7315200" cy="9601200"/>
  <p:defaultTextStyle>
    <a:defPPr>
      <a:defRPr lang="en-US"/>
    </a:defPPr>
    <a:lvl1pPr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32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32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32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32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32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orient="horz" pos="3312">
          <p15:clr>
            <a:srgbClr val="A4A3A4"/>
          </p15:clr>
        </p15:guide>
        <p15:guide id="3" pos="192">
          <p15:clr>
            <a:srgbClr val="A4A3A4"/>
          </p15:clr>
        </p15:guide>
        <p15:guide id="4" pos="3840">
          <p15:clr>
            <a:srgbClr val="A4A3A4"/>
          </p15:clr>
        </p15:guide>
        <p15:guide id="5" pos="7424">
          <p15:clr>
            <a:srgbClr val="A4A3A4"/>
          </p15:clr>
        </p15:guide>
        <p15:guide id="6" pos="32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66FF33"/>
    <a:srgbClr val="0066FF"/>
    <a:srgbClr val="FF99CC"/>
    <a:srgbClr val="FF66FF"/>
    <a:srgbClr val="FF6600"/>
    <a:srgbClr val="2500C0"/>
    <a:srgbClr val="CC00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02" autoAdjust="0"/>
    <p:restoredTop sz="73549" autoAdjust="0"/>
  </p:normalViewPr>
  <p:slideViewPr>
    <p:cSldViewPr>
      <p:cViewPr varScale="1">
        <p:scale>
          <a:sx n="85" d="100"/>
          <a:sy n="85" d="100"/>
        </p:scale>
        <p:origin x="40" y="348"/>
      </p:cViewPr>
      <p:guideLst>
        <p:guide orient="horz" pos="2160"/>
        <p:guide orient="horz" pos="3312"/>
        <p:guide pos="192"/>
        <p:guide pos="3840"/>
        <p:guide pos="7424"/>
        <p:guide pos="320"/>
      </p:guideLst>
    </p:cSldViewPr>
  </p:slideViewPr>
  <p:notesTextViewPr>
    <p:cViewPr>
      <p:scale>
        <a:sx n="100" d="100"/>
        <a:sy n="100" d="100"/>
      </p:scale>
      <p:origin x="0" y="0"/>
    </p:cViewPr>
  </p:notesTextViewPr>
  <p:sorterViewPr>
    <p:cViewPr>
      <p:scale>
        <a:sx n="66" d="100"/>
        <a:sy n="66" d="100"/>
      </p:scale>
      <p:origin x="0" y="1038"/>
    </p:cViewPr>
  </p:sorterViewPr>
  <p:notesViewPr>
    <p:cSldViewPr>
      <p:cViewPr varScale="1">
        <p:scale>
          <a:sx n="89" d="100"/>
          <a:sy n="89" d="100"/>
        </p:scale>
        <p:origin x="-2904" y="-126"/>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1.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4.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2.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2786" name="Rectangle 2">
            <a:extLst>
              <a:ext uri="{FF2B5EF4-FFF2-40B4-BE49-F238E27FC236}">
                <a16:creationId xmlns:a16="http://schemas.microsoft.com/office/drawing/2014/main" id="{4086345D-54CD-87DA-3725-973A951863CE}"/>
              </a:ext>
            </a:extLst>
          </p:cNvPr>
          <p:cNvSpPr>
            <a:spLocks noGrp="1" noChangeArrowheads="1"/>
          </p:cNvSpPr>
          <p:nvPr>
            <p:ph type="hdr" sz="quarter"/>
          </p:nvPr>
        </p:nvSpPr>
        <p:spPr bwMode="auto">
          <a:xfrm>
            <a:off x="0" y="0"/>
            <a:ext cx="3170583" cy="480388"/>
          </a:xfrm>
          <a:prstGeom prst="rect">
            <a:avLst/>
          </a:prstGeom>
          <a:noFill/>
          <a:ln>
            <a:noFill/>
          </a:ln>
          <a:effectLst/>
        </p:spPr>
        <p:txBody>
          <a:bodyPr vert="horz" wrap="square" lIns="95212" tIns="47606" rIns="95212" bIns="47606" numCol="1" anchor="t" anchorCtr="0" compatLnSpc="1">
            <a:prstTxWarp prst="textNoShape">
              <a:avLst/>
            </a:prstTxWarp>
          </a:bodyPr>
          <a:lstStyle>
            <a:lvl1pPr eaLnBrk="0" hangingPunct="0">
              <a:defRPr sz="1200">
                <a:cs typeface="+mn-cs"/>
              </a:defRPr>
            </a:lvl1pPr>
          </a:lstStyle>
          <a:p>
            <a:pPr>
              <a:defRPr/>
            </a:pPr>
            <a:endParaRPr lang="en-US"/>
          </a:p>
        </p:txBody>
      </p:sp>
      <p:sp>
        <p:nvSpPr>
          <p:cNvPr id="502787" name="Rectangle 3">
            <a:extLst>
              <a:ext uri="{FF2B5EF4-FFF2-40B4-BE49-F238E27FC236}">
                <a16:creationId xmlns:a16="http://schemas.microsoft.com/office/drawing/2014/main" id="{56072626-F285-4F0A-8945-481BE3667939}"/>
              </a:ext>
            </a:extLst>
          </p:cNvPr>
          <p:cNvSpPr>
            <a:spLocks noGrp="1" noChangeArrowheads="1"/>
          </p:cNvSpPr>
          <p:nvPr>
            <p:ph type="dt" sz="quarter" idx="1"/>
          </p:nvPr>
        </p:nvSpPr>
        <p:spPr bwMode="auto">
          <a:xfrm>
            <a:off x="4142962" y="0"/>
            <a:ext cx="3170583" cy="480388"/>
          </a:xfrm>
          <a:prstGeom prst="rect">
            <a:avLst/>
          </a:prstGeom>
          <a:noFill/>
          <a:ln>
            <a:noFill/>
          </a:ln>
          <a:effectLst/>
        </p:spPr>
        <p:txBody>
          <a:bodyPr vert="horz" wrap="square" lIns="95212" tIns="47606" rIns="95212" bIns="47606" numCol="1" anchor="t" anchorCtr="0" compatLnSpc="1">
            <a:prstTxWarp prst="textNoShape">
              <a:avLst/>
            </a:prstTxWarp>
          </a:bodyPr>
          <a:lstStyle>
            <a:lvl1pPr algn="r" eaLnBrk="0" hangingPunct="0">
              <a:defRPr sz="1200">
                <a:cs typeface="+mn-cs"/>
              </a:defRPr>
            </a:lvl1pPr>
          </a:lstStyle>
          <a:p>
            <a:pPr>
              <a:defRPr/>
            </a:pPr>
            <a:endParaRPr lang="en-US"/>
          </a:p>
        </p:txBody>
      </p:sp>
      <p:sp>
        <p:nvSpPr>
          <p:cNvPr id="502788" name="Rectangle 4">
            <a:extLst>
              <a:ext uri="{FF2B5EF4-FFF2-40B4-BE49-F238E27FC236}">
                <a16:creationId xmlns:a16="http://schemas.microsoft.com/office/drawing/2014/main" id="{F22EFA2E-E7FE-DBF2-7B58-BD59570193B9}"/>
              </a:ext>
            </a:extLst>
          </p:cNvPr>
          <p:cNvSpPr>
            <a:spLocks noGrp="1" noChangeArrowheads="1"/>
          </p:cNvSpPr>
          <p:nvPr>
            <p:ph type="ftr" sz="quarter" idx="2"/>
          </p:nvPr>
        </p:nvSpPr>
        <p:spPr bwMode="auto">
          <a:xfrm>
            <a:off x="0" y="9119173"/>
            <a:ext cx="3170583" cy="480388"/>
          </a:xfrm>
          <a:prstGeom prst="rect">
            <a:avLst/>
          </a:prstGeom>
          <a:noFill/>
          <a:ln>
            <a:noFill/>
          </a:ln>
          <a:effectLst/>
        </p:spPr>
        <p:txBody>
          <a:bodyPr vert="horz" wrap="square" lIns="95212" tIns="47606" rIns="95212" bIns="47606" numCol="1" anchor="b" anchorCtr="0" compatLnSpc="1">
            <a:prstTxWarp prst="textNoShape">
              <a:avLst/>
            </a:prstTxWarp>
          </a:bodyPr>
          <a:lstStyle>
            <a:lvl1pPr eaLnBrk="0" hangingPunct="0">
              <a:defRPr sz="1200">
                <a:cs typeface="+mn-cs"/>
              </a:defRPr>
            </a:lvl1pPr>
          </a:lstStyle>
          <a:p>
            <a:pPr>
              <a:defRPr/>
            </a:pPr>
            <a:endParaRPr lang="en-US"/>
          </a:p>
        </p:txBody>
      </p:sp>
      <p:sp>
        <p:nvSpPr>
          <p:cNvPr id="502789" name="Rectangle 5">
            <a:extLst>
              <a:ext uri="{FF2B5EF4-FFF2-40B4-BE49-F238E27FC236}">
                <a16:creationId xmlns:a16="http://schemas.microsoft.com/office/drawing/2014/main" id="{7A446100-AA36-65C4-F836-151B47783A8E}"/>
              </a:ext>
            </a:extLst>
          </p:cNvPr>
          <p:cNvSpPr>
            <a:spLocks noGrp="1" noChangeArrowheads="1"/>
          </p:cNvSpPr>
          <p:nvPr>
            <p:ph type="sldNum" sz="quarter" idx="3"/>
          </p:nvPr>
        </p:nvSpPr>
        <p:spPr bwMode="auto">
          <a:xfrm>
            <a:off x="4142962" y="9119173"/>
            <a:ext cx="3170583" cy="480388"/>
          </a:xfrm>
          <a:prstGeom prst="rect">
            <a:avLst/>
          </a:prstGeom>
          <a:noFill/>
          <a:ln>
            <a:noFill/>
          </a:ln>
          <a:effectLst/>
        </p:spPr>
        <p:txBody>
          <a:bodyPr vert="horz" wrap="square" lIns="95212" tIns="47606" rIns="95212" bIns="47606" numCol="1" anchor="b" anchorCtr="0" compatLnSpc="1">
            <a:prstTxWarp prst="textNoShape">
              <a:avLst/>
            </a:prstTxWarp>
          </a:bodyPr>
          <a:lstStyle>
            <a:lvl1pPr algn="r">
              <a:defRPr sz="1200"/>
            </a:lvl1pPr>
          </a:lstStyle>
          <a:p>
            <a:pPr>
              <a:defRPr/>
            </a:pPr>
            <a:fld id="{81A92323-4418-4397-BEA4-7FFE972E9D77}"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13CEF91-C31B-A241-96F8-2EC1000B06EE}"/>
              </a:ext>
            </a:extLst>
          </p:cNvPr>
          <p:cNvSpPr>
            <a:spLocks noGrp="1" noChangeArrowheads="1"/>
          </p:cNvSpPr>
          <p:nvPr>
            <p:ph type="hdr" sz="quarter"/>
          </p:nvPr>
        </p:nvSpPr>
        <p:spPr bwMode="auto">
          <a:xfrm>
            <a:off x="0" y="0"/>
            <a:ext cx="3195431" cy="472190"/>
          </a:xfrm>
          <a:prstGeom prst="rect">
            <a:avLst/>
          </a:prstGeom>
          <a:noFill/>
          <a:ln>
            <a:noFill/>
          </a:ln>
          <a:effectLst/>
        </p:spPr>
        <p:txBody>
          <a:bodyPr vert="horz" wrap="square" lIns="94765" tIns="47382" rIns="94765" bIns="47382" numCol="1" anchor="t" anchorCtr="0" compatLnSpc="1">
            <a:prstTxWarp prst="textNoShape">
              <a:avLst/>
            </a:prstTxWarp>
          </a:bodyPr>
          <a:lstStyle>
            <a:lvl1pPr defTabSz="947156" eaLnBrk="0" hangingPunct="0">
              <a:defRPr sz="1200">
                <a:cs typeface="+mn-cs"/>
              </a:defRPr>
            </a:lvl1pPr>
          </a:lstStyle>
          <a:p>
            <a:pPr>
              <a:defRPr/>
            </a:pPr>
            <a:endParaRPr lang="en-US"/>
          </a:p>
        </p:txBody>
      </p:sp>
      <p:sp>
        <p:nvSpPr>
          <p:cNvPr id="37891" name="Rectangle 3">
            <a:extLst>
              <a:ext uri="{FF2B5EF4-FFF2-40B4-BE49-F238E27FC236}">
                <a16:creationId xmlns:a16="http://schemas.microsoft.com/office/drawing/2014/main" id="{EED3747B-037C-5162-D3D5-395A36FC4370}"/>
              </a:ext>
            </a:extLst>
          </p:cNvPr>
          <p:cNvSpPr>
            <a:spLocks noGrp="1" noChangeArrowheads="1"/>
          </p:cNvSpPr>
          <p:nvPr>
            <p:ph type="dt" idx="1"/>
          </p:nvPr>
        </p:nvSpPr>
        <p:spPr bwMode="auto">
          <a:xfrm>
            <a:off x="4149587" y="0"/>
            <a:ext cx="3192117" cy="472190"/>
          </a:xfrm>
          <a:prstGeom prst="rect">
            <a:avLst/>
          </a:prstGeom>
          <a:noFill/>
          <a:ln>
            <a:noFill/>
          </a:ln>
          <a:effectLst/>
        </p:spPr>
        <p:txBody>
          <a:bodyPr vert="horz" wrap="square" lIns="94765" tIns="47382" rIns="94765" bIns="47382" numCol="1" anchor="t" anchorCtr="0" compatLnSpc="1">
            <a:prstTxWarp prst="textNoShape">
              <a:avLst/>
            </a:prstTxWarp>
          </a:bodyPr>
          <a:lstStyle>
            <a:lvl1pPr algn="r" defTabSz="947156" eaLnBrk="0" hangingPunct="0">
              <a:defRPr sz="1200">
                <a:cs typeface="+mn-cs"/>
              </a:defRPr>
            </a:lvl1pPr>
          </a:lstStyle>
          <a:p>
            <a:pPr>
              <a:defRPr/>
            </a:pPr>
            <a:endParaRPr lang="en-US"/>
          </a:p>
        </p:txBody>
      </p:sp>
      <p:sp>
        <p:nvSpPr>
          <p:cNvPr id="33796" name="Rectangle 4">
            <a:extLst>
              <a:ext uri="{FF2B5EF4-FFF2-40B4-BE49-F238E27FC236}">
                <a16:creationId xmlns:a16="http://schemas.microsoft.com/office/drawing/2014/main" id="{67BE51EB-817A-7D5F-C9B7-CB04A119F3E4}"/>
              </a:ext>
            </a:extLst>
          </p:cNvPr>
          <p:cNvSpPr>
            <a:spLocks noGrp="1" noRot="1" noChangeAspect="1" noChangeArrowheads="1" noTextEdit="1"/>
          </p:cNvSpPr>
          <p:nvPr>
            <p:ph type="sldImg" idx="2"/>
          </p:nvPr>
        </p:nvSpPr>
        <p:spPr bwMode="auto">
          <a:xfrm>
            <a:off x="403225" y="711200"/>
            <a:ext cx="6453188" cy="36290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3" name="Rectangle 5">
            <a:extLst>
              <a:ext uri="{FF2B5EF4-FFF2-40B4-BE49-F238E27FC236}">
                <a16:creationId xmlns:a16="http://schemas.microsoft.com/office/drawing/2014/main" id="{EFCEBD63-F8D4-97E2-7F23-2323E961A1C8}"/>
              </a:ext>
            </a:extLst>
          </p:cNvPr>
          <p:cNvSpPr>
            <a:spLocks noGrp="1" noChangeArrowheads="1"/>
          </p:cNvSpPr>
          <p:nvPr>
            <p:ph type="body" sz="quarter" idx="3"/>
          </p:nvPr>
        </p:nvSpPr>
        <p:spPr bwMode="auto">
          <a:xfrm>
            <a:off x="957470" y="4575982"/>
            <a:ext cx="5347252" cy="4341526"/>
          </a:xfrm>
          <a:prstGeom prst="rect">
            <a:avLst/>
          </a:prstGeom>
          <a:noFill/>
          <a:ln>
            <a:noFill/>
          </a:ln>
          <a:effectLst/>
        </p:spPr>
        <p:txBody>
          <a:bodyPr vert="horz" wrap="square" lIns="94765" tIns="47382" rIns="94765" bIns="4738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7894" name="Rectangle 6">
            <a:extLst>
              <a:ext uri="{FF2B5EF4-FFF2-40B4-BE49-F238E27FC236}">
                <a16:creationId xmlns:a16="http://schemas.microsoft.com/office/drawing/2014/main" id="{76B9F5A6-2649-467E-2A44-AE92A6646AA1}"/>
              </a:ext>
            </a:extLst>
          </p:cNvPr>
          <p:cNvSpPr>
            <a:spLocks noGrp="1" noChangeArrowheads="1"/>
          </p:cNvSpPr>
          <p:nvPr>
            <p:ph type="ftr" sz="quarter" idx="4"/>
          </p:nvPr>
        </p:nvSpPr>
        <p:spPr bwMode="auto">
          <a:xfrm>
            <a:off x="0" y="9155243"/>
            <a:ext cx="3195431" cy="472190"/>
          </a:xfrm>
          <a:prstGeom prst="rect">
            <a:avLst/>
          </a:prstGeom>
          <a:noFill/>
          <a:ln>
            <a:noFill/>
          </a:ln>
          <a:effectLst/>
        </p:spPr>
        <p:txBody>
          <a:bodyPr vert="horz" wrap="square" lIns="94765" tIns="47382" rIns="94765" bIns="47382" numCol="1" anchor="b" anchorCtr="0" compatLnSpc="1">
            <a:prstTxWarp prst="textNoShape">
              <a:avLst/>
            </a:prstTxWarp>
          </a:bodyPr>
          <a:lstStyle>
            <a:lvl1pPr defTabSz="947156" eaLnBrk="0" hangingPunct="0">
              <a:defRPr sz="1200">
                <a:cs typeface="+mn-cs"/>
              </a:defRPr>
            </a:lvl1pPr>
          </a:lstStyle>
          <a:p>
            <a:pPr>
              <a:defRPr/>
            </a:pPr>
            <a:endParaRPr lang="en-US"/>
          </a:p>
        </p:txBody>
      </p:sp>
      <p:sp>
        <p:nvSpPr>
          <p:cNvPr id="37895" name="Rectangle 7">
            <a:extLst>
              <a:ext uri="{FF2B5EF4-FFF2-40B4-BE49-F238E27FC236}">
                <a16:creationId xmlns:a16="http://schemas.microsoft.com/office/drawing/2014/main" id="{FC4F995B-A124-01CE-617E-56D081FCE518}"/>
              </a:ext>
            </a:extLst>
          </p:cNvPr>
          <p:cNvSpPr>
            <a:spLocks noGrp="1" noChangeArrowheads="1"/>
          </p:cNvSpPr>
          <p:nvPr>
            <p:ph type="sldNum" sz="quarter" idx="5"/>
          </p:nvPr>
        </p:nvSpPr>
        <p:spPr bwMode="auto">
          <a:xfrm>
            <a:off x="4149587" y="9155243"/>
            <a:ext cx="3192117" cy="472190"/>
          </a:xfrm>
          <a:prstGeom prst="rect">
            <a:avLst/>
          </a:prstGeom>
          <a:noFill/>
          <a:ln>
            <a:noFill/>
          </a:ln>
          <a:effectLst/>
        </p:spPr>
        <p:txBody>
          <a:bodyPr vert="horz" wrap="square" lIns="94765" tIns="47382" rIns="94765" bIns="47382" numCol="1" anchor="b" anchorCtr="0" compatLnSpc="1">
            <a:prstTxWarp prst="textNoShape">
              <a:avLst/>
            </a:prstTxWarp>
          </a:bodyPr>
          <a:lstStyle>
            <a:lvl1pPr algn="r" defTabSz="945214">
              <a:defRPr sz="1200"/>
            </a:lvl1pPr>
          </a:lstStyle>
          <a:p>
            <a:pPr>
              <a:defRPr/>
            </a:pPr>
            <a:fld id="{D71E1044-3BD5-4914-986B-7C94744D90D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from development planning to the job hunt. The same LBIT lens the employer uses for assessment and development is what the screener and interviewer use on you.</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force all four into every bullet. It gets exhausting to read. Balance across the resume as a whole. Hold on to this example: it comes back on the interview slides.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RTO/DMC means nothing to a reader outside process control: spell out acronyms. Full rewrite is on My Resume - A Worked Example.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7 minutes? That’s real-interview pacing. When I interviewed candidates, I brought a page like your scorecard for each of 5-6 items I was testing. The extra page was a backup in case an item turned out to have too little scope. That’s about 35 minutes of a one-hour interview, with introductions and Q&amp;A taking the rest. At that pace there’s no way to keep five or six narratives in your head. You take detailed notes in the moment, because at the end of the day you have to represent each candidate to the hiring committee from those notes.</a:t>
            </a:r>
          </a:p>
        </p:txBody>
      </p:sp>
      <p:sp>
        <p:nvSpPr>
          <p:cNvPr id="4" name="Slide Number Placeholder 3"/>
          <p:cNvSpPr>
            <a:spLocks noGrp="1"/>
          </p:cNvSpPr>
          <p:nvPr>
            <p:ph type="sldNum" sz="quarter" idx="5"/>
          </p:nvPr>
        </p:nvSpPr>
        <p:spPr/>
        <p:txBody>
          <a:bodyPr/>
          <a:lstStyle/>
          <a:p>
            <a:pPr>
              <a:defRPr/>
            </a:pPr>
            <a:fld id="{D71E1044-3BD5-4914-986B-7C94744D90DB}" type="slidenum">
              <a:rPr lang="en-US" altLang="en-US" smtClean="0"/>
              <a:pPr>
                <a:defRPr/>
              </a:pPr>
              <a:t>14</a:t>
            </a:fld>
            <a:endParaRPr lang="en-US" altLang="en-US"/>
          </a:p>
        </p:txBody>
      </p:sp>
    </p:spTree>
    <p:extLst>
      <p:ext uri="{BB962C8B-B14F-4D97-AF65-F5344CB8AC3E}">
        <p14:creationId xmlns:p14="http://schemas.microsoft.com/office/powerpoint/2010/main" val="2701583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the interviewers first, then the interviewees. Draw out the ask/listen/write difficulty before revealing the first card.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D71E1044-3BD5-4914-986B-7C94744D90DB}" type="slidenum">
              <a:rPr lang="en-US" altLang="en-US" smtClean="0"/>
              <a:pPr>
                <a:defRPr/>
              </a:pPr>
              <a:t>16</a:t>
            </a:fld>
            <a:endParaRPr lang="en-US" altLang="en-US"/>
          </a:p>
        </p:txBody>
      </p:sp>
    </p:spTree>
    <p:extLst>
      <p:ext uri="{BB962C8B-B14F-4D97-AF65-F5344CB8AC3E}">
        <p14:creationId xmlns:p14="http://schemas.microsoft.com/office/powerpoint/2010/main" val="489227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3099C25-E5BE-EE98-75DC-C968B0AFB99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867EC67-BC50-4F2F-78F9-965DFEE16AE6}"/>
              </a:ext>
            </a:extLst>
          </p:cNvPr>
          <p:cNvSpPr>
            <a:spLocks noGrp="1" noChangeArrowheads="1"/>
          </p:cNvSpPr>
          <p:nvPr>
            <p:ph type="sldNum" sz="quarter" idx="11"/>
          </p:nvPr>
        </p:nvSpPr>
        <p:spPr>
          <a:ln/>
        </p:spPr>
        <p:txBody>
          <a:bodyPr/>
          <a:lstStyle>
            <a:lvl1pPr>
              <a:defRPr/>
            </a:lvl1pPr>
          </a:lstStyle>
          <a:p>
            <a:pPr>
              <a:defRPr/>
            </a:pPr>
            <a:fld id="{C3AAE40A-FA77-470E-8EF1-4B2BADDB21A6}" type="slidenum">
              <a:rPr lang="en-US" altLang="en-US"/>
              <a:pPr>
                <a:defRPr/>
              </a:pPr>
              <a:t>‹#›</a:t>
            </a:fld>
            <a:endParaRPr lang="en-US" altLang="en-US"/>
          </a:p>
        </p:txBody>
      </p:sp>
    </p:spTree>
    <p:extLst>
      <p:ext uri="{BB962C8B-B14F-4D97-AF65-F5344CB8AC3E}">
        <p14:creationId xmlns:p14="http://schemas.microsoft.com/office/powerpoint/2010/main" val="338169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60A7709-1928-C03A-E704-79965D56E16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A04C298-414C-1761-ACB7-A1782CBB3435}"/>
              </a:ext>
            </a:extLst>
          </p:cNvPr>
          <p:cNvSpPr>
            <a:spLocks noGrp="1" noChangeArrowheads="1"/>
          </p:cNvSpPr>
          <p:nvPr>
            <p:ph type="sldNum" sz="quarter" idx="11"/>
          </p:nvPr>
        </p:nvSpPr>
        <p:spPr>
          <a:ln/>
        </p:spPr>
        <p:txBody>
          <a:bodyPr/>
          <a:lstStyle>
            <a:lvl1pPr>
              <a:defRPr/>
            </a:lvl1pPr>
          </a:lstStyle>
          <a:p>
            <a:pPr>
              <a:defRPr/>
            </a:pPr>
            <a:fld id="{90494FE9-4416-4F3E-97F0-CB1F982A0E38}" type="slidenum">
              <a:rPr lang="en-US" altLang="en-US"/>
              <a:pPr>
                <a:defRPr/>
              </a:pPr>
              <a:t>‹#›</a:t>
            </a:fld>
            <a:endParaRPr lang="en-US" altLang="en-US"/>
          </a:p>
        </p:txBody>
      </p:sp>
    </p:spTree>
    <p:extLst>
      <p:ext uri="{BB962C8B-B14F-4D97-AF65-F5344CB8AC3E}">
        <p14:creationId xmlns:p14="http://schemas.microsoft.com/office/powerpoint/2010/main" val="42676671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B237E62B-494C-EDDC-7FEE-3AC19F2222E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31177CC-8976-407E-BD41-F545C00C3C01}"/>
              </a:ext>
            </a:extLst>
          </p:cNvPr>
          <p:cNvSpPr>
            <a:spLocks noGrp="1" noChangeArrowheads="1"/>
          </p:cNvSpPr>
          <p:nvPr>
            <p:ph type="sldNum" sz="quarter" idx="11"/>
          </p:nvPr>
        </p:nvSpPr>
        <p:spPr>
          <a:ln/>
        </p:spPr>
        <p:txBody>
          <a:bodyPr/>
          <a:lstStyle>
            <a:lvl1pPr>
              <a:defRPr/>
            </a:lvl1pPr>
          </a:lstStyle>
          <a:p>
            <a:pPr>
              <a:defRPr/>
            </a:pPr>
            <a:fld id="{BAFC928B-F41F-4D8D-AAED-B0B3C9C048BF}" type="slidenum">
              <a:rPr lang="en-US" altLang="en-US"/>
              <a:pPr>
                <a:defRPr/>
              </a:pPr>
              <a:t>‹#›</a:t>
            </a:fld>
            <a:endParaRPr lang="en-US" altLang="en-US"/>
          </a:p>
        </p:txBody>
      </p:sp>
    </p:spTree>
    <p:extLst>
      <p:ext uri="{BB962C8B-B14F-4D97-AF65-F5344CB8AC3E}">
        <p14:creationId xmlns:p14="http://schemas.microsoft.com/office/powerpoint/2010/main" val="713224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3200" y="1066800"/>
            <a:ext cx="57404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066800"/>
            <a:ext cx="5740400" cy="5257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EE1320CA-971F-3D0A-048C-BD8577AF55D6}"/>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7D4E7DB-5BB7-D986-4883-34E208F25A1E}"/>
              </a:ext>
            </a:extLst>
          </p:cNvPr>
          <p:cNvSpPr>
            <a:spLocks noGrp="1" noChangeArrowheads="1"/>
          </p:cNvSpPr>
          <p:nvPr>
            <p:ph type="sldNum" sz="quarter" idx="11"/>
          </p:nvPr>
        </p:nvSpPr>
        <p:spPr>
          <a:ln/>
        </p:spPr>
        <p:txBody>
          <a:bodyPr/>
          <a:lstStyle>
            <a:lvl1pPr>
              <a:defRPr/>
            </a:lvl1pPr>
          </a:lstStyle>
          <a:p>
            <a:pPr>
              <a:defRPr/>
            </a:pPr>
            <a:fld id="{BEDE1C44-6F54-4BDE-83AD-B40AE7E10DFF}" type="slidenum">
              <a:rPr lang="en-US" altLang="en-US"/>
              <a:pPr>
                <a:defRPr/>
              </a:pPr>
              <a:t>‹#›</a:t>
            </a:fld>
            <a:endParaRPr lang="en-US" altLang="en-US"/>
          </a:p>
        </p:txBody>
      </p:sp>
    </p:spTree>
    <p:extLst>
      <p:ext uri="{BB962C8B-B14F-4D97-AF65-F5344CB8AC3E}">
        <p14:creationId xmlns:p14="http://schemas.microsoft.com/office/powerpoint/2010/main" val="3109324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C97D4DA-37BD-1B40-EFB8-B9AC9DF48F8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DECEA1EB-7DC1-2F79-CA24-BF5DC542E2A9}"/>
              </a:ext>
            </a:extLst>
          </p:cNvPr>
          <p:cNvSpPr>
            <a:spLocks noGrp="1" noChangeArrowheads="1"/>
          </p:cNvSpPr>
          <p:nvPr>
            <p:ph type="sldNum" sz="quarter" idx="11"/>
          </p:nvPr>
        </p:nvSpPr>
        <p:spPr>
          <a:ln/>
        </p:spPr>
        <p:txBody>
          <a:bodyPr/>
          <a:lstStyle>
            <a:lvl1pPr>
              <a:defRPr/>
            </a:lvl1pPr>
          </a:lstStyle>
          <a:p>
            <a:pPr>
              <a:defRPr/>
            </a:pPr>
            <a:fld id="{83B4F6C4-2238-497A-9DA5-A59CE6C91880}" type="slidenum">
              <a:rPr lang="en-US" altLang="en-US"/>
              <a:pPr>
                <a:defRPr/>
              </a:pPr>
              <a:t>‹#›</a:t>
            </a:fld>
            <a:endParaRPr lang="en-US" altLang="en-US"/>
          </a:p>
        </p:txBody>
      </p:sp>
    </p:spTree>
    <p:extLst>
      <p:ext uri="{BB962C8B-B14F-4D97-AF65-F5344CB8AC3E}">
        <p14:creationId xmlns:p14="http://schemas.microsoft.com/office/powerpoint/2010/main" val="202292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E4C2048-D913-391A-9A89-2B24549DDEBB}"/>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5497C1ED-8CA2-255D-0231-64DCD61A4097}"/>
              </a:ext>
            </a:extLst>
          </p:cNvPr>
          <p:cNvSpPr>
            <a:spLocks noGrp="1" noChangeArrowheads="1"/>
          </p:cNvSpPr>
          <p:nvPr>
            <p:ph type="sldNum" sz="quarter" idx="11"/>
          </p:nvPr>
        </p:nvSpPr>
        <p:spPr>
          <a:ln/>
        </p:spPr>
        <p:txBody>
          <a:bodyPr/>
          <a:lstStyle>
            <a:lvl1pPr>
              <a:defRPr/>
            </a:lvl1pPr>
          </a:lstStyle>
          <a:p>
            <a:pPr>
              <a:defRPr/>
            </a:pPr>
            <a:fld id="{A59095D4-F820-4DFE-8E6B-91E390FA3BF2}" type="slidenum">
              <a:rPr lang="en-US" altLang="en-US"/>
              <a:pPr>
                <a:defRPr/>
              </a:pPr>
              <a:t>‹#›</a:t>
            </a:fld>
            <a:endParaRPr lang="en-US" altLang="en-US"/>
          </a:p>
        </p:txBody>
      </p:sp>
    </p:spTree>
    <p:extLst>
      <p:ext uri="{BB962C8B-B14F-4D97-AF65-F5344CB8AC3E}">
        <p14:creationId xmlns:p14="http://schemas.microsoft.com/office/powerpoint/2010/main" val="1463646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ED3CB7F-BA5B-21C2-A1B1-B3DBF34404D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74EBD32-76E3-C9F3-60A6-4C333F163B80}"/>
              </a:ext>
            </a:extLst>
          </p:cNvPr>
          <p:cNvSpPr>
            <a:spLocks noGrp="1" noChangeArrowheads="1"/>
          </p:cNvSpPr>
          <p:nvPr>
            <p:ph type="sldNum" sz="quarter" idx="11"/>
          </p:nvPr>
        </p:nvSpPr>
        <p:spPr>
          <a:ln/>
        </p:spPr>
        <p:txBody>
          <a:bodyPr/>
          <a:lstStyle>
            <a:lvl1pPr>
              <a:defRPr/>
            </a:lvl1pPr>
          </a:lstStyle>
          <a:p>
            <a:pPr>
              <a:defRPr/>
            </a:pPr>
            <a:fld id="{B03034AF-8F04-4D4D-943A-F0AB7C6C599D}" type="slidenum">
              <a:rPr lang="en-US" altLang="en-US"/>
              <a:pPr>
                <a:defRPr/>
              </a:pPr>
              <a:t>‹#›</a:t>
            </a:fld>
            <a:endParaRPr lang="en-US" altLang="en-US"/>
          </a:p>
        </p:txBody>
      </p:sp>
    </p:spTree>
    <p:extLst>
      <p:ext uri="{BB962C8B-B14F-4D97-AF65-F5344CB8AC3E}">
        <p14:creationId xmlns:p14="http://schemas.microsoft.com/office/powerpoint/2010/main" val="3546662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73E09A4-2429-0D0A-8512-38CE3B4F7AAD}"/>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230E32FF-A357-D6DA-05AC-235DDFFAEFC0}"/>
              </a:ext>
            </a:extLst>
          </p:cNvPr>
          <p:cNvSpPr>
            <a:spLocks noGrp="1" noChangeArrowheads="1"/>
          </p:cNvSpPr>
          <p:nvPr>
            <p:ph type="sldNum" sz="quarter" idx="11"/>
          </p:nvPr>
        </p:nvSpPr>
        <p:spPr>
          <a:ln/>
        </p:spPr>
        <p:txBody>
          <a:bodyPr/>
          <a:lstStyle>
            <a:lvl1pPr>
              <a:defRPr/>
            </a:lvl1pPr>
          </a:lstStyle>
          <a:p>
            <a:pPr>
              <a:defRPr/>
            </a:pPr>
            <a:fld id="{D03DB1DC-07E9-4AB0-A080-878966CDEA92}" type="slidenum">
              <a:rPr lang="en-US" altLang="en-US"/>
              <a:pPr>
                <a:defRPr/>
              </a:pPr>
              <a:t>‹#›</a:t>
            </a:fld>
            <a:endParaRPr lang="en-US" altLang="en-US"/>
          </a:p>
        </p:txBody>
      </p:sp>
    </p:spTree>
    <p:extLst>
      <p:ext uri="{BB962C8B-B14F-4D97-AF65-F5344CB8AC3E}">
        <p14:creationId xmlns:p14="http://schemas.microsoft.com/office/powerpoint/2010/main" val="3217630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3413505-EBF9-76C9-9FBC-60AA2A8BAAC0}"/>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31BDF9B-A7A2-CD53-4C1A-87AD3A32B7FA}"/>
              </a:ext>
            </a:extLst>
          </p:cNvPr>
          <p:cNvSpPr>
            <a:spLocks noGrp="1" noChangeArrowheads="1"/>
          </p:cNvSpPr>
          <p:nvPr>
            <p:ph type="sldNum" sz="quarter" idx="11"/>
          </p:nvPr>
        </p:nvSpPr>
        <p:spPr>
          <a:ln/>
        </p:spPr>
        <p:txBody>
          <a:bodyPr/>
          <a:lstStyle>
            <a:lvl1pPr>
              <a:defRPr/>
            </a:lvl1pPr>
          </a:lstStyle>
          <a:p>
            <a:pPr>
              <a:defRPr/>
            </a:pPr>
            <a:fld id="{A1F4AD52-3F66-496C-B3C5-E809216B72ED}" type="slidenum">
              <a:rPr lang="en-US" altLang="en-US"/>
              <a:pPr>
                <a:defRPr/>
              </a:pPr>
              <a:t>‹#›</a:t>
            </a:fld>
            <a:endParaRPr lang="en-US" altLang="en-US"/>
          </a:p>
        </p:txBody>
      </p:sp>
    </p:spTree>
    <p:extLst>
      <p:ext uri="{BB962C8B-B14F-4D97-AF65-F5344CB8AC3E}">
        <p14:creationId xmlns:p14="http://schemas.microsoft.com/office/powerpoint/2010/main" val="2607373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1203733-2080-7164-7E83-935CA298F55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B22B1BD-63FA-69AC-BEC9-EA60BC08C6EE}"/>
              </a:ext>
            </a:extLst>
          </p:cNvPr>
          <p:cNvSpPr>
            <a:spLocks noGrp="1" noChangeArrowheads="1"/>
          </p:cNvSpPr>
          <p:nvPr>
            <p:ph type="sldNum" sz="quarter" idx="11"/>
          </p:nvPr>
        </p:nvSpPr>
        <p:spPr>
          <a:ln/>
        </p:spPr>
        <p:txBody>
          <a:bodyPr/>
          <a:lstStyle>
            <a:lvl1pPr>
              <a:defRPr/>
            </a:lvl1pPr>
          </a:lstStyle>
          <a:p>
            <a:pPr>
              <a:defRPr/>
            </a:pPr>
            <a:fld id="{E33C209D-4C11-47AD-809F-4F15AE0D1E74}" type="slidenum">
              <a:rPr lang="en-US" altLang="en-US"/>
              <a:pPr>
                <a:defRPr/>
              </a:pPr>
              <a:t>‹#›</a:t>
            </a:fld>
            <a:endParaRPr lang="en-US" altLang="en-US"/>
          </a:p>
        </p:txBody>
      </p:sp>
    </p:spTree>
    <p:extLst>
      <p:ext uri="{BB962C8B-B14F-4D97-AF65-F5344CB8AC3E}">
        <p14:creationId xmlns:p14="http://schemas.microsoft.com/office/powerpoint/2010/main" val="4101888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66200" y="152400"/>
            <a:ext cx="2921000"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3200" y="152400"/>
            <a:ext cx="8559800"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FDB5C81-717A-914F-5FDC-79047ACE1F8A}"/>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030E2F9-2FD5-F7EB-909A-1824DF81998B}"/>
              </a:ext>
            </a:extLst>
          </p:cNvPr>
          <p:cNvSpPr>
            <a:spLocks noGrp="1" noChangeArrowheads="1"/>
          </p:cNvSpPr>
          <p:nvPr>
            <p:ph type="sldNum" sz="quarter" idx="11"/>
          </p:nvPr>
        </p:nvSpPr>
        <p:spPr>
          <a:ln/>
        </p:spPr>
        <p:txBody>
          <a:bodyPr/>
          <a:lstStyle>
            <a:lvl1pPr>
              <a:defRPr/>
            </a:lvl1pPr>
          </a:lstStyle>
          <a:p>
            <a:pPr>
              <a:defRPr/>
            </a:pPr>
            <a:fld id="{89572631-2000-4786-80F5-A786532C430D}" type="slidenum">
              <a:rPr lang="en-US" altLang="en-US"/>
              <a:pPr>
                <a:defRPr/>
              </a:pPr>
              <a:t>‹#›</a:t>
            </a:fld>
            <a:endParaRPr lang="en-US" altLang="en-US"/>
          </a:p>
        </p:txBody>
      </p:sp>
    </p:spTree>
    <p:extLst>
      <p:ext uri="{BB962C8B-B14F-4D97-AF65-F5344CB8AC3E}">
        <p14:creationId xmlns:p14="http://schemas.microsoft.com/office/powerpoint/2010/main" val="2685140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684000" cy="681038"/>
          </a:xfrm>
        </p:spPr>
        <p:txBody>
          <a:bodyPr/>
          <a:lstStyle/>
          <a:p>
            <a:r>
              <a:rPr lang="en-US"/>
              <a:t>Click to edit Master title style</a:t>
            </a:r>
          </a:p>
        </p:txBody>
      </p:sp>
      <p:sp>
        <p:nvSpPr>
          <p:cNvPr id="3" name="ClipArt Placeholder 2"/>
          <p:cNvSpPr>
            <a:spLocks noGrp="1"/>
          </p:cNvSpPr>
          <p:nvPr>
            <p:ph type="clipArt" sz="half" idx="1"/>
          </p:nvPr>
        </p:nvSpPr>
        <p:spPr>
          <a:xfrm>
            <a:off x="203200" y="1066800"/>
            <a:ext cx="5740400" cy="5257800"/>
          </a:xfrm>
        </p:spPr>
        <p:txBody>
          <a:bodyPr/>
          <a:lstStyle/>
          <a:p>
            <a:pPr lvl="0"/>
            <a:endParaRPr lang="en-US" noProof="0" dirty="0"/>
          </a:p>
        </p:txBody>
      </p:sp>
      <p:sp>
        <p:nvSpPr>
          <p:cNvPr id="4" name="Text Placeholder 3"/>
          <p:cNvSpPr>
            <a:spLocks noGrp="1"/>
          </p:cNvSpPr>
          <p:nvPr>
            <p:ph type="body" sz="half" idx="2"/>
          </p:nvPr>
        </p:nvSpPr>
        <p:spPr>
          <a:xfrm>
            <a:off x="6146800" y="1066800"/>
            <a:ext cx="5740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3117D17-9A77-536F-74FC-81BBB3CCAEB4}"/>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5C93294-2964-DA04-8447-E7ED8410C17A}"/>
              </a:ext>
            </a:extLst>
          </p:cNvPr>
          <p:cNvSpPr>
            <a:spLocks noGrp="1" noChangeArrowheads="1"/>
          </p:cNvSpPr>
          <p:nvPr>
            <p:ph type="sldNum" sz="quarter" idx="11"/>
          </p:nvPr>
        </p:nvSpPr>
        <p:spPr>
          <a:ln/>
        </p:spPr>
        <p:txBody>
          <a:bodyPr/>
          <a:lstStyle>
            <a:lvl1pPr>
              <a:defRPr/>
            </a:lvl1pPr>
          </a:lstStyle>
          <a:p>
            <a:pPr>
              <a:defRPr/>
            </a:pPr>
            <a:fld id="{21FC0D7C-6FBF-4844-A5EA-7E34AB7215E4}" type="slidenum">
              <a:rPr lang="en-US" altLang="en-US"/>
              <a:pPr>
                <a:defRPr/>
              </a:pPr>
              <a:t>‹#›</a:t>
            </a:fld>
            <a:endParaRPr lang="en-US" altLang="en-US"/>
          </a:p>
        </p:txBody>
      </p:sp>
    </p:spTree>
    <p:extLst>
      <p:ext uri="{BB962C8B-B14F-4D97-AF65-F5344CB8AC3E}">
        <p14:creationId xmlns:p14="http://schemas.microsoft.com/office/powerpoint/2010/main" val="2374574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684000" cy="681038"/>
          </a:xfrm>
        </p:spPr>
        <p:txBody>
          <a:bodyPr/>
          <a:lstStyle/>
          <a:p>
            <a:r>
              <a:rPr lang="en-US"/>
              <a:t>Click to edit Master title style</a:t>
            </a:r>
          </a:p>
        </p:txBody>
      </p:sp>
      <p:sp>
        <p:nvSpPr>
          <p:cNvPr id="3" name="Text Placeholder 2"/>
          <p:cNvSpPr>
            <a:spLocks noGrp="1"/>
          </p:cNvSpPr>
          <p:nvPr>
            <p:ph type="body" sz="half" idx="1"/>
          </p:nvPr>
        </p:nvSpPr>
        <p:spPr>
          <a:xfrm>
            <a:off x="203200" y="1066800"/>
            <a:ext cx="5740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46800" y="1066800"/>
            <a:ext cx="57404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1097850-8A64-E8FE-3098-0079C0917B56}"/>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8AD2CE3-56BF-81D5-A5A9-92F85A6722E0}"/>
              </a:ext>
            </a:extLst>
          </p:cNvPr>
          <p:cNvSpPr>
            <a:spLocks noGrp="1" noChangeArrowheads="1"/>
          </p:cNvSpPr>
          <p:nvPr>
            <p:ph type="sldNum" sz="quarter" idx="11"/>
          </p:nvPr>
        </p:nvSpPr>
        <p:spPr>
          <a:ln/>
        </p:spPr>
        <p:txBody>
          <a:bodyPr/>
          <a:lstStyle>
            <a:lvl1pPr>
              <a:defRPr/>
            </a:lvl1pPr>
          </a:lstStyle>
          <a:p>
            <a:pPr>
              <a:defRPr/>
            </a:pPr>
            <a:fld id="{56D60567-26FF-45EE-ABB7-AD9B02FB9FCF}" type="slidenum">
              <a:rPr lang="en-US" altLang="en-US"/>
              <a:pPr>
                <a:defRPr/>
              </a:pPr>
              <a:t>‹#›</a:t>
            </a:fld>
            <a:endParaRPr lang="en-US" altLang="en-US"/>
          </a:p>
        </p:txBody>
      </p:sp>
    </p:spTree>
    <p:extLst>
      <p:ext uri="{BB962C8B-B14F-4D97-AF65-F5344CB8AC3E}">
        <p14:creationId xmlns:p14="http://schemas.microsoft.com/office/powerpoint/2010/main" val="943581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Line 3">
            <a:extLst>
              <a:ext uri="{FF2B5EF4-FFF2-40B4-BE49-F238E27FC236}">
                <a16:creationId xmlns:a16="http://schemas.microsoft.com/office/drawing/2014/main" id="{54381BA0-A9AC-0441-4827-A840BA35A7C9}"/>
              </a:ext>
            </a:extLst>
          </p:cNvPr>
          <p:cNvSpPr>
            <a:spLocks noChangeShapeType="1"/>
          </p:cNvSpPr>
          <p:nvPr/>
        </p:nvSpPr>
        <p:spPr bwMode="auto">
          <a:xfrm>
            <a:off x="458788" y="2882900"/>
            <a:ext cx="11195050"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 name="Rectangle 7">
            <a:extLst>
              <a:ext uri="{FF2B5EF4-FFF2-40B4-BE49-F238E27FC236}">
                <a16:creationId xmlns:a16="http://schemas.microsoft.com/office/drawing/2014/main" id="{3E477649-8B48-180B-4BF8-126BEC0D9DA6}"/>
              </a:ext>
            </a:extLst>
          </p:cNvPr>
          <p:cNvSpPr>
            <a:spLocks noChangeArrowheads="1"/>
          </p:cNvSpPr>
          <p:nvPr/>
        </p:nvSpPr>
        <p:spPr bwMode="auto">
          <a:xfrm>
            <a:off x="400050" y="2903538"/>
            <a:ext cx="11253788" cy="668337"/>
          </a:xfrm>
          <a:prstGeom prst="rect">
            <a:avLst/>
          </a:prstGeom>
          <a:noFill/>
          <a:ln>
            <a:noFill/>
          </a:ln>
          <a:effectLst/>
        </p:spPr>
        <p:txBody>
          <a:bodyPr lIns="93481" tIns="91398" rIns="93481" bIns="91398" anchor="ctr"/>
          <a:lstStyle>
            <a:lvl1pPr eaLnBrk="0" hangingPunct="0">
              <a:defRPr sz="3200">
                <a:solidFill>
                  <a:schemeClr val="tx1"/>
                </a:solidFill>
                <a:latin typeface="Times New Roman" panose="02020603050405020304" pitchFamily="18" charset="0"/>
                <a:cs typeface="Arial" panose="020B0604020202020204" pitchFamily="34" charset="0"/>
              </a:defRPr>
            </a:lvl1pPr>
            <a:lvl2pPr marL="742950" indent="-285750" eaLnBrk="0" hangingPunct="0">
              <a:defRPr sz="3200">
                <a:solidFill>
                  <a:schemeClr val="tx1"/>
                </a:solidFill>
                <a:latin typeface="Times New Roman" panose="02020603050405020304" pitchFamily="18" charset="0"/>
                <a:cs typeface="Arial" panose="020B0604020202020204" pitchFamily="34" charset="0"/>
              </a:defRPr>
            </a:lvl2pPr>
            <a:lvl3pPr marL="1143000" indent="-228600" eaLnBrk="0" hangingPunct="0">
              <a:defRPr sz="3200">
                <a:solidFill>
                  <a:schemeClr val="tx1"/>
                </a:solidFill>
                <a:latin typeface="Times New Roman" panose="02020603050405020304" pitchFamily="18" charset="0"/>
                <a:cs typeface="Arial" panose="020B0604020202020204" pitchFamily="34" charset="0"/>
              </a:defRPr>
            </a:lvl3pPr>
            <a:lvl4pPr marL="1600200" indent="-228600" eaLnBrk="0" hangingPunct="0">
              <a:defRPr sz="3200">
                <a:solidFill>
                  <a:schemeClr val="tx1"/>
                </a:solidFill>
                <a:latin typeface="Times New Roman" panose="02020603050405020304" pitchFamily="18" charset="0"/>
                <a:cs typeface="Arial" panose="020B0604020202020204" pitchFamily="34" charset="0"/>
              </a:defRPr>
            </a:lvl4pPr>
            <a:lvl5pPr marL="2057400" indent="-228600" eaLnBrk="0" hangingPunct="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defRPr/>
            </a:pPr>
            <a:endParaRPr kumimoji="1" lang="en-US" altLang="en-US" sz="1800">
              <a:solidFill>
                <a:srgbClr val="000000"/>
              </a:solidFill>
              <a:latin typeface="Arial" panose="020B0604020202020204" pitchFamily="34" charset="0"/>
            </a:endParaRPr>
          </a:p>
        </p:txBody>
      </p:sp>
      <p:sp>
        <p:nvSpPr>
          <p:cNvPr id="4100" name="Rectangle 4"/>
          <p:cNvSpPr>
            <a:spLocks noGrp="1" noChangeArrowheads="1"/>
          </p:cNvSpPr>
          <p:nvPr>
            <p:ph type="ctrTitle"/>
          </p:nvPr>
        </p:nvSpPr>
        <p:spPr>
          <a:xfrm>
            <a:off x="438152" y="2214564"/>
            <a:ext cx="11256433" cy="668337"/>
          </a:xfrm>
        </p:spPr>
        <p:txBody>
          <a:bodyPr lIns="93481" tIns="91398" rIns="93481" bIns="91398"/>
          <a:lstStyle>
            <a:lvl1pPr algn="ctr">
              <a:defRPr sz="2800"/>
            </a:lvl1pPr>
          </a:lstStyle>
          <a:p>
            <a:pPr lvl="0"/>
            <a:r>
              <a:rPr lang="en-US" altLang="ja-JP" noProof="0"/>
              <a:t>Click to edit title master style</a:t>
            </a:r>
          </a:p>
        </p:txBody>
      </p:sp>
      <p:sp>
        <p:nvSpPr>
          <p:cNvPr id="4101" name="Rectangle 5"/>
          <p:cNvSpPr>
            <a:spLocks noGrp="1" noChangeArrowheads="1"/>
          </p:cNvSpPr>
          <p:nvPr>
            <p:ph type="subTitle" idx="1"/>
          </p:nvPr>
        </p:nvSpPr>
        <p:spPr>
          <a:xfrm>
            <a:off x="478367" y="5341939"/>
            <a:ext cx="4284133" cy="668337"/>
          </a:xfrm>
        </p:spPr>
        <p:txBody>
          <a:bodyPr/>
          <a:lstStyle>
            <a:lvl1pPr marL="0" indent="0">
              <a:buFont typeface="Symbol" pitchFamily="18" charset="2"/>
              <a:buNone/>
              <a:defRPr sz="2400"/>
            </a:lvl1pPr>
          </a:lstStyle>
          <a:p>
            <a:pPr lvl="0"/>
            <a:r>
              <a:rPr lang="en-US" altLang="ja-JP" noProof="0"/>
              <a:t>Click to edit Master subtitle style</a:t>
            </a:r>
          </a:p>
        </p:txBody>
      </p:sp>
    </p:spTree>
    <p:extLst>
      <p:ext uri="{BB962C8B-B14F-4D97-AF65-F5344CB8AC3E}">
        <p14:creationId xmlns:p14="http://schemas.microsoft.com/office/powerpoint/2010/main" val="93074144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34C12D0D-26CF-78ED-6CC2-9108A0925023}"/>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36AAFACB-ABDA-41B1-895C-84768F7E022F}"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C731673E-9013-583B-9934-518D3E9B2DC8}"/>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7FFF77FF-9954-482E-AF9B-175EB7AE927C}" type="datetime1">
              <a:rPr lang="en-US"/>
              <a:pPr>
                <a:defRPr/>
              </a:pPr>
              <a:t>10/25/2026</a:t>
            </a:fld>
            <a:r>
              <a:rPr lang="en-US" altLang="ja-JP" dirty="0"/>
              <a:t> </a:t>
            </a:r>
          </a:p>
        </p:txBody>
      </p:sp>
    </p:spTree>
    <p:extLst>
      <p:ext uri="{BB962C8B-B14F-4D97-AF65-F5344CB8AC3E}">
        <p14:creationId xmlns:p14="http://schemas.microsoft.com/office/powerpoint/2010/main" val="218653125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CFDAF577-23E7-0A2E-DF72-88615C5A2AE7}"/>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3C7E1B8C-CE57-458A-B76E-C2A592D6BF4B}"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A2ACA938-A0F9-55F8-3889-2ABEBB41EC3D}"/>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37484A33-D8C4-40DF-A1D9-491F08D52AD7}" type="datetime1">
              <a:rPr lang="en-US"/>
              <a:pPr>
                <a:defRPr/>
              </a:pPr>
              <a:t>10/25/2026</a:t>
            </a:fld>
            <a:r>
              <a:rPr lang="en-US" altLang="ja-JP" dirty="0"/>
              <a:t> </a:t>
            </a:r>
          </a:p>
        </p:txBody>
      </p:sp>
    </p:spTree>
    <p:extLst>
      <p:ext uri="{BB962C8B-B14F-4D97-AF65-F5344CB8AC3E}">
        <p14:creationId xmlns:p14="http://schemas.microsoft.com/office/powerpoint/2010/main" val="276218591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6251" y="890588"/>
            <a:ext cx="5503333" cy="5567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784" y="890588"/>
            <a:ext cx="5503333" cy="5567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DC57254D-57EA-CF23-0B42-10FEC521C33E}"/>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F928C824-5CD8-462B-B118-705ED269FFC6}"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5A6C671F-50D3-4770-244D-D341F09B352D}"/>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2BFDBC56-BFC7-4EB3-AD9D-8EE88AB4F935}" type="datetime1">
              <a:rPr lang="en-US"/>
              <a:pPr>
                <a:defRPr/>
              </a:pPr>
              <a:t>10/25/2026</a:t>
            </a:fld>
            <a:r>
              <a:rPr lang="en-US" altLang="ja-JP" dirty="0"/>
              <a:t> </a:t>
            </a:r>
          </a:p>
        </p:txBody>
      </p:sp>
    </p:spTree>
    <p:extLst>
      <p:ext uri="{BB962C8B-B14F-4D97-AF65-F5344CB8AC3E}">
        <p14:creationId xmlns:p14="http://schemas.microsoft.com/office/powerpoint/2010/main" val="3122021495"/>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5FD3091-9E1E-815E-FBAE-E762690FD3A9}"/>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0DA44026-D661-47BC-B116-C6A777571D2C}" type="slidenum">
              <a:rPr lang="en-US" altLang="ja-JP" smtClean="0"/>
              <a:pPr>
                <a:defRPr/>
              </a:pPr>
              <a:t>‹#›</a:t>
            </a:fld>
            <a:endParaRPr lang="en-US" altLang="ja-JP"/>
          </a:p>
        </p:txBody>
      </p:sp>
      <p:sp>
        <p:nvSpPr>
          <p:cNvPr id="8" name="Date Placeholder 7">
            <a:extLst>
              <a:ext uri="{FF2B5EF4-FFF2-40B4-BE49-F238E27FC236}">
                <a16:creationId xmlns:a16="http://schemas.microsoft.com/office/drawing/2014/main" id="{AE36B8AF-F322-68A1-422E-998C5323D965}"/>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CBE0B475-4918-4A5A-8565-58130DFA51EF}" type="datetime1">
              <a:rPr lang="en-US"/>
              <a:pPr>
                <a:defRPr/>
              </a:pPr>
              <a:t>10/25/2026</a:t>
            </a:fld>
            <a:r>
              <a:rPr lang="en-US" altLang="ja-JP" dirty="0"/>
              <a:t> </a:t>
            </a:r>
          </a:p>
        </p:txBody>
      </p:sp>
    </p:spTree>
    <p:extLst>
      <p:ext uri="{BB962C8B-B14F-4D97-AF65-F5344CB8AC3E}">
        <p14:creationId xmlns:p14="http://schemas.microsoft.com/office/powerpoint/2010/main" val="320406115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06F52866-3186-86CE-9F2A-FA90D6BA9FA3}"/>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2F84EEB0-0E82-4F3A-BD99-F701210919DA}" type="slidenum">
              <a:rPr lang="en-US" altLang="ja-JP" smtClean="0"/>
              <a:pPr>
                <a:defRPr/>
              </a:pPr>
              <a:t>‹#›</a:t>
            </a:fld>
            <a:endParaRPr lang="en-US" altLang="ja-JP"/>
          </a:p>
        </p:txBody>
      </p:sp>
      <p:sp>
        <p:nvSpPr>
          <p:cNvPr id="4" name="Rectangle 7">
            <a:extLst>
              <a:ext uri="{FF2B5EF4-FFF2-40B4-BE49-F238E27FC236}">
                <a16:creationId xmlns:a16="http://schemas.microsoft.com/office/drawing/2014/main" id="{F7F0628B-C745-7FD8-0FDC-DC93966F9B2E}"/>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F1052340-1415-4A64-85B6-B7704C8D2457}" type="datetime1">
              <a:rPr lang="en-US"/>
              <a:pPr>
                <a:defRPr/>
              </a:pPr>
              <a:t>10/25/2026</a:t>
            </a:fld>
            <a:r>
              <a:rPr lang="en-US" altLang="ja-JP" dirty="0"/>
              <a:t> </a:t>
            </a:r>
          </a:p>
        </p:txBody>
      </p:sp>
    </p:spTree>
    <p:extLst>
      <p:ext uri="{BB962C8B-B14F-4D97-AF65-F5344CB8AC3E}">
        <p14:creationId xmlns:p14="http://schemas.microsoft.com/office/powerpoint/2010/main" val="2296988141"/>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523F438-A4D0-E5F3-634C-CBB2FC782B31}"/>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9775BE7D-AC0F-4DE4-998E-4DE97635E99D}" type="slidenum">
              <a:rPr lang="en-US" altLang="ja-JP" smtClean="0"/>
              <a:pPr>
                <a:defRPr/>
              </a:pPr>
              <a:t>‹#›</a:t>
            </a:fld>
            <a:endParaRPr lang="en-US" altLang="ja-JP"/>
          </a:p>
        </p:txBody>
      </p:sp>
      <p:sp>
        <p:nvSpPr>
          <p:cNvPr id="3" name="Rectangle 7">
            <a:extLst>
              <a:ext uri="{FF2B5EF4-FFF2-40B4-BE49-F238E27FC236}">
                <a16:creationId xmlns:a16="http://schemas.microsoft.com/office/drawing/2014/main" id="{64DB650B-586E-9352-B7FF-6A73D8F4301B}"/>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647412E3-0ED7-4C08-892C-147A2AAC6481}" type="datetime1">
              <a:rPr lang="en-US"/>
              <a:pPr>
                <a:defRPr/>
              </a:pPr>
              <a:t>10/25/2026</a:t>
            </a:fld>
            <a:r>
              <a:rPr lang="en-US" altLang="ja-JP" dirty="0"/>
              <a:t> </a:t>
            </a:r>
          </a:p>
        </p:txBody>
      </p:sp>
    </p:spTree>
    <p:extLst>
      <p:ext uri="{BB962C8B-B14F-4D97-AF65-F5344CB8AC3E}">
        <p14:creationId xmlns:p14="http://schemas.microsoft.com/office/powerpoint/2010/main" val="2652646170"/>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8B7B68B-E0C1-96AE-FE1A-472D62431840}"/>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5271BBE3-8861-4910-9E82-D3CB9273A1FF}"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A28979E2-4309-9B0C-3E4D-7B9720D7AE54}"/>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B220965-29B0-4EC3-821B-460E6FCCCD21}" type="datetime1">
              <a:rPr lang="en-US"/>
              <a:pPr>
                <a:defRPr/>
              </a:pPr>
              <a:t>10/25/2026</a:t>
            </a:fld>
            <a:r>
              <a:rPr lang="en-US" altLang="ja-JP" dirty="0"/>
              <a:t> </a:t>
            </a:r>
          </a:p>
        </p:txBody>
      </p:sp>
    </p:spTree>
    <p:extLst>
      <p:ext uri="{BB962C8B-B14F-4D97-AF65-F5344CB8AC3E}">
        <p14:creationId xmlns:p14="http://schemas.microsoft.com/office/powerpoint/2010/main" val="270688713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3015C473-4C6C-E6D8-A0B0-C2BEB6D36526}"/>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FEFC4B09-65B1-4DFE-98D8-61AE99566C3F}"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F1FCC39A-E82F-A8B8-1B5A-7EAC62A921E4}"/>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8FCFC37-948D-4B2C-AA2F-1B317E3D097F}" type="datetime1">
              <a:rPr lang="en-US"/>
              <a:pPr>
                <a:defRPr/>
              </a:pPr>
              <a:t>10/25/2026</a:t>
            </a:fld>
            <a:r>
              <a:rPr lang="en-US" altLang="ja-JP" dirty="0"/>
              <a:t> </a:t>
            </a:r>
          </a:p>
        </p:txBody>
      </p:sp>
    </p:spTree>
    <p:extLst>
      <p:ext uri="{BB962C8B-B14F-4D97-AF65-F5344CB8AC3E}">
        <p14:creationId xmlns:p14="http://schemas.microsoft.com/office/powerpoint/2010/main" val="335404602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B163FC27-DAE9-C57E-9389-DFC94DEE8DB4}"/>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BF0D01ED-0326-487D-8409-AC2D60349C65}"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2101CC19-A28F-957F-0CBB-628620F9FEC6}"/>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27FC7C8A-885C-48A0-8B08-0A9258A47B76}" type="datetime1">
              <a:rPr lang="en-US"/>
              <a:pPr>
                <a:defRPr/>
              </a:pPr>
              <a:t>10/25/2026</a:t>
            </a:fld>
            <a:r>
              <a:rPr lang="en-US" altLang="ja-JP" dirty="0"/>
              <a:t> </a:t>
            </a:r>
          </a:p>
        </p:txBody>
      </p:sp>
    </p:spTree>
    <p:extLst>
      <p:ext uri="{BB962C8B-B14F-4D97-AF65-F5344CB8AC3E}">
        <p14:creationId xmlns:p14="http://schemas.microsoft.com/office/powerpoint/2010/main" val="56944577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5184" y="271464"/>
            <a:ext cx="2810933" cy="61864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40267" y="271464"/>
            <a:ext cx="8231717" cy="61864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8F52033-766B-9186-0365-AE494C1420C2}"/>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5C8D5B1B-13CD-466F-A689-82ED3BF513DB}"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4202D4E3-441B-8663-B062-848D02162D73}"/>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FED846F2-25F6-4E4F-98E0-26E5F644DA7F}" type="datetime1">
              <a:rPr lang="en-US"/>
              <a:pPr>
                <a:defRPr/>
              </a:pPr>
              <a:t>10/25/2026</a:t>
            </a:fld>
            <a:r>
              <a:rPr lang="en-US" altLang="ja-JP" dirty="0"/>
              <a:t> </a:t>
            </a:r>
          </a:p>
        </p:txBody>
      </p:sp>
    </p:spTree>
    <p:extLst>
      <p:ext uri="{BB962C8B-B14F-4D97-AF65-F5344CB8AC3E}">
        <p14:creationId xmlns:p14="http://schemas.microsoft.com/office/powerpoint/2010/main" val="2370395689"/>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0267" y="271463"/>
            <a:ext cx="9139767" cy="520700"/>
          </a:xfrm>
        </p:spPr>
        <p:txBody>
          <a:bodyPr/>
          <a:lstStyle/>
          <a:p>
            <a:r>
              <a:rPr lang="en-US"/>
              <a:t>Click to edit Master title style</a:t>
            </a:r>
          </a:p>
        </p:txBody>
      </p:sp>
      <p:sp>
        <p:nvSpPr>
          <p:cNvPr id="3" name="Text Placeholder 2"/>
          <p:cNvSpPr>
            <a:spLocks noGrp="1"/>
          </p:cNvSpPr>
          <p:nvPr>
            <p:ph type="body" sz="half" idx="1"/>
          </p:nvPr>
        </p:nvSpPr>
        <p:spPr>
          <a:xfrm>
            <a:off x="476251" y="890588"/>
            <a:ext cx="5503333" cy="556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784" y="890588"/>
            <a:ext cx="5503333" cy="556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9AA47403-0FC3-7F0C-7080-34471B360A5B}"/>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89F711F4-9AE9-42C3-BAB8-61BDBE9F88C8}"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6C4BC70B-FA8E-3756-931A-9988DB350F29}"/>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E719E718-6648-4AA1-A90D-463FA9A34EBB}" type="datetime1">
              <a:rPr lang="en-US"/>
              <a:pPr>
                <a:defRPr/>
              </a:pPr>
              <a:t>10/25/2026</a:t>
            </a:fld>
            <a:r>
              <a:rPr lang="en-US" altLang="ja-JP" dirty="0"/>
              <a:t> </a:t>
            </a:r>
          </a:p>
        </p:txBody>
      </p:sp>
    </p:spTree>
    <p:extLst>
      <p:ext uri="{BB962C8B-B14F-4D97-AF65-F5344CB8AC3E}">
        <p14:creationId xmlns:p14="http://schemas.microsoft.com/office/powerpoint/2010/main" val="815188943"/>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40267" y="271463"/>
            <a:ext cx="9139767" cy="520700"/>
          </a:xfrm>
        </p:spPr>
        <p:txBody>
          <a:bodyPr/>
          <a:lstStyle/>
          <a:p>
            <a:r>
              <a:rPr lang="en-US"/>
              <a:t>Click to edit Master title style</a:t>
            </a:r>
          </a:p>
        </p:txBody>
      </p:sp>
      <p:sp>
        <p:nvSpPr>
          <p:cNvPr id="3" name="Table Placeholder 2"/>
          <p:cNvSpPr>
            <a:spLocks noGrp="1"/>
          </p:cNvSpPr>
          <p:nvPr>
            <p:ph type="tbl" idx="1"/>
          </p:nvPr>
        </p:nvSpPr>
        <p:spPr>
          <a:xfrm>
            <a:off x="476251" y="890588"/>
            <a:ext cx="11209867" cy="5567362"/>
          </a:xfrm>
        </p:spPr>
        <p:txBody>
          <a:bodyPr/>
          <a:lstStyle/>
          <a:p>
            <a:pPr lvl="0"/>
            <a:endParaRPr lang="en-US" noProof="0" dirty="0"/>
          </a:p>
        </p:txBody>
      </p:sp>
      <p:sp>
        <p:nvSpPr>
          <p:cNvPr id="4" name="Rectangle 6">
            <a:extLst>
              <a:ext uri="{FF2B5EF4-FFF2-40B4-BE49-F238E27FC236}">
                <a16:creationId xmlns:a16="http://schemas.microsoft.com/office/drawing/2014/main" id="{E780E12B-E01B-A74C-C54D-C68EA7FAF358}"/>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72D2ABE9-6A45-4B91-A637-4F99DD178ABD}"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81ABABC6-9172-2CE4-0257-51CC9AD2F3E2}"/>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D55D7007-FEB3-4AB6-9B3B-533A8F7AA437}" type="datetime1">
              <a:rPr lang="en-US"/>
              <a:pPr>
                <a:defRPr/>
              </a:pPr>
              <a:t>10/25/2026</a:t>
            </a:fld>
            <a:r>
              <a:rPr lang="en-US" altLang="ja-JP" dirty="0"/>
              <a:t> </a:t>
            </a:r>
          </a:p>
        </p:txBody>
      </p:sp>
    </p:spTree>
    <p:extLst>
      <p:ext uri="{BB962C8B-B14F-4D97-AF65-F5344CB8AC3E}">
        <p14:creationId xmlns:p14="http://schemas.microsoft.com/office/powerpoint/2010/main" val="140878366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40267" y="271463"/>
            <a:ext cx="9139767" cy="520700"/>
          </a:xfrm>
        </p:spPr>
        <p:txBody>
          <a:bodyPr/>
          <a:lstStyle/>
          <a:p>
            <a:r>
              <a:rPr lang="en-US"/>
              <a:t>Click to edit Master title style</a:t>
            </a:r>
          </a:p>
        </p:txBody>
      </p:sp>
      <p:sp>
        <p:nvSpPr>
          <p:cNvPr id="3" name="Content Placeholder 2"/>
          <p:cNvSpPr>
            <a:spLocks noGrp="1"/>
          </p:cNvSpPr>
          <p:nvPr>
            <p:ph sz="quarter" idx="1"/>
          </p:nvPr>
        </p:nvSpPr>
        <p:spPr>
          <a:xfrm>
            <a:off x="476251" y="890589"/>
            <a:ext cx="5503333" cy="2706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82784" y="890589"/>
            <a:ext cx="5503333" cy="2706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1" y="3749676"/>
            <a:ext cx="5503333"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82784" y="3749676"/>
            <a:ext cx="5503333"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EDBABE5B-C2DA-F337-6D6C-CB7BBF50558B}"/>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B9D956C8-1790-4A4C-9F98-34B85EA94D47}" type="slidenum">
              <a:rPr lang="en-US" altLang="ja-JP" smtClean="0"/>
              <a:pPr>
                <a:defRPr/>
              </a:pPr>
              <a:t>‹#›</a:t>
            </a:fld>
            <a:endParaRPr lang="en-US" altLang="ja-JP"/>
          </a:p>
        </p:txBody>
      </p:sp>
      <p:sp>
        <p:nvSpPr>
          <p:cNvPr id="8" name="Date Placeholder 7">
            <a:extLst>
              <a:ext uri="{FF2B5EF4-FFF2-40B4-BE49-F238E27FC236}">
                <a16:creationId xmlns:a16="http://schemas.microsoft.com/office/drawing/2014/main" id="{C1F97BC4-6B5E-3C54-63B4-797FB56F182E}"/>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C28EA82E-EE91-45ED-8913-BA28C499FD8C}" type="datetime1">
              <a:rPr lang="en-US"/>
              <a:pPr>
                <a:defRPr/>
              </a:pPr>
              <a:t>10/25/2026</a:t>
            </a:fld>
            <a:r>
              <a:rPr lang="en-US" altLang="ja-JP" dirty="0"/>
              <a:t> </a:t>
            </a:r>
          </a:p>
        </p:txBody>
      </p:sp>
    </p:spTree>
    <p:extLst>
      <p:ext uri="{BB962C8B-B14F-4D97-AF65-F5344CB8AC3E}">
        <p14:creationId xmlns:p14="http://schemas.microsoft.com/office/powerpoint/2010/main" val="3765841898"/>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2" name="Picture 2" descr="R&amp;S Logo - Smooth Med Res">
            <a:extLst>
              <a:ext uri="{FF2B5EF4-FFF2-40B4-BE49-F238E27FC236}">
                <a16:creationId xmlns:a16="http://schemas.microsoft.com/office/drawing/2014/main" id="{AAA970FE-9D6E-4F43-DE0B-2C2E819947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4800" y="5407025"/>
            <a:ext cx="496093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Line 3">
            <a:extLst>
              <a:ext uri="{FF2B5EF4-FFF2-40B4-BE49-F238E27FC236}">
                <a16:creationId xmlns:a16="http://schemas.microsoft.com/office/drawing/2014/main" id="{81DEF323-78E5-2AD0-5CDD-08D8531E7F89}"/>
              </a:ext>
            </a:extLst>
          </p:cNvPr>
          <p:cNvSpPr>
            <a:spLocks noChangeShapeType="1"/>
          </p:cNvSpPr>
          <p:nvPr/>
        </p:nvSpPr>
        <p:spPr bwMode="auto">
          <a:xfrm>
            <a:off x="458788" y="2882900"/>
            <a:ext cx="11195050" cy="0"/>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Rectangle 7">
            <a:extLst>
              <a:ext uri="{FF2B5EF4-FFF2-40B4-BE49-F238E27FC236}">
                <a16:creationId xmlns:a16="http://schemas.microsoft.com/office/drawing/2014/main" id="{26846136-CD69-6539-D06E-2297F450282D}"/>
              </a:ext>
            </a:extLst>
          </p:cNvPr>
          <p:cNvSpPr>
            <a:spLocks noChangeArrowheads="1"/>
          </p:cNvSpPr>
          <p:nvPr/>
        </p:nvSpPr>
        <p:spPr bwMode="auto">
          <a:xfrm>
            <a:off x="400050" y="2903538"/>
            <a:ext cx="11253788" cy="668337"/>
          </a:xfrm>
          <a:prstGeom prst="rect">
            <a:avLst/>
          </a:prstGeom>
          <a:noFill/>
          <a:ln>
            <a:noFill/>
          </a:ln>
          <a:effectLst/>
        </p:spPr>
        <p:txBody>
          <a:bodyPr lIns="93481" tIns="91398" rIns="93481" bIns="91398" anchor="ctr"/>
          <a:lstStyle>
            <a:lvl1pPr eaLnBrk="0" hangingPunct="0">
              <a:defRPr sz="3200">
                <a:solidFill>
                  <a:schemeClr val="tx1"/>
                </a:solidFill>
                <a:latin typeface="Times New Roman" panose="02020603050405020304" pitchFamily="18" charset="0"/>
                <a:cs typeface="Arial" panose="020B0604020202020204" pitchFamily="34" charset="0"/>
              </a:defRPr>
            </a:lvl1pPr>
            <a:lvl2pPr marL="742950" indent="-285750" eaLnBrk="0" hangingPunct="0">
              <a:defRPr sz="3200">
                <a:solidFill>
                  <a:schemeClr val="tx1"/>
                </a:solidFill>
                <a:latin typeface="Times New Roman" panose="02020603050405020304" pitchFamily="18" charset="0"/>
                <a:cs typeface="Arial" panose="020B0604020202020204" pitchFamily="34" charset="0"/>
              </a:defRPr>
            </a:lvl2pPr>
            <a:lvl3pPr marL="1143000" indent="-228600" eaLnBrk="0" hangingPunct="0">
              <a:defRPr sz="3200">
                <a:solidFill>
                  <a:schemeClr val="tx1"/>
                </a:solidFill>
                <a:latin typeface="Times New Roman" panose="02020603050405020304" pitchFamily="18" charset="0"/>
                <a:cs typeface="Arial" panose="020B0604020202020204" pitchFamily="34" charset="0"/>
              </a:defRPr>
            </a:lvl3pPr>
            <a:lvl4pPr marL="1600200" indent="-228600" eaLnBrk="0" hangingPunct="0">
              <a:defRPr sz="3200">
                <a:solidFill>
                  <a:schemeClr val="tx1"/>
                </a:solidFill>
                <a:latin typeface="Times New Roman" panose="02020603050405020304" pitchFamily="18" charset="0"/>
                <a:cs typeface="Arial" panose="020B0604020202020204" pitchFamily="34" charset="0"/>
              </a:defRPr>
            </a:lvl4pPr>
            <a:lvl5pPr marL="2057400" indent="-228600" eaLnBrk="0" hangingPunct="0">
              <a:defRPr sz="32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chemeClr val="tx1"/>
                </a:solidFill>
                <a:latin typeface="Times New Roman" panose="02020603050405020304" pitchFamily="18" charset="0"/>
                <a:cs typeface="Arial" panose="020B0604020202020204" pitchFamily="34" charset="0"/>
              </a:defRPr>
            </a:lvl9pPr>
          </a:lstStyle>
          <a:p>
            <a:pPr eaLnBrk="1" hangingPunct="1">
              <a:defRPr/>
            </a:pPr>
            <a:endParaRPr kumimoji="1" lang="en-US" altLang="en-US" sz="1800">
              <a:solidFill>
                <a:srgbClr val="000000"/>
              </a:solidFill>
              <a:latin typeface="Arial" panose="020B0604020202020204" pitchFamily="34" charset="0"/>
            </a:endParaRPr>
          </a:p>
        </p:txBody>
      </p:sp>
      <p:sp>
        <p:nvSpPr>
          <p:cNvPr id="4100" name="Rectangle 4"/>
          <p:cNvSpPr>
            <a:spLocks noGrp="1" noChangeArrowheads="1"/>
          </p:cNvSpPr>
          <p:nvPr>
            <p:ph type="ctrTitle"/>
          </p:nvPr>
        </p:nvSpPr>
        <p:spPr>
          <a:xfrm>
            <a:off x="438152" y="2214564"/>
            <a:ext cx="11256433" cy="668337"/>
          </a:xfrm>
        </p:spPr>
        <p:txBody>
          <a:bodyPr lIns="93481" tIns="91398" rIns="93481" bIns="91398"/>
          <a:lstStyle>
            <a:lvl1pPr algn="ctr">
              <a:defRPr sz="2800"/>
            </a:lvl1pPr>
          </a:lstStyle>
          <a:p>
            <a:pPr lvl="0"/>
            <a:r>
              <a:rPr lang="en-US" altLang="ja-JP" noProof="0"/>
              <a:t>Click to edit title master style</a:t>
            </a:r>
          </a:p>
        </p:txBody>
      </p:sp>
      <p:sp>
        <p:nvSpPr>
          <p:cNvPr id="4101" name="Rectangle 5"/>
          <p:cNvSpPr>
            <a:spLocks noGrp="1" noChangeArrowheads="1"/>
          </p:cNvSpPr>
          <p:nvPr>
            <p:ph type="subTitle" idx="1"/>
          </p:nvPr>
        </p:nvSpPr>
        <p:spPr>
          <a:xfrm>
            <a:off x="478367" y="5341939"/>
            <a:ext cx="4284133" cy="668337"/>
          </a:xfrm>
        </p:spPr>
        <p:txBody>
          <a:bodyPr/>
          <a:lstStyle>
            <a:lvl1pPr marL="0" indent="0">
              <a:buFont typeface="Symbol" pitchFamily="18" charset="2"/>
              <a:buNone/>
              <a:defRPr sz="2400"/>
            </a:lvl1pPr>
          </a:lstStyle>
          <a:p>
            <a:pPr lvl="0"/>
            <a:r>
              <a:rPr lang="en-US" altLang="ja-JP" noProof="0"/>
              <a:t>Click to edit Master subtitle style</a:t>
            </a:r>
          </a:p>
        </p:txBody>
      </p:sp>
    </p:spTree>
    <p:extLst>
      <p:ext uri="{BB962C8B-B14F-4D97-AF65-F5344CB8AC3E}">
        <p14:creationId xmlns:p14="http://schemas.microsoft.com/office/powerpoint/2010/main" val="17336870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B3284D90-34DC-EB6F-C0D7-AE923748A7A0}"/>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D8DD2477-1B04-4A09-9D5F-39A27EC4D01E}"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C9800CAA-7E88-F0F7-1133-B7CBD075E321}"/>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28CDFFDB-B569-41D9-9DEB-E6EF9A43F4CF}" type="datetime1">
              <a:rPr lang="en-US"/>
              <a:pPr>
                <a:defRPr/>
              </a:pPr>
              <a:t>10/25/2026</a:t>
            </a:fld>
            <a:r>
              <a:rPr lang="en-US" altLang="ja-JP" dirty="0"/>
              <a:t> </a:t>
            </a:r>
          </a:p>
        </p:txBody>
      </p:sp>
    </p:spTree>
    <p:extLst>
      <p:ext uri="{BB962C8B-B14F-4D97-AF65-F5344CB8AC3E}">
        <p14:creationId xmlns:p14="http://schemas.microsoft.com/office/powerpoint/2010/main" val="653249237"/>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4C6FBD22-9C3E-A99C-069A-736CC3AD3287}"/>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91A4664D-C734-4E41-8D83-DFB521CB4999}"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6F401FB8-60FA-B00E-6DCA-46CD56BC3B2A}"/>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BD7A8B76-D867-4286-81FC-31B593DAFB93}" type="datetime1">
              <a:rPr lang="en-US"/>
              <a:pPr>
                <a:defRPr/>
              </a:pPr>
              <a:t>10/25/2026</a:t>
            </a:fld>
            <a:r>
              <a:rPr lang="en-US" altLang="ja-JP" dirty="0"/>
              <a:t> </a:t>
            </a:r>
          </a:p>
        </p:txBody>
      </p:sp>
    </p:spTree>
    <p:extLst>
      <p:ext uri="{BB962C8B-B14F-4D97-AF65-F5344CB8AC3E}">
        <p14:creationId xmlns:p14="http://schemas.microsoft.com/office/powerpoint/2010/main" val="972794298"/>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6251" y="890588"/>
            <a:ext cx="5503333" cy="5567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784" y="890588"/>
            <a:ext cx="5503333" cy="55673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E1466B87-C6AD-AE8E-30F5-6E45D2697072}"/>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01655DB4-6AAA-461B-91EB-9FABA8A9982B}"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E5FD3E4D-8608-9EFC-92C1-E0A941C38BBD}"/>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EFC923D-4143-4189-9FC9-E8969AB0344B}" type="datetime1">
              <a:rPr lang="en-US"/>
              <a:pPr>
                <a:defRPr/>
              </a:pPr>
              <a:t>10/25/2026</a:t>
            </a:fld>
            <a:r>
              <a:rPr lang="en-US" altLang="ja-JP" dirty="0"/>
              <a:t> </a:t>
            </a:r>
          </a:p>
        </p:txBody>
      </p:sp>
    </p:spTree>
    <p:extLst>
      <p:ext uri="{BB962C8B-B14F-4D97-AF65-F5344CB8AC3E}">
        <p14:creationId xmlns:p14="http://schemas.microsoft.com/office/powerpoint/2010/main" val="131438565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41F902FC-B648-5C1E-7BFD-90950BDA57C6}"/>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9461392B-77F4-4F7C-8367-3EB22AA99BEB}" type="slidenum">
              <a:rPr lang="en-US" altLang="ja-JP" smtClean="0"/>
              <a:pPr>
                <a:defRPr/>
              </a:pPr>
              <a:t>‹#›</a:t>
            </a:fld>
            <a:endParaRPr lang="en-US" altLang="ja-JP"/>
          </a:p>
        </p:txBody>
      </p:sp>
      <p:sp>
        <p:nvSpPr>
          <p:cNvPr id="8" name="Date Placeholder 7">
            <a:extLst>
              <a:ext uri="{FF2B5EF4-FFF2-40B4-BE49-F238E27FC236}">
                <a16:creationId xmlns:a16="http://schemas.microsoft.com/office/drawing/2014/main" id="{8043247B-067A-6F40-EE65-E762CDAD7651}"/>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BB5943B6-AEAA-440F-A77C-850948F4BFC2}" type="datetime1">
              <a:rPr lang="en-US"/>
              <a:pPr>
                <a:defRPr/>
              </a:pPr>
              <a:t>10/25/2026</a:t>
            </a:fld>
            <a:r>
              <a:rPr lang="en-US" altLang="ja-JP" dirty="0"/>
              <a:t> </a:t>
            </a:r>
          </a:p>
        </p:txBody>
      </p:sp>
    </p:spTree>
    <p:extLst>
      <p:ext uri="{BB962C8B-B14F-4D97-AF65-F5344CB8AC3E}">
        <p14:creationId xmlns:p14="http://schemas.microsoft.com/office/powerpoint/2010/main" val="127132810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041411E1-5971-9FDD-BB78-A3F959D2894E}"/>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F317A0E5-F510-43E8-B12F-1C9AEC16506B}" type="slidenum">
              <a:rPr lang="en-US" altLang="ja-JP" smtClean="0"/>
              <a:pPr>
                <a:defRPr/>
              </a:pPr>
              <a:t>‹#›</a:t>
            </a:fld>
            <a:endParaRPr lang="en-US" altLang="ja-JP"/>
          </a:p>
        </p:txBody>
      </p:sp>
      <p:sp>
        <p:nvSpPr>
          <p:cNvPr id="4" name="Rectangle 7">
            <a:extLst>
              <a:ext uri="{FF2B5EF4-FFF2-40B4-BE49-F238E27FC236}">
                <a16:creationId xmlns:a16="http://schemas.microsoft.com/office/drawing/2014/main" id="{80E2A645-133F-EC88-CD29-82364BF2D262}"/>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A89B5F47-395E-4B63-A9B0-C61F229B4F8F}" type="datetime1">
              <a:rPr lang="en-US"/>
              <a:pPr>
                <a:defRPr/>
              </a:pPr>
              <a:t>10/25/2026</a:t>
            </a:fld>
            <a:r>
              <a:rPr lang="en-US" altLang="ja-JP" dirty="0"/>
              <a:t> </a:t>
            </a:r>
          </a:p>
        </p:txBody>
      </p:sp>
    </p:spTree>
    <p:extLst>
      <p:ext uri="{BB962C8B-B14F-4D97-AF65-F5344CB8AC3E}">
        <p14:creationId xmlns:p14="http://schemas.microsoft.com/office/powerpoint/2010/main" val="149452040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5BAD23D-F3DD-9D35-8CC7-9DBA4A182889}"/>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06CB86B0-4BD6-471C-95FE-4C977F7D55EC}" type="slidenum">
              <a:rPr lang="en-US" altLang="ja-JP" smtClean="0"/>
              <a:pPr>
                <a:defRPr/>
              </a:pPr>
              <a:t>‹#›</a:t>
            </a:fld>
            <a:endParaRPr lang="en-US" altLang="ja-JP"/>
          </a:p>
        </p:txBody>
      </p:sp>
      <p:sp>
        <p:nvSpPr>
          <p:cNvPr id="3" name="Rectangle 7">
            <a:extLst>
              <a:ext uri="{FF2B5EF4-FFF2-40B4-BE49-F238E27FC236}">
                <a16:creationId xmlns:a16="http://schemas.microsoft.com/office/drawing/2014/main" id="{679F3F16-E4A4-2978-CB24-790FD2DB30D3}"/>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4FF6F19C-DD9E-4047-B0F6-A06B8E8485C9}" type="datetime1">
              <a:rPr lang="en-US"/>
              <a:pPr>
                <a:defRPr/>
              </a:pPr>
              <a:t>10/25/2026</a:t>
            </a:fld>
            <a:r>
              <a:rPr lang="en-US" altLang="ja-JP" dirty="0"/>
              <a:t> </a:t>
            </a:r>
          </a:p>
        </p:txBody>
      </p:sp>
    </p:spTree>
    <p:extLst>
      <p:ext uri="{BB962C8B-B14F-4D97-AF65-F5344CB8AC3E}">
        <p14:creationId xmlns:p14="http://schemas.microsoft.com/office/powerpoint/2010/main" val="2577459873"/>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8542A8E-C7F3-3DF0-8DC2-497D2F51C001}"/>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E42E75EE-6D0D-4445-97FF-C3FF3EBABEB8}"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BBF527EB-20BE-24F3-83D6-B0820C4A5A4F}"/>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DBE9FE74-B793-4D59-BE58-29F39C10A483}" type="datetime1">
              <a:rPr lang="en-US"/>
              <a:pPr>
                <a:defRPr/>
              </a:pPr>
              <a:t>10/25/2026</a:t>
            </a:fld>
            <a:r>
              <a:rPr lang="en-US" altLang="ja-JP" dirty="0"/>
              <a:t> </a:t>
            </a:r>
          </a:p>
        </p:txBody>
      </p:sp>
    </p:spTree>
    <p:extLst>
      <p:ext uri="{BB962C8B-B14F-4D97-AF65-F5344CB8AC3E}">
        <p14:creationId xmlns:p14="http://schemas.microsoft.com/office/powerpoint/2010/main" val="858618880"/>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FCC25CF-ABC7-8C1E-40CB-79B626A13F85}"/>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EB58C81C-97CF-4C87-A8BE-ED2E6BD6CAAD}"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267DC7B9-12BA-39D7-AF9D-F8E557085C0B}"/>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ED6B546E-B474-4DC6-8825-84826CD40B4D}" type="datetime1">
              <a:rPr lang="en-US"/>
              <a:pPr>
                <a:defRPr/>
              </a:pPr>
              <a:t>10/25/2026</a:t>
            </a:fld>
            <a:r>
              <a:rPr lang="en-US" altLang="ja-JP" dirty="0"/>
              <a:t> </a:t>
            </a:r>
          </a:p>
        </p:txBody>
      </p:sp>
    </p:spTree>
    <p:extLst>
      <p:ext uri="{BB962C8B-B14F-4D97-AF65-F5344CB8AC3E}">
        <p14:creationId xmlns:p14="http://schemas.microsoft.com/office/powerpoint/2010/main" val="218316766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C1356EC-0425-7D37-D08E-280ED4F76115}"/>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658E90CC-1405-4DA0-843B-400869FE37B1}"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F34C1096-F418-8FA2-13A5-769F0A56E849}"/>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69E7FCF-4B7B-4ECE-B10F-1C664055D46D}" type="datetime1">
              <a:rPr lang="en-US"/>
              <a:pPr>
                <a:defRPr/>
              </a:pPr>
              <a:t>10/25/2026</a:t>
            </a:fld>
            <a:r>
              <a:rPr lang="en-US" altLang="ja-JP" dirty="0"/>
              <a:t> </a:t>
            </a:r>
          </a:p>
        </p:txBody>
      </p:sp>
    </p:spTree>
    <p:extLst>
      <p:ext uri="{BB962C8B-B14F-4D97-AF65-F5344CB8AC3E}">
        <p14:creationId xmlns:p14="http://schemas.microsoft.com/office/powerpoint/2010/main" val="2939754630"/>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5184" y="271464"/>
            <a:ext cx="2810933" cy="61864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40267" y="271464"/>
            <a:ext cx="8231717" cy="61864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F8C7409-1168-7168-CDBE-AD6A009554AE}"/>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4C8C61D2-98EF-4F69-96D7-A258B1CA4F4A}"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F79087A4-8AED-28DA-A0F0-1E7040898E5E}"/>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7FFA717C-2957-47D1-A19C-A6AC66889B56}" type="datetime1">
              <a:rPr lang="en-US"/>
              <a:pPr>
                <a:defRPr/>
              </a:pPr>
              <a:t>10/25/2026</a:t>
            </a:fld>
            <a:r>
              <a:rPr lang="en-US" altLang="ja-JP" dirty="0"/>
              <a:t> </a:t>
            </a:r>
          </a:p>
        </p:txBody>
      </p:sp>
    </p:spTree>
    <p:extLst>
      <p:ext uri="{BB962C8B-B14F-4D97-AF65-F5344CB8AC3E}">
        <p14:creationId xmlns:p14="http://schemas.microsoft.com/office/powerpoint/2010/main" val="3038136768"/>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0267" y="271463"/>
            <a:ext cx="9139767" cy="520700"/>
          </a:xfrm>
        </p:spPr>
        <p:txBody>
          <a:bodyPr/>
          <a:lstStyle/>
          <a:p>
            <a:r>
              <a:rPr lang="en-US"/>
              <a:t>Click to edit Master title style</a:t>
            </a:r>
          </a:p>
        </p:txBody>
      </p:sp>
      <p:sp>
        <p:nvSpPr>
          <p:cNvPr id="3" name="Text Placeholder 2"/>
          <p:cNvSpPr>
            <a:spLocks noGrp="1"/>
          </p:cNvSpPr>
          <p:nvPr>
            <p:ph type="body" sz="half" idx="1"/>
          </p:nvPr>
        </p:nvSpPr>
        <p:spPr>
          <a:xfrm>
            <a:off x="476251" y="890588"/>
            <a:ext cx="5503333" cy="556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2784" y="890588"/>
            <a:ext cx="5503333" cy="5567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B8C1A770-2F83-1534-3AC4-E065A9038217}"/>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06900AB4-B2E8-4295-8737-E35B3DABA6CE}" type="slidenum">
              <a:rPr lang="en-US" altLang="ja-JP" smtClean="0"/>
              <a:pPr>
                <a:defRPr/>
              </a:pPr>
              <a:t>‹#›</a:t>
            </a:fld>
            <a:endParaRPr lang="en-US" altLang="ja-JP"/>
          </a:p>
        </p:txBody>
      </p:sp>
      <p:sp>
        <p:nvSpPr>
          <p:cNvPr id="6" name="Rectangle 7">
            <a:extLst>
              <a:ext uri="{FF2B5EF4-FFF2-40B4-BE49-F238E27FC236}">
                <a16:creationId xmlns:a16="http://schemas.microsoft.com/office/drawing/2014/main" id="{F3D85F18-84C1-E0C0-F24A-1D03FB95F560}"/>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D57684B7-363E-43A2-B6A2-1619EF38C15A}" type="datetime1">
              <a:rPr lang="en-US"/>
              <a:pPr>
                <a:defRPr/>
              </a:pPr>
              <a:t>10/25/2026</a:t>
            </a:fld>
            <a:r>
              <a:rPr lang="en-US" altLang="ja-JP" dirty="0"/>
              <a:t> </a:t>
            </a:r>
          </a:p>
        </p:txBody>
      </p:sp>
    </p:spTree>
    <p:extLst>
      <p:ext uri="{BB962C8B-B14F-4D97-AF65-F5344CB8AC3E}">
        <p14:creationId xmlns:p14="http://schemas.microsoft.com/office/powerpoint/2010/main" val="454427262"/>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40267" y="271463"/>
            <a:ext cx="9139767" cy="520700"/>
          </a:xfrm>
        </p:spPr>
        <p:txBody>
          <a:bodyPr/>
          <a:lstStyle/>
          <a:p>
            <a:r>
              <a:rPr lang="en-US"/>
              <a:t>Click to edit Master title style</a:t>
            </a:r>
          </a:p>
        </p:txBody>
      </p:sp>
      <p:sp>
        <p:nvSpPr>
          <p:cNvPr id="3" name="Table Placeholder 2"/>
          <p:cNvSpPr>
            <a:spLocks noGrp="1"/>
          </p:cNvSpPr>
          <p:nvPr>
            <p:ph type="tbl" idx="1"/>
          </p:nvPr>
        </p:nvSpPr>
        <p:spPr>
          <a:xfrm>
            <a:off x="476251" y="890588"/>
            <a:ext cx="11209867" cy="5567362"/>
          </a:xfrm>
        </p:spPr>
        <p:txBody>
          <a:bodyPr/>
          <a:lstStyle/>
          <a:p>
            <a:pPr lvl="0"/>
            <a:endParaRPr lang="en-US" noProof="0" dirty="0"/>
          </a:p>
        </p:txBody>
      </p:sp>
      <p:sp>
        <p:nvSpPr>
          <p:cNvPr id="4" name="Rectangle 6">
            <a:extLst>
              <a:ext uri="{FF2B5EF4-FFF2-40B4-BE49-F238E27FC236}">
                <a16:creationId xmlns:a16="http://schemas.microsoft.com/office/drawing/2014/main" id="{E56E9419-37AB-9F91-5793-D9C993D00906}"/>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35A310EF-EE10-4DEC-8474-94FF12D65975}" type="slidenum">
              <a:rPr lang="en-US" altLang="ja-JP" smtClean="0"/>
              <a:pPr>
                <a:defRPr/>
              </a:pPr>
              <a:t>‹#›</a:t>
            </a:fld>
            <a:endParaRPr lang="en-US" altLang="ja-JP"/>
          </a:p>
        </p:txBody>
      </p:sp>
      <p:sp>
        <p:nvSpPr>
          <p:cNvPr id="5" name="Rectangle 7">
            <a:extLst>
              <a:ext uri="{FF2B5EF4-FFF2-40B4-BE49-F238E27FC236}">
                <a16:creationId xmlns:a16="http://schemas.microsoft.com/office/drawing/2014/main" id="{787C12B8-BE0E-E4A6-25F4-1E531EA9A6C6}"/>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1AF099ED-C4C9-4FA7-B335-28B952E89F20}" type="datetime1">
              <a:rPr lang="en-US"/>
              <a:pPr>
                <a:defRPr/>
              </a:pPr>
              <a:t>10/25/2026</a:t>
            </a:fld>
            <a:r>
              <a:rPr lang="en-US" altLang="ja-JP" dirty="0"/>
              <a:t> </a:t>
            </a:r>
          </a:p>
        </p:txBody>
      </p:sp>
    </p:spTree>
    <p:extLst>
      <p:ext uri="{BB962C8B-B14F-4D97-AF65-F5344CB8AC3E}">
        <p14:creationId xmlns:p14="http://schemas.microsoft.com/office/powerpoint/2010/main" val="1269069336"/>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40267" y="271463"/>
            <a:ext cx="9139767" cy="520700"/>
          </a:xfrm>
        </p:spPr>
        <p:txBody>
          <a:bodyPr/>
          <a:lstStyle/>
          <a:p>
            <a:r>
              <a:rPr lang="en-US"/>
              <a:t>Click to edit Master title style</a:t>
            </a:r>
          </a:p>
        </p:txBody>
      </p:sp>
      <p:sp>
        <p:nvSpPr>
          <p:cNvPr id="3" name="Content Placeholder 2"/>
          <p:cNvSpPr>
            <a:spLocks noGrp="1"/>
          </p:cNvSpPr>
          <p:nvPr>
            <p:ph sz="quarter" idx="1"/>
          </p:nvPr>
        </p:nvSpPr>
        <p:spPr>
          <a:xfrm>
            <a:off x="476251" y="890589"/>
            <a:ext cx="5503333" cy="2706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82784" y="890589"/>
            <a:ext cx="5503333" cy="2706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1" y="3749676"/>
            <a:ext cx="5503333"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82784" y="3749676"/>
            <a:ext cx="5503333" cy="270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9E28AD1-6D14-84DE-E14E-5426951760C9}"/>
              </a:ext>
            </a:extLst>
          </p:cNvPr>
          <p:cNvSpPr>
            <a:spLocks noGrp="1" noChangeArrowheads="1"/>
          </p:cNvSpPr>
          <p:nvPr>
            <p:ph type="sldNum" sz="quarter" idx="10"/>
          </p:nvPr>
        </p:nvSpPr>
        <p:spPr/>
        <p:txBody>
          <a:bodyPr/>
          <a:lstStyle>
            <a:lvl1pPr algn="l">
              <a:defRPr>
                <a:latin typeface="Times New Roman" panose="02020603050405020304" pitchFamily="18" charset="0"/>
              </a:defRPr>
            </a:lvl1pPr>
          </a:lstStyle>
          <a:p>
            <a:pPr>
              <a:defRPr/>
            </a:pPr>
            <a:r>
              <a:rPr lang="en-US" altLang="ja-JP"/>
              <a:t>VG - </a:t>
            </a:r>
            <a:fld id="{DA3B1239-DDBA-43F1-AAEE-5A7E843B6F00}" type="slidenum">
              <a:rPr lang="en-US" altLang="ja-JP" smtClean="0"/>
              <a:pPr>
                <a:defRPr/>
              </a:pPr>
              <a:t>‹#›</a:t>
            </a:fld>
            <a:endParaRPr lang="en-US" altLang="ja-JP"/>
          </a:p>
        </p:txBody>
      </p:sp>
      <p:sp>
        <p:nvSpPr>
          <p:cNvPr id="8" name="Date Placeholder 7">
            <a:extLst>
              <a:ext uri="{FF2B5EF4-FFF2-40B4-BE49-F238E27FC236}">
                <a16:creationId xmlns:a16="http://schemas.microsoft.com/office/drawing/2014/main" id="{EFDCEADF-E006-51F0-1186-CE0205141F0D}"/>
              </a:ext>
            </a:extLst>
          </p:cNvPr>
          <p:cNvSpPr>
            <a:spLocks noGrp="1" noChangeArrowheads="1"/>
          </p:cNvSpPr>
          <p:nvPr>
            <p:ph type="dt" sz="half" idx="11"/>
          </p:nvPr>
        </p:nvSpPr>
        <p:spPr/>
        <p:txBody>
          <a:bodyPr/>
          <a:lstStyle>
            <a:lvl1pPr>
              <a:defRPr>
                <a:latin typeface="Times New Roman" pitchFamily="18" charset="0"/>
                <a:cs typeface="Arial" charset="0"/>
              </a:defRPr>
            </a:lvl1pPr>
          </a:lstStyle>
          <a:p>
            <a:pPr>
              <a:defRPr/>
            </a:pPr>
            <a:fld id="{7D1060EC-AB1C-4433-AE35-8602DC7842B9}" type="datetime1">
              <a:rPr lang="en-US"/>
              <a:pPr>
                <a:defRPr/>
              </a:pPr>
              <a:t>10/25/2026</a:t>
            </a:fld>
            <a:r>
              <a:rPr lang="en-US" altLang="ja-JP" dirty="0"/>
              <a:t> </a:t>
            </a:r>
          </a:p>
        </p:txBody>
      </p:sp>
    </p:spTree>
    <p:extLst>
      <p:ext uri="{BB962C8B-B14F-4D97-AF65-F5344CB8AC3E}">
        <p14:creationId xmlns:p14="http://schemas.microsoft.com/office/powerpoint/2010/main" val="2521648184"/>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910499"/>
            <a:ext cx="12192000" cy="967819"/>
          </a:xfrm>
        </p:spPr>
        <p:txBody>
          <a:bodyPr anchor="b">
            <a:noAutofit/>
          </a:bodyPr>
          <a:lstStyle>
            <a:lvl1pPr algn="ctr">
              <a:defRPr sz="5333"/>
            </a:lvl1pPr>
          </a:lstStyle>
          <a:p>
            <a:r>
              <a:rPr lang="en-US" dirty="0"/>
              <a:t>Click to edit Master title style</a:t>
            </a:r>
          </a:p>
        </p:txBody>
      </p:sp>
      <p:sp>
        <p:nvSpPr>
          <p:cNvPr id="3" name="Subtitle 2"/>
          <p:cNvSpPr>
            <a:spLocks noGrp="1"/>
          </p:cNvSpPr>
          <p:nvPr>
            <p:ph type="subTitle" idx="1"/>
          </p:nvPr>
        </p:nvSpPr>
        <p:spPr>
          <a:xfrm>
            <a:off x="1524000" y="2998721"/>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A61152E-1F62-C6D4-4A47-714147DA2508}"/>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10/25/2026</a:t>
            </a:fld>
            <a:endParaRPr lang="en-US"/>
          </a:p>
        </p:txBody>
      </p:sp>
      <p:sp>
        <p:nvSpPr>
          <p:cNvPr id="5" name="Footer Placeholder 4">
            <a:extLst>
              <a:ext uri="{FF2B5EF4-FFF2-40B4-BE49-F238E27FC236}">
                <a16:creationId xmlns:a16="http://schemas.microsoft.com/office/drawing/2014/main" id="{428EDDEC-4B35-A914-9875-62C25651F8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0ADC201-16EC-D24D-9711-118FE5F9CAC5}"/>
              </a:ext>
            </a:extLst>
          </p:cNvPr>
          <p:cNvSpPr>
            <a:spLocks noGrp="1"/>
          </p:cNvSpPr>
          <p:nvPr>
            <p:ph type="sldNum" sz="quarter" idx="12"/>
          </p:nvPr>
        </p:nvSpPr>
        <p:spPr/>
        <p:txBody>
          <a:bodyPr/>
          <a:lstStyle>
            <a:lvl1pPr>
              <a:defRPr/>
            </a:lvl1pPr>
          </a:lstStyle>
          <a:p>
            <a:pPr>
              <a:defRPr/>
            </a:pPr>
            <a:fld id="{2C9ACA02-749D-43E5-B270-230B8676D8D8}" type="slidenum">
              <a:rPr lang="en-US" altLang="en-US"/>
              <a:pPr>
                <a:defRPr/>
              </a:pPr>
              <a:t>‹#›</a:t>
            </a:fld>
            <a:endParaRPr lang="en-US" altLang="en-US"/>
          </a:p>
        </p:txBody>
      </p:sp>
    </p:spTree>
    <p:extLst>
      <p:ext uri="{BB962C8B-B14F-4D97-AF65-F5344CB8AC3E}">
        <p14:creationId xmlns:p14="http://schemas.microsoft.com/office/powerpoint/2010/main" val="3356795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35DE5D0-EAD6-4FF5-F327-3344D456C045}"/>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10/25/2026</a:t>
            </a:fld>
            <a:endParaRPr lang="en-US"/>
          </a:p>
        </p:txBody>
      </p:sp>
      <p:sp>
        <p:nvSpPr>
          <p:cNvPr id="5" name="Footer Placeholder 4">
            <a:extLst>
              <a:ext uri="{FF2B5EF4-FFF2-40B4-BE49-F238E27FC236}">
                <a16:creationId xmlns:a16="http://schemas.microsoft.com/office/drawing/2014/main" id="{98222501-CE44-38BC-B597-D1BFCE644B0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39952DC-37A6-723F-6509-00398315BD0B}"/>
              </a:ext>
            </a:extLst>
          </p:cNvPr>
          <p:cNvSpPr>
            <a:spLocks noGrp="1"/>
          </p:cNvSpPr>
          <p:nvPr>
            <p:ph type="sldNum" sz="quarter" idx="12"/>
          </p:nvPr>
        </p:nvSpPr>
        <p:spPr/>
        <p:txBody>
          <a:bodyPr/>
          <a:lstStyle>
            <a:lvl1pPr>
              <a:defRPr/>
            </a:lvl1pPr>
          </a:lstStyle>
          <a:p>
            <a:pPr>
              <a:defRPr/>
            </a:pPr>
            <a:fld id="{CEA228C4-C787-4753-AC15-3092AFB5C874}" type="slidenum">
              <a:rPr lang="en-US" altLang="en-US"/>
              <a:pPr>
                <a:defRPr/>
              </a:pPr>
              <a:t>‹#›</a:t>
            </a:fld>
            <a:endParaRPr lang="en-US" altLang="en-US"/>
          </a:p>
        </p:txBody>
      </p:sp>
    </p:spTree>
    <p:extLst>
      <p:ext uri="{BB962C8B-B14F-4D97-AF65-F5344CB8AC3E}">
        <p14:creationId xmlns:p14="http://schemas.microsoft.com/office/powerpoint/2010/main" val="407285381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sz="5333"/>
            </a:lvl1pPr>
          </a:lstStyle>
          <a:p>
            <a:r>
              <a:rPr lang="en-US" dirty="0"/>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B88CC92-AFEC-852B-B221-76CB159543A0}"/>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10/25/2026</a:t>
            </a:fld>
            <a:endParaRPr lang="en-US"/>
          </a:p>
        </p:txBody>
      </p:sp>
      <p:sp>
        <p:nvSpPr>
          <p:cNvPr id="5" name="Footer Placeholder 4">
            <a:extLst>
              <a:ext uri="{FF2B5EF4-FFF2-40B4-BE49-F238E27FC236}">
                <a16:creationId xmlns:a16="http://schemas.microsoft.com/office/drawing/2014/main" id="{7CF79A1D-E513-3B64-B960-2F4C5370D8B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EB7FE4B-E184-0905-47B2-26A7D40EBBC0}"/>
              </a:ext>
            </a:extLst>
          </p:cNvPr>
          <p:cNvSpPr>
            <a:spLocks noGrp="1"/>
          </p:cNvSpPr>
          <p:nvPr>
            <p:ph type="sldNum" sz="quarter" idx="12"/>
          </p:nvPr>
        </p:nvSpPr>
        <p:spPr/>
        <p:txBody>
          <a:bodyPr/>
          <a:lstStyle>
            <a:lvl1pPr>
              <a:defRPr/>
            </a:lvl1pPr>
          </a:lstStyle>
          <a:p>
            <a:pPr>
              <a:defRPr/>
            </a:pPr>
            <a:fld id="{194B952F-6CFB-4AFA-ABF7-F7B5D80C0940}" type="slidenum">
              <a:rPr lang="en-US" altLang="en-US"/>
              <a:pPr>
                <a:defRPr/>
              </a:pPr>
              <a:t>‹#›</a:t>
            </a:fld>
            <a:endParaRPr lang="en-US" altLang="en-US"/>
          </a:p>
        </p:txBody>
      </p:sp>
    </p:spTree>
    <p:extLst>
      <p:ext uri="{BB962C8B-B14F-4D97-AF65-F5344CB8AC3E}">
        <p14:creationId xmlns:p14="http://schemas.microsoft.com/office/powerpoint/2010/main" val="97412198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3170825"/>
            <a:ext cx="5181600" cy="300613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3170825"/>
            <a:ext cx="5181600" cy="300613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a:extLst>
              <a:ext uri="{FF2B5EF4-FFF2-40B4-BE49-F238E27FC236}">
                <a16:creationId xmlns:a16="http://schemas.microsoft.com/office/drawing/2014/main" id="{820214D5-CF69-A244-DC4F-F2F71B2527D7}"/>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10/25/2026</a:t>
            </a:fld>
            <a:endParaRPr lang="en-US"/>
          </a:p>
        </p:txBody>
      </p:sp>
      <p:sp>
        <p:nvSpPr>
          <p:cNvPr id="6" name="Footer Placeholder 4">
            <a:extLst>
              <a:ext uri="{FF2B5EF4-FFF2-40B4-BE49-F238E27FC236}">
                <a16:creationId xmlns:a16="http://schemas.microsoft.com/office/drawing/2014/main" id="{8AFF5107-5EC8-C8A3-E873-B8BDB00E452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9158ED0-142F-78B0-A184-96490DA9E12A}"/>
              </a:ext>
            </a:extLst>
          </p:cNvPr>
          <p:cNvSpPr>
            <a:spLocks noGrp="1"/>
          </p:cNvSpPr>
          <p:nvPr>
            <p:ph type="sldNum" sz="quarter" idx="12"/>
          </p:nvPr>
        </p:nvSpPr>
        <p:spPr/>
        <p:txBody>
          <a:bodyPr/>
          <a:lstStyle>
            <a:lvl1pPr>
              <a:defRPr/>
            </a:lvl1pPr>
          </a:lstStyle>
          <a:p>
            <a:pPr>
              <a:defRPr/>
            </a:pPr>
            <a:fld id="{90592D6F-A7FC-4944-A475-D0375F1E1262}" type="slidenum">
              <a:rPr lang="en-US" altLang="en-US"/>
              <a:pPr>
                <a:defRPr/>
              </a:pPr>
              <a:t>‹#›</a:t>
            </a:fld>
            <a:endParaRPr lang="en-US" altLang="en-US"/>
          </a:p>
        </p:txBody>
      </p:sp>
    </p:spTree>
    <p:extLst>
      <p:ext uri="{BB962C8B-B14F-4D97-AF65-F5344CB8AC3E}">
        <p14:creationId xmlns:p14="http://schemas.microsoft.com/office/powerpoint/2010/main" val="9032807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2465DD25-AA74-2E30-BFC1-FA61382E8235}"/>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10/25/2026</a:t>
            </a:fld>
            <a:endParaRPr lang="en-US"/>
          </a:p>
        </p:txBody>
      </p:sp>
      <p:sp>
        <p:nvSpPr>
          <p:cNvPr id="8" name="Footer Placeholder 4">
            <a:extLst>
              <a:ext uri="{FF2B5EF4-FFF2-40B4-BE49-F238E27FC236}">
                <a16:creationId xmlns:a16="http://schemas.microsoft.com/office/drawing/2014/main" id="{3398350E-11CC-9642-FD52-84F9483EDA5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65E46AB-8423-0845-3503-BB05C4045A1A}"/>
              </a:ext>
            </a:extLst>
          </p:cNvPr>
          <p:cNvSpPr>
            <a:spLocks noGrp="1"/>
          </p:cNvSpPr>
          <p:nvPr>
            <p:ph type="sldNum" sz="quarter" idx="12"/>
          </p:nvPr>
        </p:nvSpPr>
        <p:spPr/>
        <p:txBody>
          <a:bodyPr/>
          <a:lstStyle>
            <a:lvl1pPr>
              <a:defRPr/>
            </a:lvl1pPr>
          </a:lstStyle>
          <a:p>
            <a:pPr>
              <a:defRPr/>
            </a:pPr>
            <a:fld id="{2F9EA477-F534-4D7F-BC44-AE48E0613655}" type="slidenum">
              <a:rPr lang="en-US" altLang="en-US"/>
              <a:pPr>
                <a:defRPr/>
              </a:pPr>
              <a:t>‹#›</a:t>
            </a:fld>
            <a:endParaRPr lang="en-US" altLang="en-US"/>
          </a:p>
        </p:txBody>
      </p:sp>
    </p:spTree>
    <p:extLst>
      <p:ext uri="{BB962C8B-B14F-4D97-AF65-F5344CB8AC3E}">
        <p14:creationId xmlns:p14="http://schemas.microsoft.com/office/powerpoint/2010/main" val="30683361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153C6AAD-3A4E-AD91-0156-425109F1F9F4}"/>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10/25/2026</a:t>
            </a:fld>
            <a:endParaRPr lang="en-US"/>
          </a:p>
        </p:txBody>
      </p:sp>
      <p:sp>
        <p:nvSpPr>
          <p:cNvPr id="4" name="Footer Placeholder 4">
            <a:extLst>
              <a:ext uri="{FF2B5EF4-FFF2-40B4-BE49-F238E27FC236}">
                <a16:creationId xmlns:a16="http://schemas.microsoft.com/office/drawing/2014/main" id="{FFD4458B-EAFD-9209-E04E-86F9E9CB498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C039C32-8779-FFC3-8F38-039F159A19CB}"/>
              </a:ext>
            </a:extLst>
          </p:cNvPr>
          <p:cNvSpPr>
            <a:spLocks noGrp="1"/>
          </p:cNvSpPr>
          <p:nvPr>
            <p:ph type="sldNum" sz="quarter" idx="12"/>
          </p:nvPr>
        </p:nvSpPr>
        <p:spPr/>
        <p:txBody>
          <a:bodyPr/>
          <a:lstStyle>
            <a:lvl1pPr>
              <a:defRPr/>
            </a:lvl1pPr>
          </a:lstStyle>
          <a:p>
            <a:pPr>
              <a:defRPr/>
            </a:pPr>
            <a:fld id="{51B43C25-BBF1-4B14-9A6D-5AFAE3D227DB}" type="slidenum">
              <a:rPr lang="en-US" altLang="en-US"/>
              <a:pPr>
                <a:defRPr/>
              </a:pPr>
              <a:t>‹#›</a:t>
            </a:fld>
            <a:endParaRPr lang="en-US" altLang="en-US"/>
          </a:p>
        </p:txBody>
      </p:sp>
    </p:spTree>
    <p:extLst>
      <p:ext uri="{BB962C8B-B14F-4D97-AF65-F5344CB8AC3E}">
        <p14:creationId xmlns:p14="http://schemas.microsoft.com/office/powerpoint/2010/main" val="15285191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C62A0CA-F448-6BA5-EF08-277CDBD4B3F1}"/>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10/25/2026</a:t>
            </a:fld>
            <a:endParaRPr lang="en-US"/>
          </a:p>
        </p:txBody>
      </p:sp>
      <p:sp>
        <p:nvSpPr>
          <p:cNvPr id="3" name="Footer Placeholder 4">
            <a:extLst>
              <a:ext uri="{FF2B5EF4-FFF2-40B4-BE49-F238E27FC236}">
                <a16:creationId xmlns:a16="http://schemas.microsoft.com/office/drawing/2014/main" id="{2B20DAB7-3006-6A20-7696-3298C4AA998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193B9BB-9E11-CB66-9920-09A048E0C778}"/>
              </a:ext>
            </a:extLst>
          </p:cNvPr>
          <p:cNvSpPr>
            <a:spLocks noGrp="1"/>
          </p:cNvSpPr>
          <p:nvPr>
            <p:ph type="sldNum" sz="quarter" idx="12"/>
          </p:nvPr>
        </p:nvSpPr>
        <p:spPr/>
        <p:txBody>
          <a:bodyPr/>
          <a:lstStyle>
            <a:lvl1pPr>
              <a:defRPr/>
            </a:lvl1pPr>
          </a:lstStyle>
          <a:p>
            <a:pPr>
              <a:defRPr/>
            </a:pPr>
            <a:fld id="{16AF5914-24F3-4872-8CCA-FF429BBCB2E2}" type="slidenum">
              <a:rPr lang="en-US" altLang="en-US"/>
              <a:pPr>
                <a:defRPr/>
              </a:pPr>
              <a:t>‹#›</a:t>
            </a:fld>
            <a:endParaRPr lang="en-US" altLang="en-US"/>
          </a:p>
        </p:txBody>
      </p:sp>
    </p:spTree>
    <p:extLst>
      <p:ext uri="{BB962C8B-B14F-4D97-AF65-F5344CB8AC3E}">
        <p14:creationId xmlns:p14="http://schemas.microsoft.com/office/powerpoint/2010/main" val="6499194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1265548"/>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1772239"/>
            <a:ext cx="6172200" cy="40888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865748"/>
            <a:ext cx="3932237" cy="3003240"/>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Edit Master text styles</a:t>
            </a:r>
          </a:p>
        </p:txBody>
      </p:sp>
      <p:sp>
        <p:nvSpPr>
          <p:cNvPr id="5" name="Date Placeholder 3">
            <a:extLst>
              <a:ext uri="{FF2B5EF4-FFF2-40B4-BE49-F238E27FC236}">
                <a16:creationId xmlns:a16="http://schemas.microsoft.com/office/drawing/2014/main" id="{5FDEDD9B-6EB5-98C8-36A0-13225B2E1D47}"/>
              </a:ext>
            </a:extLst>
          </p:cNvPr>
          <p:cNvSpPr>
            <a:spLocks noGrp="1"/>
          </p:cNvSpPr>
          <p:nvPr>
            <p:ph type="dt" sz="half" idx="10"/>
          </p:nvPr>
        </p:nvSpPr>
        <p:spPr/>
        <p:txBody>
          <a:bodyPr/>
          <a:lstStyle>
            <a:lvl1pPr>
              <a:defRPr/>
            </a:lvl1pPr>
          </a:lstStyle>
          <a:p>
            <a:pPr>
              <a:defRPr/>
            </a:pPr>
            <a:fld id="{2AFA8A10-4C29-6245-9ABB-B8C52547EF77}" type="datetimeFigureOut">
              <a:rPr lang="en-US"/>
              <a:pPr>
                <a:defRPr/>
              </a:pPr>
              <a:t>10/25/2026</a:t>
            </a:fld>
            <a:endParaRPr lang="en-US"/>
          </a:p>
        </p:txBody>
      </p:sp>
      <p:sp>
        <p:nvSpPr>
          <p:cNvPr id="6" name="Footer Placeholder 4">
            <a:extLst>
              <a:ext uri="{FF2B5EF4-FFF2-40B4-BE49-F238E27FC236}">
                <a16:creationId xmlns:a16="http://schemas.microsoft.com/office/drawing/2014/main" id="{A9FB8F73-0DEB-C61E-63C7-387452F95B2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EE66BC1-0B3E-1398-DA4C-900938A2AEAC}"/>
              </a:ext>
            </a:extLst>
          </p:cNvPr>
          <p:cNvSpPr>
            <a:spLocks noGrp="1"/>
          </p:cNvSpPr>
          <p:nvPr>
            <p:ph type="sldNum" sz="quarter" idx="12"/>
          </p:nvPr>
        </p:nvSpPr>
        <p:spPr/>
        <p:txBody>
          <a:bodyPr/>
          <a:lstStyle>
            <a:lvl1pPr>
              <a:defRPr/>
            </a:lvl1pPr>
          </a:lstStyle>
          <a:p>
            <a:pPr>
              <a:defRPr/>
            </a:pPr>
            <a:fld id="{92AAB2D9-87A0-4D75-935C-7BA605B13400}" type="slidenum">
              <a:rPr lang="en-US" altLang="en-US"/>
              <a:pPr>
                <a:defRPr/>
              </a:pPr>
              <a:t>‹#›</a:t>
            </a:fld>
            <a:endParaRPr lang="en-US" altLang="en-US"/>
          </a:p>
        </p:txBody>
      </p:sp>
    </p:spTree>
    <p:extLst>
      <p:ext uri="{BB962C8B-B14F-4D97-AF65-F5344CB8AC3E}">
        <p14:creationId xmlns:p14="http://schemas.microsoft.com/office/powerpoint/2010/main" val="4020200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image" Target="../media/image3.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2.png"/><Relationship Id="rId2" Type="http://schemas.openxmlformats.org/officeDocument/2006/relationships/slideLayout" Target="../slideLayouts/slideLayout15.xml"/><Relationship Id="rId16"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image" Target="../media/image3.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image" Target="../media/image2.png"/><Relationship Id="rId2" Type="http://schemas.openxmlformats.org/officeDocument/2006/relationships/slideLayout" Target="../slideLayouts/slideLayout29.xml"/><Relationship Id="rId16"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3.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44" name="Rectangle 4">
            <a:extLst>
              <a:ext uri="{FF2B5EF4-FFF2-40B4-BE49-F238E27FC236}">
                <a16:creationId xmlns:a16="http://schemas.microsoft.com/office/drawing/2014/main" id="{748EE5EE-2360-0B80-53ED-FFFB67B6FAEF}"/>
              </a:ext>
            </a:extLst>
          </p:cNvPr>
          <p:cNvSpPr>
            <a:spLocks noGrp="1" noChangeArrowheads="1"/>
          </p:cNvSpPr>
          <p:nvPr>
            <p:ph type="ftr" sz="quarter" idx="3"/>
          </p:nvPr>
        </p:nvSpPr>
        <p:spPr bwMode="auto">
          <a:xfrm>
            <a:off x="4148138" y="6565900"/>
            <a:ext cx="3860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0" hangingPunct="0">
              <a:defRPr sz="1400">
                <a:latin typeface="+mn-lt"/>
                <a:cs typeface="+mn-cs"/>
              </a:defRPr>
            </a:lvl1pPr>
          </a:lstStyle>
          <a:p>
            <a:pPr>
              <a:defRPr/>
            </a:pPr>
            <a:endParaRPr lang="en-US"/>
          </a:p>
        </p:txBody>
      </p:sp>
      <p:sp>
        <p:nvSpPr>
          <p:cNvPr id="317445" name="Rectangle 5">
            <a:extLst>
              <a:ext uri="{FF2B5EF4-FFF2-40B4-BE49-F238E27FC236}">
                <a16:creationId xmlns:a16="http://schemas.microsoft.com/office/drawing/2014/main" id="{0E91CC70-9950-247C-C332-0BFB33DD5D05}"/>
              </a:ext>
            </a:extLst>
          </p:cNvPr>
          <p:cNvSpPr>
            <a:spLocks noGrp="1" noChangeArrowheads="1"/>
          </p:cNvSpPr>
          <p:nvPr>
            <p:ph type="sldNum" sz="quarter" idx="4"/>
          </p:nvPr>
        </p:nvSpPr>
        <p:spPr bwMode="auto">
          <a:xfrm>
            <a:off x="9753600" y="6591300"/>
            <a:ext cx="2540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atin typeface="Arial" panose="020B0604020202020204" pitchFamily="34" charset="0"/>
              </a:defRPr>
            </a:lvl1pPr>
          </a:lstStyle>
          <a:p>
            <a:pPr>
              <a:defRPr/>
            </a:pPr>
            <a:fld id="{259AFB0A-4E89-43D8-8C9A-874A3C7279DB}" type="slidenum">
              <a:rPr lang="en-US" altLang="en-US"/>
              <a:pPr>
                <a:defRPr/>
              </a:pPr>
              <a:t>‹#›</a:t>
            </a:fld>
            <a:endParaRPr lang="en-US" altLang="en-US"/>
          </a:p>
        </p:txBody>
      </p:sp>
      <p:sp>
        <p:nvSpPr>
          <p:cNvPr id="1028" name="Line 6">
            <a:extLst>
              <a:ext uri="{FF2B5EF4-FFF2-40B4-BE49-F238E27FC236}">
                <a16:creationId xmlns:a16="http://schemas.microsoft.com/office/drawing/2014/main" id="{014C6A9E-2C55-F6CA-877E-0DDDF100C494}"/>
              </a:ext>
            </a:extLst>
          </p:cNvPr>
          <p:cNvSpPr>
            <a:spLocks noChangeShapeType="1"/>
          </p:cNvSpPr>
          <p:nvPr/>
        </p:nvSpPr>
        <p:spPr bwMode="auto">
          <a:xfrm flipV="1">
            <a:off x="0" y="1312863"/>
            <a:ext cx="12192000" cy="444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9" name="Rectangle 10">
            <a:extLst>
              <a:ext uri="{FF2B5EF4-FFF2-40B4-BE49-F238E27FC236}">
                <a16:creationId xmlns:a16="http://schemas.microsoft.com/office/drawing/2014/main" id="{4170537C-AADF-7ED4-9060-C41BA09FC31E}"/>
              </a:ext>
            </a:extLst>
          </p:cNvPr>
          <p:cNvSpPr>
            <a:spLocks noGrp="1" noChangeArrowheads="1"/>
          </p:cNvSpPr>
          <p:nvPr>
            <p:ph type="title"/>
          </p:nvPr>
        </p:nvSpPr>
        <p:spPr bwMode="auto">
          <a:xfrm>
            <a:off x="203200" y="152400"/>
            <a:ext cx="11150600" cy="68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Rectangle 11">
            <a:extLst>
              <a:ext uri="{FF2B5EF4-FFF2-40B4-BE49-F238E27FC236}">
                <a16:creationId xmlns:a16="http://schemas.microsoft.com/office/drawing/2014/main" id="{E5D1C332-6DB2-B3FF-B65E-20A74F1441EF}"/>
              </a:ext>
            </a:extLst>
          </p:cNvPr>
          <p:cNvSpPr>
            <a:spLocks noGrp="1" noChangeArrowheads="1"/>
          </p:cNvSpPr>
          <p:nvPr>
            <p:ph type="body" idx="1"/>
          </p:nvPr>
        </p:nvSpPr>
        <p:spPr bwMode="auto">
          <a:xfrm>
            <a:off x="203200" y="1066800"/>
            <a:ext cx="116840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7700" r:id="rId1"/>
    <p:sldLayoutId id="2147487701" r:id="rId2"/>
    <p:sldLayoutId id="2147487702" r:id="rId3"/>
    <p:sldLayoutId id="2147487703" r:id="rId4"/>
    <p:sldLayoutId id="2147487704" r:id="rId5"/>
    <p:sldLayoutId id="2147487705" r:id="rId6"/>
    <p:sldLayoutId id="2147487706" r:id="rId7"/>
    <p:sldLayoutId id="2147487707" r:id="rId8"/>
    <p:sldLayoutId id="2147487708" r:id="rId9"/>
    <p:sldLayoutId id="2147487709" r:id="rId10"/>
    <p:sldLayoutId id="2147487710" r:id="rId11"/>
    <p:sldLayoutId id="2147487711" r:id="rId12"/>
    <p:sldLayoutId id="2147487712" r:id="rId13"/>
  </p:sldLayoutIdLst>
  <p:hf hdr="0" ftr="0" dt="0"/>
  <p:txStyles>
    <p:titleStyle>
      <a:lvl1pPr algn="l" rtl="0" eaLnBrk="0" fontAlgn="base" hangingPunct="0">
        <a:spcBef>
          <a:spcPct val="0"/>
        </a:spcBef>
        <a:spcAft>
          <a:spcPct val="0"/>
        </a:spcAft>
        <a:defRPr sz="2800" b="1">
          <a:solidFill>
            <a:schemeClr val="tx2"/>
          </a:solidFill>
          <a:latin typeface="+mj-lt"/>
          <a:ea typeface="+mj-ea"/>
          <a:cs typeface="+mj-cs"/>
        </a:defRPr>
      </a:lvl1pPr>
      <a:lvl2pPr algn="l" rtl="0" eaLnBrk="0" fontAlgn="base" hangingPunct="0">
        <a:spcBef>
          <a:spcPct val="0"/>
        </a:spcBef>
        <a:spcAft>
          <a:spcPct val="0"/>
        </a:spcAft>
        <a:defRPr sz="2800" b="1">
          <a:solidFill>
            <a:schemeClr val="tx2"/>
          </a:solidFill>
          <a:latin typeface="Arial" charset="0"/>
        </a:defRPr>
      </a:lvl2pPr>
      <a:lvl3pPr algn="l" rtl="0" eaLnBrk="0" fontAlgn="base" hangingPunct="0">
        <a:spcBef>
          <a:spcPct val="0"/>
        </a:spcBef>
        <a:spcAft>
          <a:spcPct val="0"/>
        </a:spcAft>
        <a:defRPr sz="2800" b="1">
          <a:solidFill>
            <a:schemeClr val="tx2"/>
          </a:solidFill>
          <a:latin typeface="Arial" charset="0"/>
        </a:defRPr>
      </a:lvl3pPr>
      <a:lvl4pPr algn="l" rtl="0" eaLnBrk="0" fontAlgn="base" hangingPunct="0">
        <a:spcBef>
          <a:spcPct val="0"/>
        </a:spcBef>
        <a:spcAft>
          <a:spcPct val="0"/>
        </a:spcAft>
        <a:defRPr sz="2800" b="1">
          <a:solidFill>
            <a:schemeClr val="tx2"/>
          </a:solidFill>
          <a:latin typeface="Arial" charset="0"/>
        </a:defRPr>
      </a:lvl4pPr>
      <a:lvl5pPr algn="l" rtl="0" eaLnBrk="0" fontAlgn="base" hangingPunct="0">
        <a:spcBef>
          <a:spcPct val="0"/>
        </a:spcBef>
        <a:spcAft>
          <a:spcPct val="0"/>
        </a:spcAft>
        <a:defRPr sz="2800" b="1">
          <a:solidFill>
            <a:schemeClr val="tx2"/>
          </a:solidFill>
          <a:latin typeface="Arial" charset="0"/>
        </a:defRPr>
      </a:lvl5pPr>
      <a:lvl6pPr marL="457200" algn="l" rtl="0" fontAlgn="base">
        <a:spcBef>
          <a:spcPct val="0"/>
        </a:spcBef>
        <a:spcAft>
          <a:spcPct val="0"/>
        </a:spcAft>
        <a:defRPr sz="2800" b="1">
          <a:solidFill>
            <a:schemeClr val="tx2"/>
          </a:solidFill>
          <a:latin typeface="Arial" charset="0"/>
        </a:defRPr>
      </a:lvl6pPr>
      <a:lvl7pPr marL="914400" algn="l" rtl="0" fontAlgn="base">
        <a:spcBef>
          <a:spcPct val="0"/>
        </a:spcBef>
        <a:spcAft>
          <a:spcPct val="0"/>
        </a:spcAft>
        <a:defRPr sz="2800" b="1">
          <a:solidFill>
            <a:schemeClr val="tx2"/>
          </a:solidFill>
          <a:latin typeface="Arial" charset="0"/>
        </a:defRPr>
      </a:lvl7pPr>
      <a:lvl8pPr marL="1371600" algn="l" rtl="0" fontAlgn="base">
        <a:spcBef>
          <a:spcPct val="0"/>
        </a:spcBef>
        <a:spcAft>
          <a:spcPct val="0"/>
        </a:spcAft>
        <a:defRPr sz="2800" b="1">
          <a:solidFill>
            <a:schemeClr val="tx2"/>
          </a:solidFill>
          <a:latin typeface="Arial" charset="0"/>
        </a:defRPr>
      </a:lvl8pPr>
      <a:lvl9pPr marL="1828800" algn="l" rtl="0" fontAlgn="base">
        <a:spcBef>
          <a:spcPct val="0"/>
        </a:spcBef>
        <a:spcAft>
          <a:spcPct val="0"/>
        </a:spcAft>
        <a:defRPr sz="28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050" name="Rectangle 3">
            <a:extLst>
              <a:ext uri="{FF2B5EF4-FFF2-40B4-BE49-F238E27FC236}">
                <a16:creationId xmlns:a16="http://schemas.microsoft.com/office/drawing/2014/main" id="{8B8AD7B1-F2C4-F460-C191-A7E12CF1A7B7}"/>
              </a:ext>
            </a:extLst>
          </p:cNvPr>
          <p:cNvSpPr>
            <a:spLocks noGrp="1" noChangeArrowheads="1"/>
          </p:cNvSpPr>
          <p:nvPr>
            <p:ph type="body" idx="1"/>
          </p:nvPr>
        </p:nvSpPr>
        <p:spPr bwMode="auto">
          <a:xfrm>
            <a:off x="476250" y="890588"/>
            <a:ext cx="11209338" cy="556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81" tIns="46740" rIns="93481" bIns="46740"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p>
        </p:txBody>
      </p:sp>
      <p:sp>
        <p:nvSpPr>
          <p:cNvPr id="3077" name="Rectangle 5">
            <a:extLst>
              <a:ext uri="{FF2B5EF4-FFF2-40B4-BE49-F238E27FC236}">
                <a16:creationId xmlns:a16="http://schemas.microsoft.com/office/drawing/2014/main" id="{614F1CE0-7A96-7401-0843-92CDA4912FFA}"/>
              </a:ext>
            </a:extLst>
          </p:cNvPr>
          <p:cNvSpPr>
            <a:spLocks noGrp="1" noChangeArrowheads="1"/>
          </p:cNvSpPr>
          <p:nvPr>
            <p:ph type="title"/>
          </p:nvPr>
        </p:nvSpPr>
        <p:spPr bwMode="auto">
          <a:xfrm>
            <a:off x="439738" y="271463"/>
            <a:ext cx="9140825" cy="520700"/>
          </a:xfrm>
          <a:prstGeom prst="rect">
            <a:avLst/>
          </a:prstGeom>
          <a:noFill/>
          <a:ln>
            <a:noFill/>
          </a:ln>
          <a:effectLst/>
        </p:spPr>
        <p:txBody>
          <a:bodyPr vert="horz" wrap="square" lIns="89361" tIns="44679" rIns="89361" bIns="44679" numCol="1" anchor="ctr" anchorCtr="0" compatLnSpc="1">
            <a:prstTxWarp prst="textNoShape">
              <a:avLst/>
            </a:prstTxWarp>
          </a:bodyPr>
          <a:lstStyle/>
          <a:p>
            <a:pPr lvl="0"/>
            <a:r>
              <a:rPr lang="en-US" altLang="ja-JP"/>
              <a:t>Click to edit Master title style</a:t>
            </a:r>
          </a:p>
        </p:txBody>
      </p:sp>
      <p:sp>
        <p:nvSpPr>
          <p:cNvPr id="3078" name="Rectangle 6">
            <a:extLst>
              <a:ext uri="{FF2B5EF4-FFF2-40B4-BE49-F238E27FC236}">
                <a16:creationId xmlns:a16="http://schemas.microsoft.com/office/drawing/2014/main" id="{1DD49375-3B5C-90CD-C2B2-ECB4F792F3BE}"/>
              </a:ext>
            </a:extLst>
          </p:cNvPr>
          <p:cNvSpPr>
            <a:spLocks noGrp="1" noChangeArrowheads="1"/>
          </p:cNvSpPr>
          <p:nvPr>
            <p:ph type="sldNum" sz="quarter" idx="4"/>
          </p:nvPr>
        </p:nvSpPr>
        <p:spPr bwMode="auto">
          <a:xfrm>
            <a:off x="5327650" y="6592888"/>
            <a:ext cx="1484313" cy="265112"/>
          </a:xfrm>
          <a:prstGeom prst="rect">
            <a:avLst/>
          </a:prstGeom>
          <a:noFill/>
          <a:ln>
            <a:noFill/>
          </a:ln>
          <a:effectLst/>
        </p:spPr>
        <p:txBody>
          <a:bodyPr vert="horz" wrap="square" lIns="89374" tIns="89374" rIns="89374" bIns="89374" numCol="1" anchor="ctr" anchorCtr="0" compatLnSpc="1">
            <a:prstTxWarp prst="textNoShape">
              <a:avLst/>
            </a:prstTxWarp>
          </a:bodyPr>
          <a:lstStyle>
            <a:lvl1pPr algn="ctr" defTabSz="996950">
              <a:defRPr sz="800">
                <a:solidFill>
                  <a:srgbClr val="000000"/>
                </a:solidFill>
                <a:latin typeface="Arial" panose="020B0604020202020204" pitchFamily="34" charset="0"/>
              </a:defRPr>
            </a:lvl1pPr>
          </a:lstStyle>
          <a:p>
            <a:pPr>
              <a:defRPr/>
            </a:pPr>
            <a:r>
              <a:rPr lang="en-US" altLang="ja-JP"/>
              <a:t>VG - </a:t>
            </a:r>
            <a:fld id="{A6B92187-A36F-44C0-AFE1-CC2329227D91}" type="slidenum">
              <a:rPr lang="en-US" altLang="ja-JP" smtClean="0"/>
              <a:pPr>
                <a:defRPr/>
              </a:pPr>
              <a:t>‹#›</a:t>
            </a:fld>
            <a:endParaRPr lang="en-US" altLang="ja-JP"/>
          </a:p>
        </p:txBody>
      </p:sp>
      <p:sp>
        <p:nvSpPr>
          <p:cNvPr id="3079" name="Rectangle 7">
            <a:extLst>
              <a:ext uri="{FF2B5EF4-FFF2-40B4-BE49-F238E27FC236}">
                <a16:creationId xmlns:a16="http://schemas.microsoft.com/office/drawing/2014/main" id="{EA388AF1-C87A-AA2F-7293-2BFB5FD09FE9}"/>
              </a:ext>
            </a:extLst>
          </p:cNvPr>
          <p:cNvSpPr>
            <a:spLocks noGrp="1" noChangeArrowheads="1"/>
          </p:cNvSpPr>
          <p:nvPr>
            <p:ph type="dt" sz="half" idx="2"/>
          </p:nvPr>
        </p:nvSpPr>
        <p:spPr bwMode="auto">
          <a:xfrm>
            <a:off x="496888" y="6594475"/>
            <a:ext cx="1714500" cy="263525"/>
          </a:xfrm>
          <a:prstGeom prst="rect">
            <a:avLst/>
          </a:prstGeom>
          <a:noFill/>
          <a:ln>
            <a:noFill/>
          </a:ln>
          <a:effectLst/>
        </p:spPr>
        <p:txBody>
          <a:bodyPr vert="horz" wrap="square" lIns="89374" tIns="89374" rIns="89374" bIns="89374" numCol="1" anchor="ctr" anchorCtr="0" compatLnSpc="1">
            <a:prstTxWarp prst="textNoShape">
              <a:avLst/>
            </a:prstTxWarp>
          </a:bodyPr>
          <a:lstStyle>
            <a:lvl1pPr algn="l" defTabSz="933450" eaLnBrk="0" hangingPunct="0">
              <a:defRPr kumimoji="0" sz="600">
                <a:solidFill>
                  <a:srgbClr val="000000"/>
                </a:solidFill>
                <a:latin typeface="Arial" charset="0"/>
                <a:cs typeface="+mn-cs"/>
              </a:defRPr>
            </a:lvl1pPr>
          </a:lstStyle>
          <a:p>
            <a:pPr>
              <a:defRPr/>
            </a:pPr>
            <a:fld id="{3740E86B-A4F5-4FF2-956A-EA441959FD55}" type="datetime1">
              <a:rPr lang="en-US"/>
              <a:pPr>
                <a:defRPr/>
              </a:pPr>
              <a:t>10/25/2026</a:t>
            </a:fld>
            <a:r>
              <a:rPr lang="en-US" altLang="ja-JP" dirty="0"/>
              <a:t> </a:t>
            </a:r>
          </a:p>
        </p:txBody>
      </p:sp>
    </p:spTree>
  </p:cSld>
  <p:clrMap bg1="lt1" tx1="dk1" bg2="lt2" tx2="dk2" accent1="accent1" accent2="accent2" accent3="accent3" accent4="accent4" accent5="accent5" accent6="accent6" hlink="hlink" folHlink="folHlink"/>
  <p:sldLayoutIdLst>
    <p:sldLayoutId id="2147487721" r:id="rId1"/>
    <p:sldLayoutId id="2147487722" r:id="rId2"/>
    <p:sldLayoutId id="2147487723" r:id="rId3"/>
    <p:sldLayoutId id="2147487724" r:id="rId4"/>
    <p:sldLayoutId id="2147487725" r:id="rId5"/>
    <p:sldLayoutId id="2147487726" r:id="rId6"/>
    <p:sldLayoutId id="2147487727" r:id="rId7"/>
    <p:sldLayoutId id="2147487728" r:id="rId8"/>
    <p:sldLayoutId id="2147487729" r:id="rId9"/>
    <p:sldLayoutId id="2147487730" r:id="rId10"/>
    <p:sldLayoutId id="2147487731" r:id="rId11"/>
    <p:sldLayoutId id="2147487732" r:id="rId12"/>
    <p:sldLayoutId id="2147487733" r:id="rId13"/>
    <p:sldLayoutId id="2147487734" r:id="rId14"/>
  </p:sldLayoutIdLst>
  <p:transition/>
  <p:hf hdr="0" ftr="0" dt="0"/>
  <p:txStyles>
    <p:titleStyle>
      <a:lvl1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mj-lt"/>
          <a:ea typeface="ＭＳ Ｐゴシック" panose="020B0600070205080204" pitchFamily="34" charset="-128"/>
          <a:cs typeface="+mj-cs"/>
        </a:defRPr>
      </a:lvl1pPr>
      <a:lvl2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2pPr>
      <a:lvl3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3pPr>
      <a:lvl4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4pPr>
      <a:lvl5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5pPr>
      <a:lvl6pPr marL="4572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6pPr>
      <a:lvl7pPr marL="9144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7pPr>
      <a:lvl8pPr marL="13716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8pPr>
      <a:lvl9pPr marL="18288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9pPr>
    </p:titleStyle>
    <p:bodyStyle>
      <a:lvl1pPr marL="342900" indent="-342900" algn="l" rtl="0" eaLnBrk="0" fontAlgn="base" hangingPunct="0">
        <a:spcBef>
          <a:spcPct val="80000"/>
        </a:spcBef>
        <a:spcAft>
          <a:spcPct val="35000"/>
        </a:spcAft>
        <a:buFont typeface="Symbol" panose="05050102010706020507" pitchFamily="18" charset="2"/>
        <a:buBlip>
          <a:blip r:embed="rId16"/>
        </a:buBlip>
        <a:defRPr kumimoji="1" b="1">
          <a:solidFill>
            <a:schemeClr val="tx1"/>
          </a:solidFill>
          <a:latin typeface="+mn-lt"/>
          <a:ea typeface="ＭＳ Ｐゴシック" panose="020B0600070205080204" pitchFamily="34" charset="-128"/>
          <a:cs typeface="+mn-cs"/>
        </a:defRPr>
      </a:lvl1pPr>
      <a:lvl2pPr marL="736600" indent="-279400" algn="l" rtl="0" eaLnBrk="0" fontAlgn="base" hangingPunct="0">
        <a:spcBef>
          <a:spcPct val="20000"/>
        </a:spcBef>
        <a:spcAft>
          <a:spcPct val="30000"/>
        </a:spcAft>
        <a:buBlip>
          <a:blip r:embed="rId17"/>
        </a:buBlip>
        <a:defRPr kumimoji="1" sz="1600" b="1">
          <a:solidFill>
            <a:schemeClr val="tx1"/>
          </a:solidFill>
          <a:latin typeface="+mn-lt"/>
          <a:ea typeface="ＭＳ Ｐゴシック" panose="020B0600070205080204" pitchFamily="34" charset="-128"/>
        </a:defRPr>
      </a:lvl2pPr>
      <a:lvl3pPr marL="1073150" indent="-222250" algn="l" rtl="0" eaLnBrk="0" fontAlgn="base" hangingPunct="0">
        <a:spcBef>
          <a:spcPct val="10000"/>
        </a:spcBef>
        <a:spcAft>
          <a:spcPct val="20000"/>
        </a:spcAft>
        <a:buBlip>
          <a:blip r:embed="rId18"/>
        </a:buBlip>
        <a:defRPr kumimoji="1" sz="1500" b="1">
          <a:solidFill>
            <a:schemeClr val="tx1"/>
          </a:solidFill>
          <a:latin typeface="+mn-lt"/>
          <a:ea typeface="ＭＳ Ｐゴシック" panose="020B0600070205080204" pitchFamily="34" charset="-128"/>
        </a:defRPr>
      </a:lvl3pPr>
      <a:lvl4pPr marL="1412875" indent="-225425" algn="l" rtl="0" eaLnBrk="0" fontAlgn="base" hangingPunct="0">
        <a:spcBef>
          <a:spcPct val="0"/>
        </a:spcBef>
        <a:spcAft>
          <a:spcPct val="0"/>
        </a:spcAft>
        <a:buChar char="·"/>
        <a:defRPr kumimoji="1" sz="1400" b="1">
          <a:solidFill>
            <a:schemeClr val="tx1"/>
          </a:solidFill>
          <a:latin typeface="+mn-lt"/>
          <a:ea typeface="ＭＳ Ｐゴシック" panose="020B0600070205080204" pitchFamily="34" charset="-128"/>
        </a:defRPr>
      </a:lvl4pPr>
      <a:lvl5pPr marL="1749425" indent="-222250" algn="l" rtl="0" eaLnBrk="0" fontAlgn="base" hangingPunct="0">
        <a:spcBef>
          <a:spcPct val="0"/>
        </a:spcBef>
        <a:spcAft>
          <a:spcPct val="0"/>
        </a:spcAft>
        <a:buChar char="­"/>
        <a:defRPr kumimoji="1" sz="1200" b="1">
          <a:solidFill>
            <a:schemeClr val="tx1"/>
          </a:solidFill>
          <a:latin typeface="+mn-lt"/>
          <a:ea typeface="ＭＳ Ｐゴシック" panose="020B0600070205080204" pitchFamily="34" charset="-128"/>
        </a:defRPr>
      </a:lvl5pPr>
      <a:lvl6pPr marL="2206625" indent="-222250" algn="l" rtl="0" fontAlgn="base">
        <a:spcBef>
          <a:spcPct val="0"/>
        </a:spcBef>
        <a:spcAft>
          <a:spcPct val="0"/>
        </a:spcAft>
        <a:buChar char="­"/>
        <a:defRPr kumimoji="1" sz="1200" b="1">
          <a:solidFill>
            <a:schemeClr val="tx1"/>
          </a:solidFill>
          <a:latin typeface="+mn-lt"/>
          <a:ea typeface="+mn-ea"/>
        </a:defRPr>
      </a:lvl6pPr>
      <a:lvl7pPr marL="2663825" indent="-222250" algn="l" rtl="0" fontAlgn="base">
        <a:spcBef>
          <a:spcPct val="0"/>
        </a:spcBef>
        <a:spcAft>
          <a:spcPct val="0"/>
        </a:spcAft>
        <a:buChar char="­"/>
        <a:defRPr kumimoji="1" sz="1200" b="1">
          <a:solidFill>
            <a:schemeClr val="tx1"/>
          </a:solidFill>
          <a:latin typeface="+mn-lt"/>
          <a:ea typeface="+mn-ea"/>
        </a:defRPr>
      </a:lvl7pPr>
      <a:lvl8pPr marL="3121025" indent="-222250" algn="l" rtl="0" fontAlgn="base">
        <a:spcBef>
          <a:spcPct val="0"/>
        </a:spcBef>
        <a:spcAft>
          <a:spcPct val="0"/>
        </a:spcAft>
        <a:buChar char="­"/>
        <a:defRPr kumimoji="1" sz="1200" b="1">
          <a:solidFill>
            <a:schemeClr val="tx1"/>
          </a:solidFill>
          <a:latin typeface="+mn-lt"/>
          <a:ea typeface="+mn-ea"/>
        </a:defRPr>
      </a:lvl8pPr>
      <a:lvl9pPr marL="3578225" indent="-222250" algn="l" rtl="0" fontAlgn="base">
        <a:spcBef>
          <a:spcPct val="0"/>
        </a:spcBef>
        <a:spcAft>
          <a:spcPct val="0"/>
        </a:spcAft>
        <a:buChar char="­"/>
        <a:defRPr kumimoji="1" sz="1200" b="1">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074" name="Rectangle 3">
            <a:extLst>
              <a:ext uri="{FF2B5EF4-FFF2-40B4-BE49-F238E27FC236}">
                <a16:creationId xmlns:a16="http://schemas.microsoft.com/office/drawing/2014/main" id="{235D5AC9-58D4-6BDF-D0ED-995E7294CC14}"/>
              </a:ext>
            </a:extLst>
          </p:cNvPr>
          <p:cNvSpPr>
            <a:spLocks noGrp="1" noChangeArrowheads="1"/>
          </p:cNvSpPr>
          <p:nvPr>
            <p:ph type="body" idx="1"/>
          </p:nvPr>
        </p:nvSpPr>
        <p:spPr bwMode="auto">
          <a:xfrm>
            <a:off x="476250" y="890588"/>
            <a:ext cx="11209338" cy="556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481" tIns="46740" rIns="93481" bIns="46740"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p>
        </p:txBody>
      </p:sp>
      <p:sp>
        <p:nvSpPr>
          <p:cNvPr id="3077" name="Rectangle 5">
            <a:extLst>
              <a:ext uri="{FF2B5EF4-FFF2-40B4-BE49-F238E27FC236}">
                <a16:creationId xmlns:a16="http://schemas.microsoft.com/office/drawing/2014/main" id="{6BE1A75E-65A7-4189-E976-E933116583B7}"/>
              </a:ext>
            </a:extLst>
          </p:cNvPr>
          <p:cNvSpPr>
            <a:spLocks noGrp="1" noChangeArrowheads="1"/>
          </p:cNvSpPr>
          <p:nvPr>
            <p:ph type="title"/>
          </p:nvPr>
        </p:nvSpPr>
        <p:spPr bwMode="auto">
          <a:xfrm>
            <a:off x="439738" y="271463"/>
            <a:ext cx="9140825" cy="520700"/>
          </a:xfrm>
          <a:prstGeom prst="rect">
            <a:avLst/>
          </a:prstGeom>
          <a:noFill/>
          <a:ln>
            <a:noFill/>
          </a:ln>
          <a:effectLst/>
        </p:spPr>
        <p:txBody>
          <a:bodyPr vert="horz" wrap="square" lIns="89361" tIns="44679" rIns="89361" bIns="44679" numCol="1" anchor="ctr" anchorCtr="0" compatLnSpc="1">
            <a:prstTxWarp prst="textNoShape">
              <a:avLst/>
            </a:prstTxWarp>
          </a:bodyPr>
          <a:lstStyle/>
          <a:p>
            <a:pPr lvl="0"/>
            <a:r>
              <a:rPr lang="en-US" altLang="ja-JP"/>
              <a:t>Click to edit Master title style</a:t>
            </a:r>
          </a:p>
        </p:txBody>
      </p:sp>
      <p:sp>
        <p:nvSpPr>
          <p:cNvPr id="3078" name="Rectangle 6">
            <a:extLst>
              <a:ext uri="{FF2B5EF4-FFF2-40B4-BE49-F238E27FC236}">
                <a16:creationId xmlns:a16="http://schemas.microsoft.com/office/drawing/2014/main" id="{EE2A9F6F-E975-C100-512E-95337401D513}"/>
              </a:ext>
            </a:extLst>
          </p:cNvPr>
          <p:cNvSpPr>
            <a:spLocks noGrp="1" noChangeArrowheads="1"/>
          </p:cNvSpPr>
          <p:nvPr>
            <p:ph type="sldNum" sz="quarter" idx="4"/>
          </p:nvPr>
        </p:nvSpPr>
        <p:spPr bwMode="auto">
          <a:xfrm>
            <a:off x="5327650" y="6592888"/>
            <a:ext cx="1484313" cy="265112"/>
          </a:xfrm>
          <a:prstGeom prst="rect">
            <a:avLst/>
          </a:prstGeom>
          <a:noFill/>
          <a:ln>
            <a:noFill/>
          </a:ln>
          <a:effectLst/>
        </p:spPr>
        <p:txBody>
          <a:bodyPr vert="horz" wrap="square" lIns="89374" tIns="89374" rIns="89374" bIns="89374" numCol="1" anchor="ctr" anchorCtr="0" compatLnSpc="1">
            <a:prstTxWarp prst="textNoShape">
              <a:avLst/>
            </a:prstTxWarp>
          </a:bodyPr>
          <a:lstStyle>
            <a:lvl1pPr algn="ctr" defTabSz="996950">
              <a:defRPr sz="800">
                <a:solidFill>
                  <a:srgbClr val="000000"/>
                </a:solidFill>
                <a:latin typeface="Arial" panose="020B0604020202020204" pitchFamily="34" charset="0"/>
              </a:defRPr>
            </a:lvl1pPr>
          </a:lstStyle>
          <a:p>
            <a:pPr>
              <a:defRPr/>
            </a:pPr>
            <a:r>
              <a:rPr lang="en-US" altLang="ja-JP"/>
              <a:t>VG - </a:t>
            </a:r>
            <a:fld id="{D46FC0D8-2026-4C26-8541-5ABE7DE86E91}" type="slidenum">
              <a:rPr lang="en-US" altLang="ja-JP" smtClean="0"/>
              <a:pPr>
                <a:defRPr/>
              </a:pPr>
              <a:t>‹#›</a:t>
            </a:fld>
            <a:endParaRPr lang="en-US" altLang="ja-JP"/>
          </a:p>
        </p:txBody>
      </p:sp>
      <p:sp>
        <p:nvSpPr>
          <p:cNvPr id="3079" name="Rectangle 7">
            <a:extLst>
              <a:ext uri="{FF2B5EF4-FFF2-40B4-BE49-F238E27FC236}">
                <a16:creationId xmlns:a16="http://schemas.microsoft.com/office/drawing/2014/main" id="{10F0CD74-2D07-28EB-537F-2461F3F04091}"/>
              </a:ext>
            </a:extLst>
          </p:cNvPr>
          <p:cNvSpPr>
            <a:spLocks noGrp="1" noChangeArrowheads="1"/>
          </p:cNvSpPr>
          <p:nvPr>
            <p:ph type="dt" sz="half" idx="2"/>
          </p:nvPr>
        </p:nvSpPr>
        <p:spPr bwMode="auto">
          <a:xfrm>
            <a:off x="496888" y="6594475"/>
            <a:ext cx="1714500" cy="263525"/>
          </a:xfrm>
          <a:prstGeom prst="rect">
            <a:avLst/>
          </a:prstGeom>
          <a:noFill/>
          <a:ln>
            <a:noFill/>
          </a:ln>
          <a:effectLst/>
        </p:spPr>
        <p:txBody>
          <a:bodyPr vert="horz" wrap="square" lIns="89374" tIns="89374" rIns="89374" bIns="89374" numCol="1" anchor="ctr" anchorCtr="0" compatLnSpc="1">
            <a:prstTxWarp prst="textNoShape">
              <a:avLst/>
            </a:prstTxWarp>
          </a:bodyPr>
          <a:lstStyle>
            <a:lvl1pPr algn="l" defTabSz="933450" eaLnBrk="0" hangingPunct="0">
              <a:defRPr kumimoji="0" sz="600">
                <a:solidFill>
                  <a:srgbClr val="000000"/>
                </a:solidFill>
                <a:latin typeface="Arial" charset="0"/>
                <a:cs typeface="+mn-cs"/>
              </a:defRPr>
            </a:lvl1pPr>
          </a:lstStyle>
          <a:p>
            <a:pPr>
              <a:defRPr/>
            </a:pPr>
            <a:fld id="{76E9D211-2773-4145-84C1-A567EFF0D7B6}" type="datetime1">
              <a:rPr lang="en-US"/>
              <a:pPr>
                <a:defRPr/>
              </a:pPr>
              <a:t>10/25/2026</a:t>
            </a:fld>
            <a:r>
              <a:rPr lang="en-US" altLang="ja-JP" dirty="0"/>
              <a:t> </a:t>
            </a:r>
          </a:p>
        </p:txBody>
      </p:sp>
    </p:spTree>
  </p:cSld>
  <p:clrMap bg1="lt1" tx1="dk1" bg2="lt2" tx2="dk2" accent1="accent1" accent2="accent2" accent3="accent3" accent4="accent4" accent5="accent5" accent6="accent6" hlink="hlink" folHlink="folHlink"/>
  <p:sldLayoutIdLst>
    <p:sldLayoutId id="2147487735" r:id="rId1"/>
    <p:sldLayoutId id="2147487736" r:id="rId2"/>
    <p:sldLayoutId id="2147487737" r:id="rId3"/>
    <p:sldLayoutId id="2147487738" r:id="rId4"/>
    <p:sldLayoutId id="2147487739" r:id="rId5"/>
    <p:sldLayoutId id="2147487740" r:id="rId6"/>
    <p:sldLayoutId id="2147487741" r:id="rId7"/>
    <p:sldLayoutId id="2147487742" r:id="rId8"/>
    <p:sldLayoutId id="2147487743" r:id="rId9"/>
    <p:sldLayoutId id="2147487744" r:id="rId10"/>
    <p:sldLayoutId id="2147487745" r:id="rId11"/>
    <p:sldLayoutId id="2147487746" r:id="rId12"/>
    <p:sldLayoutId id="2147487747" r:id="rId13"/>
    <p:sldLayoutId id="2147487748" r:id="rId14"/>
  </p:sldLayoutIdLst>
  <p:transition/>
  <p:hf hdr="0" ftr="0" dt="0"/>
  <p:txStyles>
    <p:titleStyle>
      <a:lvl1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mj-lt"/>
          <a:ea typeface="ＭＳ Ｐゴシック" panose="020B0600070205080204" pitchFamily="34" charset="-128"/>
          <a:cs typeface="+mj-cs"/>
        </a:defRPr>
      </a:lvl1pPr>
      <a:lvl2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2pPr>
      <a:lvl3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3pPr>
      <a:lvl4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4pPr>
      <a:lvl5pPr algn="l" defTabSz="865188" rtl="0" eaLnBrk="0" fontAlgn="base" hangingPunct="0">
        <a:spcBef>
          <a:spcPct val="0"/>
        </a:spcBef>
        <a:spcAft>
          <a:spcPct val="0"/>
        </a:spcAft>
        <a:defRPr kumimoji="1" sz="2600" b="1" i="1">
          <a:solidFill>
            <a:srgbClr val="3366CC"/>
          </a:solidFill>
          <a:effectLst>
            <a:outerShdw blurRad="38100" dist="38100" dir="2700000" algn="tl">
              <a:srgbClr val="C0C0C0"/>
            </a:outerShdw>
          </a:effectLst>
          <a:latin typeface="Arial" charset="0"/>
          <a:ea typeface="ＭＳ Ｐゴシック" panose="020B0600070205080204" pitchFamily="34" charset="-128"/>
        </a:defRPr>
      </a:lvl5pPr>
      <a:lvl6pPr marL="4572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6pPr>
      <a:lvl7pPr marL="9144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7pPr>
      <a:lvl8pPr marL="13716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8pPr>
      <a:lvl9pPr marL="1828800" algn="l" defTabSz="865188" rtl="0" fontAlgn="base">
        <a:spcBef>
          <a:spcPct val="0"/>
        </a:spcBef>
        <a:spcAft>
          <a:spcPct val="0"/>
        </a:spcAft>
        <a:defRPr kumimoji="1" sz="2600" b="1" i="1">
          <a:solidFill>
            <a:srgbClr val="3366CC"/>
          </a:solidFill>
          <a:effectLst>
            <a:outerShdw blurRad="38100" dist="38100" dir="2700000" algn="tl">
              <a:srgbClr val="C0C0C0"/>
            </a:outerShdw>
          </a:effectLst>
          <a:latin typeface="Arial" charset="0"/>
          <a:ea typeface="MS PGothic" pitchFamily="34" charset="-128"/>
        </a:defRPr>
      </a:lvl9pPr>
    </p:titleStyle>
    <p:bodyStyle>
      <a:lvl1pPr marL="342900" indent="-342900" algn="l" rtl="0" eaLnBrk="0" fontAlgn="base" hangingPunct="0">
        <a:spcBef>
          <a:spcPct val="80000"/>
        </a:spcBef>
        <a:spcAft>
          <a:spcPct val="35000"/>
        </a:spcAft>
        <a:buFont typeface="Symbol" panose="05050102010706020507" pitchFamily="18" charset="2"/>
        <a:buBlip>
          <a:blip r:embed="rId16"/>
        </a:buBlip>
        <a:defRPr kumimoji="1" b="1">
          <a:solidFill>
            <a:schemeClr val="tx1"/>
          </a:solidFill>
          <a:latin typeface="+mn-lt"/>
          <a:ea typeface="ＭＳ Ｐゴシック" panose="020B0600070205080204" pitchFamily="34" charset="-128"/>
          <a:cs typeface="+mn-cs"/>
        </a:defRPr>
      </a:lvl1pPr>
      <a:lvl2pPr marL="736600" indent="-279400" algn="l" rtl="0" eaLnBrk="0" fontAlgn="base" hangingPunct="0">
        <a:spcBef>
          <a:spcPct val="20000"/>
        </a:spcBef>
        <a:spcAft>
          <a:spcPct val="30000"/>
        </a:spcAft>
        <a:buBlip>
          <a:blip r:embed="rId17"/>
        </a:buBlip>
        <a:defRPr kumimoji="1" sz="1600" b="1">
          <a:solidFill>
            <a:schemeClr val="tx1"/>
          </a:solidFill>
          <a:latin typeface="+mn-lt"/>
          <a:ea typeface="ＭＳ Ｐゴシック" panose="020B0600070205080204" pitchFamily="34" charset="-128"/>
        </a:defRPr>
      </a:lvl2pPr>
      <a:lvl3pPr marL="1073150" indent="-222250" algn="l" rtl="0" eaLnBrk="0" fontAlgn="base" hangingPunct="0">
        <a:spcBef>
          <a:spcPct val="10000"/>
        </a:spcBef>
        <a:spcAft>
          <a:spcPct val="20000"/>
        </a:spcAft>
        <a:buBlip>
          <a:blip r:embed="rId18"/>
        </a:buBlip>
        <a:defRPr kumimoji="1" sz="1500" b="1">
          <a:solidFill>
            <a:schemeClr val="tx1"/>
          </a:solidFill>
          <a:latin typeface="+mn-lt"/>
          <a:ea typeface="ＭＳ Ｐゴシック" panose="020B0600070205080204" pitchFamily="34" charset="-128"/>
        </a:defRPr>
      </a:lvl3pPr>
      <a:lvl4pPr marL="1412875" indent="-225425" algn="l" rtl="0" eaLnBrk="0" fontAlgn="base" hangingPunct="0">
        <a:spcBef>
          <a:spcPct val="0"/>
        </a:spcBef>
        <a:spcAft>
          <a:spcPct val="0"/>
        </a:spcAft>
        <a:buChar char="·"/>
        <a:defRPr kumimoji="1" sz="1400" b="1">
          <a:solidFill>
            <a:schemeClr val="tx1"/>
          </a:solidFill>
          <a:latin typeface="+mn-lt"/>
          <a:ea typeface="ＭＳ Ｐゴシック" panose="020B0600070205080204" pitchFamily="34" charset="-128"/>
        </a:defRPr>
      </a:lvl4pPr>
      <a:lvl5pPr marL="1749425" indent="-222250" algn="l" rtl="0" eaLnBrk="0" fontAlgn="base" hangingPunct="0">
        <a:spcBef>
          <a:spcPct val="0"/>
        </a:spcBef>
        <a:spcAft>
          <a:spcPct val="0"/>
        </a:spcAft>
        <a:buChar char="­"/>
        <a:defRPr kumimoji="1" sz="1200" b="1">
          <a:solidFill>
            <a:schemeClr val="tx1"/>
          </a:solidFill>
          <a:latin typeface="+mn-lt"/>
          <a:ea typeface="ＭＳ Ｐゴシック" panose="020B0600070205080204" pitchFamily="34" charset="-128"/>
        </a:defRPr>
      </a:lvl5pPr>
      <a:lvl6pPr marL="2206625" indent="-222250" algn="l" rtl="0" fontAlgn="base">
        <a:spcBef>
          <a:spcPct val="0"/>
        </a:spcBef>
        <a:spcAft>
          <a:spcPct val="0"/>
        </a:spcAft>
        <a:buChar char="­"/>
        <a:defRPr kumimoji="1" sz="1200" b="1">
          <a:solidFill>
            <a:schemeClr val="tx1"/>
          </a:solidFill>
          <a:latin typeface="+mn-lt"/>
          <a:ea typeface="+mn-ea"/>
        </a:defRPr>
      </a:lvl6pPr>
      <a:lvl7pPr marL="2663825" indent="-222250" algn="l" rtl="0" fontAlgn="base">
        <a:spcBef>
          <a:spcPct val="0"/>
        </a:spcBef>
        <a:spcAft>
          <a:spcPct val="0"/>
        </a:spcAft>
        <a:buChar char="­"/>
        <a:defRPr kumimoji="1" sz="1200" b="1">
          <a:solidFill>
            <a:schemeClr val="tx1"/>
          </a:solidFill>
          <a:latin typeface="+mn-lt"/>
          <a:ea typeface="+mn-ea"/>
        </a:defRPr>
      </a:lvl7pPr>
      <a:lvl8pPr marL="3121025" indent="-222250" algn="l" rtl="0" fontAlgn="base">
        <a:spcBef>
          <a:spcPct val="0"/>
        </a:spcBef>
        <a:spcAft>
          <a:spcPct val="0"/>
        </a:spcAft>
        <a:buChar char="­"/>
        <a:defRPr kumimoji="1" sz="1200" b="1">
          <a:solidFill>
            <a:schemeClr val="tx1"/>
          </a:solidFill>
          <a:latin typeface="+mn-lt"/>
          <a:ea typeface="+mn-ea"/>
        </a:defRPr>
      </a:lvl8pPr>
      <a:lvl9pPr marL="3578225" indent="-222250" algn="l" rtl="0" fontAlgn="base">
        <a:spcBef>
          <a:spcPct val="0"/>
        </a:spcBef>
        <a:spcAft>
          <a:spcPct val="0"/>
        </a:spcAft>
        <a:buChar char="­"/>
        <a:defRPr kumimoji="1" sz="1200" b="1">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a:extLst>
              <a:ext uri="{FF2B5EF4-FFF2-40B4-BE49-F238E27FC236}">
                <a16:creationId xmlns:a16="http://schemas.microsoft.com/office/drawing/2014/main" id="{C75EBF24-35EE-1716-9552-45CF53888D43}"/>
              </a:ext>
            </a:extLst>
          </p:cNvPr>
          <p:cNvSpPr>
            <a:spLocks noGrp="1" noChangeArrowheads="1"/>
          </p:cNvSpPr>
          <p:nvPr>
            <p:ph type="title"/>
          </p:nvPr>
        </p:nvSpPr>
        <p:spPr bwMode="auto">
          <a:xfrm>
            <a:off x="838200" y="1665288"/>
            <a:ext cx="10515600" cy="132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099" name="Text Placeholder 2">
            <a:extLst>
              <a:ext uri="{FF2B5EF4-FFF2-40B4-BE49-F238E27FC236}">
                <a16:creationId xmlns:a16="http://schemas.microsoft.com/office/drawing/2014/main" id="{28C60E75-2DDE-2F12-80AA-20881A601C4B}"/>
              </a:ext>
            </a:extLst>
          </p:cNvPr>
          <p:cNvSpPr>
            <a:spLocks noGrp="1" noChangeArrowheads="1"/>
          </p:cNvSpPr>
          <p:nvPr>
            <p:ph type="body" idx="1"/>
          </p:nvPr>
        </p:nvSpPr>
        <p:spPr bwMode="auto">
          <a:xfrm>
            <a:off x="838200" y="2990850"/>
            <a:ext cx="10515600" cy="318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2835636-D80B-615E-05B7-37E41451BE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AFA8A10-4C29-6245-9ABB-B8C52547EF77}" type="datetimeFigureOut">
              <a:rPr lang="en-US"/>
              <a:pPr>
                <a:defRPr/>
              </a:pPr>
              <a:t>10/25/2026</a:t>
            </a:fld>
            <a:endParaRPr lang="en-US"/>
          </a:p>
        </p:txBody>
      </p:sp>
      <p:sp>
        <p:nvSpPr>
          <p:cNvPr id="5" name="Footer Placeholder 4">
            <a:extLst>
              <a:ext uri="{FF2B5EF4-FFF2-40B4-BE49-F238E27FC236}">
                <a16:creationId xmlns:a16="http://schemas.microsoft.com/office/drawing/2014/main" id="{07D29B1E-0A5B-C77C-8357-505E6E6E81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2BE193C9-649D-59C8-ECDD-53F2AC89B315}"/>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3B2B99A9-E680-4DEC-95CC-4041EF86716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7713" r:id="rId1"/>
    <p:sldLayoutId id="2147487714" r:id="rId2"/>
    <p:sldLayoutId id="2147487715" r:id="rId3"/>
    <p:sldLayoutId id="2147487716" r:id="rId4"/>
    <p:sldLayoutId id="2147487717" r:id="rId5"/>
    <p:sldLayoutId id="2147487718" r:id="rId6"/>
    <p:sldLayoutId id="2147487719" r:id="rId7"/>
    <p:sldLayoutId id="2147487720" r:id="rId8"/>
  </p:sldLayoutIdLst>
  <p:txStyles>
    <p:titleStyle>
      <a:lvl1pPr algn="l" defTabSz="912813" rtl="0" eaLnBrk="0" fontAlgn="base" hangingPunct="0">
        <a:lnSpc>
          <a:spcPct val="90000"/>
        </a:lnSpc>
        <a:spcBef>
          <a:spcPct val="0"/>
        </a:spcBef>
        <a:spcAft>
          <a:spcPct val="0"/>
        </a:spcAft>
        <a:defRPr sz="4400" b="1" kern="1200">
          <a:solidFill>
            <a:srgbClr val="07A9BB"/>
          </a:solidFill>
          <a:latin typeface="+mj-lt"/>
          <a:ea typeface="+mj-ea"/>
          <a:cs typeface="+mj-cs"/>
        </a:defRPr>
      </a:lvl1pPr>
      <a:lvl2pPr algn="l" defTabSz="912813" rtl="0" eaLnBrk="0" fontAlgn="base" hangingPunct="0">
        <a:lnSpc>
          <a:spcPct val="90000"/>
        </a:lnSpc>
        <a:spcBef>
          <a:spcPct val="0"/>
        </a:spcBef>
        <a:spcAft>
          <a:spcPct val="0"/>
        </a:spcAft>
        <a:defRPr sz="4400" b="1">
          <a:solidFill>
            <a:srgbClr val="07A9BB"/>
          </a:solidFill>
          <a:latin typeface="Century Gothic" panose="020B0502020202020204" pitchFamily="34" charset="0"/>
        </a:defRPr>
      </a:lvl2pPr>
      <a:lvl3pPr algn="l" defTabSz="912813" rtl="0" eaLnBrk="0" fontAlgn="base" hangingPunct="0">
        <a:lnSpc>
          <a:spcPct val="90000"/>
        </a:lnSpc>
        <a:spcBef>
          <a:spcPct val="0"/>
        </a:spcBef>
        <a:spcAft>
          <a:spcPct val="0"/>
        </a:spcAft>
        <a:defRPr sz="4400" b="1">
          <a:solidFill>
            <a:srgbClr val="07A9BB"/>
          </a:solidFill>
          <a:latin typeface="Century Gothic" panose="020B0502020202020204" pitchFamily="34" charset="0"/>
        </a:defRPr>
      </a:lvl3pPr>
      <a:lvl4pPr algn="l" defTabSz="912813" rtl="0" eaLnBrk="0" fontAlgn="base" hangingPunct="0">
        <a:lnSpc>
          <a:spcPct val="90000"/>
        </a:lnSpc>
        <a:spcBef>
          <a:spcPct val="0"/>
        </a:spcBef>
        <a:spcAft>
          <a:spcPct val="0"/>
        </a:spcAft>
        <a:defRPr sz="4400" b="1">
          <a:solidFill>
            <a:srgbClr val="07A9BB"/>
          </a:solidFill>
          <a:latin typeface="Century Gothic" panose="020B0502020202020204" pitchFamily="34" charset="0"/>
        </a:defRPr>
      </a:lvl4pPr>
      <a:lvl5pPr algn="l" defTabSz="912813" rtl="0" eaLnBrk="0" fontAlgn="base" hangingPunct="0">
        <a:lnSpc>
          <a:spcPct val="90000"/>
        </a:lnSpc>
        <a:spcBef>
          <a:spcPct val="0"/>
        </a:spcBef>
        <a:spcAft>
          <a:spcPct val="0"/>
        </a:spcAft>
        <a:defRPr sz="4400" b="1">
          <a:solidFill>
            <a:srgbClr val="07A9BB"/>
          </a:solidFill>
          <a:latin typeface="Century Gothic" panose="020B0502020202020204" pitchFamily="34" charset="0"/>
        </a:defRPr>
      </a:lvl5pPr>
      <a:lvl6pPr marL="457200" algn="l" defTabSz="912813" rtl="0" fontAlgn="base">
        <a:lnSpc>
          <a:spcPct val="90000"/>
        </a:lnSpc>
        <a:spcBef>
          <a:spcPct val="0"/>
        </a:spcBef>
        <a:spcAft>
          <a:spcPct val="0"/>
        </a:spcAft>
        <a:defRPr sz="4400" b="1">
          <a:solidFill>
            <a:srgbClr val="07A9BB"/>
          </a:solidFill>
          <a:latin typeface="Century Gothic" panose="020B0502020202020204" pitchFamily="34" charset="0"/>
        </a:defRPr>
      </a:lvl6pPr>
      <a:lvl7pPr marL="914400" algn="l" defTabSz="912813" rtl="0" fontAlgn="base">
        <a:lnSpc>
          <a:spcPct val="90000"/>
        </a:lnSpc>
        <a:spcBef>
          <a:spcPct val="0"/>
        </a:spcBef>
        <a:spcAft>
          <a:spcPct val="0"/>
        </a:spcAft>
        <a:defRPr sz="4400" b="1">
          <a:solidFill>
            <a:srgbClr val="07A9BB"/>
          </a:solidFill>
          <a:latin typeface="Century Gothic" panose="020B0502020202020204" pitchFamily="34" charset="0"/>
        </a:defRPr>
      </a:lvl7pPr>
      <a:lvl8pPr marL="1371600" algn="l" defTabSz="912813" rtl="0" fontAlgn="base">
        <a:lnSpc>
          <a:spcPct val="90000"/>
        </a:lnSpc>
        <a:spcBef>
          <a:spcPct val="0"/>
        </a:spcBef>
        <a:spcAft>
          <a:spcPct val="0"/>
        </a:spcAft>
        <a:defRPr sz="4400" b="1">
          <a:solidFill>
            <a:srgbClr val="07A9BB"/>
          </a:solidFill>
          <a:latin typeface="Century Gothic" panose="020B0502020202020204" pitchFamily="34" charset="0"/>
        </a:defRPr>
      </a:lvl8pPr>
      <a:lvl9pPr marL="1828800" algn="l" defTabSz="912813" rtl="0" fontAlgn="base">
        <a:lnSpc>
          <a:spcPct val="90000"/>
        </a:lnSpc>
        <a:spcBef>
          <a:spcPct val="0"/>
        </a:spcBef>
        <a:spcAft>
          <a:spcPct val="0"/>
        </a:spcAft>
        <a:defRPr sz="4400" b="1">
          <a:solidFill>
            <a:srgbClr val="07A9BB"/>
          </a:solidFill>
          <a:latin typeface="Century Gothic" panose="020B0502020202020204" pitchFamily="34" charset="0"/>
        </a:defRPr>
      </a:lvl9pPr>
    </p:titleStyle>
    <p:bodyStyle>
      <a:lvl1pPr marL="227013" indent="-227013" algn="l" defTabSz="912813" rtl="0" eaLnBrk="0" fontAlgn="base" hangingPunct="0">
        <a:lnSpc>
          <a:spcPct val="90000"/>
        </a:lnSpc>
        <a:spcBef>
          <a:spcPts val="1000"/>
        </a:spcBef>
        <a:spcAft>
          <a:spcPct val="0"/>
        </a:spcAft>
        <a:buClr>
          <a:srgbClr val="F0535E"/>
        </a:buClr>
        <a:buFont typeface="Arial" panose="020B0604020202020204" pitchFamily="34" charset="0"/>
        <a:buChar char="•"/>
        <a:defRPr sz="2800" kern="1200">
          <a:solidFill>
            <a:schemeClr val="tx1"/>
          </a:solidFill>
          <a:latin typeface="+mn-lt"/>
          <a:ea typeface="+mn-ea"/>
          <a:cs typeface="+mn-cs"/>
        </a:defRPr>
      </a:lvl1pPr>
      <a:lvl2pPr marL="684213" indent="-227013" algn="l" defTabSz="912813"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1413" indent="-227013" algn="l" defTabSz="912813"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5986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5813" indent="-227013" algn="l" defTabSz="912813"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image" Target="../media/image5.jpeg"/><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econd-hand-tigers/badocter-career-learnings/wiki/Setting-and-Accomplishing-Development-Goals#the-four-development-dimension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second-hand-tigers/badocter-career-learnings/wiki/The-Failed-Exper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second-hand-tigers/badocter-career-learnings/wiki/Mentoring-Integration-with-Stage-Developmen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econd-hand-tigers/badocter-career-learnings/wiki/Job-Hun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second-hand-tigers/badocter-career-learnings/wiki/Extracurriculars#what-the-resume-screener-is-looking-for"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second-hand-tigers/badocter-career-learnings/wiki/Resumes#write-bullets-that-hit-more-than-one-lbit-dimensio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econd-hand-tigers/badocter-career-learnings/wiki/LinkedIn#a-before-and-after-example-from-my-own-profil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second-hand-tigers/badocter-career-learnings/wiki/LinkedIn#connecting-with-your-interview-team"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second-hand-tigers/badocter-career-learnings/wiki/Interview-Prep#the-interviewer-is-working-from-a-scrip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second-hand-tigers/badocter-career-learnings/wiki/Interview-Prep#answering-across-the-four-lbit-dimensions-liv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second-hand-tigers/badocter-career-learnings/wiki/Resumes#there-is-an-i-in-tea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second-hand-tigers/badocter-career-learnings/wiki/Mock-Interview-Practice#the-game"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econd-hand-tigers/badocter-career-learnings/wiki/Mock-Interview-Practice#asking-listening-and-writing-at-the-same-time-is-the-actual-skil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second-hand-tigers/badocter-career-learnings/wiki/Job-Hun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second-hand-tigers/badocter-career-learnings/wiki/Technical-Career-Stage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second-hand-tigers/badocter-career-learnings/wiki/Setting-and-Accomplishing-Development-Goal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176F74-5743-DF07-77CD-5C25160BDB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6165850" y="946150"/>
            <a:ext cx="6756400" cy="5067300"/>
          </a:xfrm>
          <a:prstGeom prst="rect">
            <a:avLst/>
          </a:prstGeom>
        </p:spPr>
      </p:pic>
      <p:sp>
        <p:nvSpPr>
          <p:cNvPr id="5" name="Title 4">
            <a:extLst>
              <a:ext uri="{FF2B5EF4-FFF2-40B4-BE49-F238E27FC236}">
                <a16:creationId xmlns:a16="http://schemas.microsoft.com/office/drawing/2014/main" id="{1A56E328-ABC2-F6EB-9BB5-CC66711F6D13}"/>
              </a:ext>
            </a:extLst>
          </p:cNvPr>
          <p:cNvSpPr txBox="1">
            <a:spLocks noChangeArrowheads="1"/>
          </p:cNvSpPr>
          <p:nvPr/>
        </p:nvSpPr>
        <p:spPr>
          <a:xfrm>
            <a:off x="114300" y="762000"/>
            <a:ext cx="6553200" cy="4622800"/>
          </a:xfrm>
          <a:prstGeom prst="rect">
            <a:avLst/>
          </a:prstGeom>
          <a:solidFill>
            <a:schemeClr val="bg1"/>
          </a:solidFill>
        </p:spPr>
        <p:txBody>
          <a:bodyPr/>
          <a:lstStyle>
            <a:lvl1pPr algn="l" defTabSz="914377" rtl="0" eaLnBrk="1" latinLnBrk="0" hangingPunct="1">
              <a:lnSpc>
                <a:spcPct val="90000"/>
              </a:lnSpc>
              <a:spcBef>
                <a:spcPct val="0"/>
              </a:spcBef>
              <a:buNone/>
              <a:defRPr sz="4400" b="1" kern="1200">
                <a:solidFill>
                  <a:srgbClr val="07A9BB"/>
                </a:solidFill>
                <a:latin typeface="+mj-lt"/>
                <a:ea typeface="+mj-ea"/>
                <a:cs typeface="+mj-cs"/>
              </a:defRPr>
            </a:lvl1pPr>
          </a:lstStyle>
          <a:p>
            <a:r>
              <a:rPr lang="en-US" sz="3600" dirty="0"/>
              <a:t>More Than a Toolbox of Technical Skills</a:t>
            </a:r>
          </a:p>
          <a:p>
            <a:pPr fontAlgn="auto">
              <a:spcAft>
                <a:spcPts val="0"/>
              </a:spcAft>
              <a:defRPr/>
            </a:pPr>
            <a:endParaRPr lang="en-US" altLang="en-US" sz="3600" dirty="0">
              <a:solidFill>
                <a:srgbClr val="222222"/>
              </a:solidFill>
            </a:endParaRPr>
          </a:p>
          <a:p>
            <a:pPr fontAlgn="auto">
              <a:spcAft>
                <a:spcPts val="0"/>
              </a:spcAft>
              <a:defRPr/>
            </a:pPr>
            <a:r>
              <a:rPr lang="en-US" sz="2800" dirty="0"/>
              <a:t>How Leadership, Business, Interpersonal, and Technical (LBIT) Assessment Relates to Your Job Hunt</a:t>
            </a:r>
          </a:p>
          <a:p>
            <a:pPr fontAlgn="auto">
              <a:spcAft>
                <a:spcPts val="0"/>
              </a:spcAft>
              <a:defRPr/>
            </a:pPr>
            <a:endParaRPr lang="en-US" altLang="en-US" sz="3600" dirty="0">
              <a:solidFill>
                <a:srgbClr val="222222"/>
              </a:solidFill>
            </a:endParaRPr>
          </a:p>
          <a:p>
            <a:pPr fontAlgn="auto">
              <a:spcAft>
                <a:spcPts val="0"/>
              </a:spcAft>
              <a:defRPr/>
            </a:pPr>
            <a:r>
              <a:rPr lang="en-US" altLang="en-US" sz="3600" dirty="0">
                <a:solidFill>
                  <a:srgbClr val="FF6600"/>
                </a:solidFill>
              </a:rPr>
              <a:t>William Docter</a:t>
            </a:r>
          </a:p>
          <a:p>
            <a:pPr fontAlgn="auto">
              <a:spcAft>
                <a:spcPts val="0"/>
              </a:spcAft>
              <a:defRPr/>
            </a:pPr>
            <a:endParaRPr lang="en-US" altLang="en-US" sz="3600" dirty="0">
              <a:solidFill>
                <a:srgbClr val="FF6600"/>
              </a:solidFill>
            </a:endParaRPr>
          </a:p>
          <a:p>
            <a:pPr fontAlgn="auto">
              <a:spcAft>
                <a:spcPts val="0"/>
              </a:spcAft>
              <a:defRPr/>
            </a:pPr>
            <a:r>
              <a:rPr lang="en-US" altLang="en-US" sz="2400" dirty="0">
                <a:solidFill>
                  <a:srgbClr val="FF6600"/>
                </a:solidFill>
              </a:rPr>
              <a:t>2026-Oct-26</a:t>
            </a:r>
          </a:p>
        </p:txBody>
      </p:sp>
      <p:sp>
        <p:nvSpPr>
          <p:cNvPr id="7" name="TextBox 6">
            <a:extLst>
              <a:ext uri="{FF2B5EF4-FFF2-40B4-BE49-F238E27FC236}">
                <a16:creationId xmlns:a16="http://schemas.microsoft.com/office/drawing/2014/main" id="{2456922B-A7A5-9843-F921-C623386D5AB9}"/>
              </a:ext>
            </a:extLst>
          </p:cNvPr>
          <p:cNvSpPr txBox="1"/>
          <p:nvPr/>
        </p:nvSpPr>
        <p:spPr>
          <a:xfrm>
            <a:off x="114300" y="5615580"/>
            <a:ext cx="6667500" cy="1169551"/>
          </a:xfrm>
          <a:prstGeom prst="rect">
            <a:avLst/>
          </a:prstGeom>
          <a:noFill/>
        </p:spPr>
        <p:txBody>
          <a:bodyPr wrap="square">
            <a:spAutoFit/>
          </a:bodyPr>
          <a:lstStyle/>
          <a:p>
            <a:r>
              <a:rPr lang="en-US" sz="14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License:</a:t>
            </a:r>
            <a:r>
              <a:rPr lang="en-US" sz="14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 2026 William Docter. This work is licensed under a </a:t>
            </a:r>
            <a:r>
              <a:rPr lang="en-US" sz="1400" b="0" i="0" u="sng" dirty="0">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3"/>
              </a:rPr>
              <a:t>Creative Commons Attribution 4.0 International License (CC BY 4.0)</a:t>
            </a:r>
            <a:r>
              <a:rPr lang="en-US" sz="1400" b="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You may copy, redistribute, remix, and build upon this material, including for commercial purposes, provided you give appropriate credit to William Docter and indicate if changes were made. The Second-Hand Tigers logo is not covered by this license. All rights in it are reserved.</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65482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9E83-C278-DF3D-A7C9-3B5268FE4C25}"/>
            </a:ext>
          </a:extLst>
        </p:cNvPr>
        <p:cNvGrpSpPr/>
        <p:nvPr/>
      </p:nvGrpSpPr>
      <p:grpSpPr>
        <a:xfrm>
          <a:off x="0" y="0"/>
          <a:ext cx="0" cy="0"/>
          <a:chOff x="0" y="0"/>
          <a:chExt cx="0" cy="0"/>
        </a:xfrm>
      </p:grpSpPr>
      <p:sp>
        <p:nvSpPr>
          <p:cNvPr id="50178" name="Title 1">
            <a:extLst>
              <a:ext uri="{FF2B5EF4-FFF2-40B4-BE49-F238E27FC236}">
                <a16:creationId xmlns:a16="http://schemas.microsoft.com/office/drawing/2014/main" id="{414245CB-25DE-0347-7B25-3234AA0C3F5C}"/>
              </a:ext>
            </a:extLst>
          </p:cNvPr>
          <p:cNvSpPr>
            <a:spLocks noGrp="1" noChangeArrowheads="1"/>
          </p:cNvSpPr>
          <p:nvPr>
            <p:ph type="title"/>
          </p:nvPr>
        </p:nvSpPr>
        <p:spPr/>
        <p:txBody>
          <a:bodyPr/>
          <a:lstStyle/>
          <a:p>
            <a:r>
              <a:rPr lang="en-US" altLang="en-US" dirty="0"/>
              <a:t>Overview</a:t>
            </a:r>
          </a:p>
        </p:txBody>
      </p:sp>
      <p:sp>
        <p:nvSpPr>
          <p:cNvPr id="50179" name="Content Placeholder 2">
            <a:extLst>
              <a:ext uri="{FF2B5EF4-FFF2-40B4-BE49-F238E27FC236}">
                <a16:creationId xmlns:a16="http://schemas.microsoft.com/office/drawing/2014/main" id="{36562996-71FC-FA97-2A1E-9E7F309042A7}"/>
              </a:ext>
            </a:extLst>
          </p:cNvPr>
          <p:cNvSpPr>
            <a:spLocks noGrp="1" noChangeArrowheads="1"/>
          </p:cNvSpPr>
          <p:nvPr>
            <p:ph idx="1"/>
          </p:nvPr>
        </p:nvSpPr>
        <p:spPr>
          <a:xfrm>
            <a:off x="203200" y="800100"/>
            <a:ext cx="11684000" cy="5257800"/>
          </a:xfrm>
        </p:spPr>
        <p:txBody>
          <a:bodyPr/>
          <a:lstStyle/>
          <a:p>
            <a:pPr lvl="1">
              <a:spcBef>
                <a:spcPts val="1400"/>
              </a:spcBef>
            </a:pPr>
            <a:r>
              <a:rPr lang="en-US" altLang="en-US" sz="3200" dirty="0"/>
              <a:t>The four LBIT performance dimensions</a:t>
            </a:r>
          </a:p>
          <a:p>
            <a:pPr lvl="2"/>
            <a:r>
              <a:rPr lang="en-US" altLang="en-US" dirty="0"/>
              <a:t> </a:t>
            </a:r>
            <a:r>
              <a:rPr lang="en-US" altLang="en-US" dirty="0">
                <a:solidFill>
                  <a:srgbClr val="FF0000"/>
                </a:solidFill>
              </a:rPr>
              <a:t>L</a:t>
            </a:r>
            <a:r>
              <a:rPr lang="en-US" altLang="en-US" dirty="0"/>
              <a:t>eadership, </a:t>
            </a:r>
            <a:r>
              <a:rPr lang="en-US" altLang="en-US" dirty="0">
                <a:solidFill>
                  <a:srgbClr val="FF0000"/>
                </a:solidFill>
              </a:rPr>
              <a:t>B</a:t>
            </a:r>
            <a:r>
              <a:rPr lang="en-US" altLang="en-US" dirty="0"/>
              <a:t>usiness, </a:t>
            </a:r>
            <a:r>
              <a:rPr lang="en-US" altLang="en-US" dirty="0">
                <a:solidFill>
                  <a:srgbClr val="FF0000"/>
                </a:solidFill>
              </a:rPr>
              <a:t>I</a:t>
            </a:r>
            <a:r>
              <a:rPr lang="en-US" altLang="en-US" dirty="0"/>
              <a:t>nterpersonal, </a:t>
            </a:r>
            <a:r>
              <a:rPr lang="en-US" altLang="en-US" dirty="0">
                <a:solidFill>
                  <a:srgbClr val="FF0000"/>
                </a:solidFill>
              </a:rPr>
              <a:t>T</a:t>
            </a:r>
            <a:r>
              <a:rPr lang="en-US" altLang="en-US" dirty="0"/>
              <a:t>echnical</a:t>
            </a:r>
          </a:p>
          <a:p>
            <a:pPr lvl="2"/>
            <a:r>
              <a:rPr lang="en-US" altLang="en-US" dirty="0"/>
              <a:t> What happens without the first three: Nedry from "Jurassic Park"</a:t>
            </a:r>
          </a:p>
          <a:p>
            <a:pPr lvl="1">
              <a:spcBef>
                <a:spcPts val="1400"/>
              </a:spcBef>
            </a:pPr>
            <a:r>
              <a:rPr lang="en-US" altLang="en-US" sz="3200" dirty="0"/>
              <a:t>How LBIT runs through your career</a:t>
            </a:r>
          </a:p>
          <a:p>
            <a:pPr lvl="2"/>
            <a:r>
              <a:rPr lang="en-US" altLang="en-US" dirty="0"/>
              <a:t>Job hunt, development planning, and annual performance assessment</a:t>
            </a:r>
          </a:p>
          <a:p>
            <a:pPr lvl="1">
              <a:spcBef>
                <a:spcPts val="1400"/>
              </a:spcBef>
            </a:pPr>
            <a:r>
              <a:rPr lang="en-US" altLang="en-US" sz="3200" dirty="0"/>
              <a:t>LBIT in the specifics of your job hunt</a:t>
            </a:r>
          </a:p>
          <a:p>
            <a:pPr lvl="2"/>
            <a:r>
              <a:rPr lang="en-US" altLang="en-US" dirty="0"/>
              <a:t>Resume</a:t>
            </a:r>
          </a:p>
          <a:p>
            <a:pPr lvl="2"/>
            <a:r>
              <a:rPr lang="en-US" altLang="en-US" dirty="0"/>
              <a:t>LinkedIn Profile</a:t>
            </a:r>
          </a:p>
          <a:p>
            <a:pPr lvl="2"/>
            <a:r>
              <a:rPr lang="en-US" altLang="en-US" dirty="0"/>
              <a:t>Interview</a:t>
            </a:r>
          </a:p>
          <a:p>
            <a:pPr lvl="1">
              <a:spcBef>
                <a:spcPts val="1400"/>
              </a:spcBef>
            </a:pPr>
            <a:r>
              <a:rPr lang="en-US" altLang="en-US" sz="3200" dirty="0"/>
              <a:t>Mock interview: practice LBIT assessment live</a:t>
            </a:r>
          </a:p>
        </p:txBody>
      </p:sp>
      <p:sp>
        <p:nvSpPr>
          <p:cNvPr id="50180" name="Slide Number Placeholder 3">
            <a:extLst>
              <a:ext uri="{FF2B5EF4-FFF2-40B4-BE49-F238E27FC236}">
                <a16:creationId xmlns:a16="http://schemas.microsoft.com/office/drawing/2014/main" id="{FC34C79C-AD73-783C-82C8-CC981601C99D}"/>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D7A2058-582F-4325-8DB4-3A4B5D0EDEF1}" type="slidenum">
              <a:rPr lang="en-US" altLang="en-US" sz="1400" smtClean="0"/>
              <a:pPr>
                <a:spcBef>
                  <a:spcPct val="0"/>
                </a:spcBef>
                <a:buFontTx/>
                <a:buNone/>
              </a:pPr>
              <a:t>2</a:t>
            </a:fld>
            <a:endParaRPr lang="en-US" altLang="en-US" sz="1400"/>
          </a:p>
        </p:txBody>
      </p:sp>
    </p:spTree>
    <p:extLst>
      <p:ext uri="{BB962C8B-B14F-4D97-AF65-F5344CB8AC3E}">
        <p14:creationId xmlns:p14="http://schemas.microsoft.com/office/powerpoint/2010/main" val="2501081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
            <a:extLst>
              <a:ext uri="{FF2B5EF4-FFF2-40B4-BE49-F238E27FC236}">
                <a16:creationId xmlns:a16="http://schemas.microsoft.com/office/drawing/2014/main" id="{83BBCCBD-7CD0-AAE3-4A3E-64E0188D7D98}"/>
              </a:ext>
            </a:extLst>
          </p:cNvPr>
          <p:cNvSpPr>
            <a:spLocks noGrp="1" noChangeArrowheads="1"/>
          </p:cNvSpPr>
          <p:nvPr>
            <p:ph type="title"/>
          </p:nvPr>
        </p:nvSpPr>
        <p:spPr>
          <a:xfrm>
            <a:off x="1371600" y="19050"/>
            <a:ext cx="11684000" cy="681038"/>
          </a:xfrm>
        </p:spPr>
        <p:txBody>
          <a:bodyPr/>
          <a:lstStyle/>
          <a:p>
            <a:r>
              <a:rPr lang="en-US" altLang="en-US"/>
              <a:t>Dimensions of Development and Mentoring Focus</a:t>
            </a:r>
          </a:p>
        </p:txBody>
      </p:sp>
      <p:sp>
        <p:nvSpPr>
          <p:cNvPr id="49155" name="Content Placeholder 5">
            <a:extLst>
              <a:ext uri="{FF2B5EF4-FFF2-40B4-BE49-F238E27FC236}">
                <a16:creationId xmlns:a16="http://schemas.microsoft.com/office/drawing/2014/main" id="{F7BB4D7E-C376-BE13-23EE-35FAFC9821AC}"/>
              </a:ext>
            </a:extLst>
          </p:cNvPr>
          <p:cNvSpPr>
            <a:spLocks noGrp="1" noChangeArrowheads="1"/>
          </p:cNvSpPr>
          <p:nvPr>
            <p:ph idx="1"/>
          </p:nvPr>
        </p:nvSpPr>
        <p:spPr>
          <a:xfrm>
            <a:off x="228600" y="766991"/>
            <a:ext cx="11379200" cy="5257800"/>
          </a:xfrm>
        </p:spPr>
        <p:txBody>
          <a:bodyPr/>
          <a:lstStyle/>
          <a:p>
            <a:pPr marL="0" indent="0">
              <a:buNone/>
            </a:pPr>
            <a:r>
              <a:rPr lang="en-US" altLang="en-US" sz="2400" b="1" dirty="0">
                <a:solidFill>
                  <a:srgbClr val="FF0000"/>
                </a:solidFill>
              </a:rPr>
              <a:t>L</a:t>
            </a:r>
            <a:r>
              <a:rPr lang="en-US" altLang="en-US" sz="2400" b="1" dirty="0"/>
              <a:t>eadership</a:t>
            </a:r>
          </a:p>
          <a:p>
            <a:pPr lvl="1"/>
            <a:r>
              <a:rPr lang="en-US" altLang="en-US" sz="1800" dirty="0"/>
              <a:t>Commitment to Excellence</a:t>
            </a:r>
          </a:p>
          <a:p>
            <a:pPr lvl="1"/>
            <a:r>
              <a:rPr lang="en-US" altLang="en-US" sz="1800" dirty="0"/>
              <a:t>Owning your work</a:t>
            </a:r>
          </a:p>
          <a:p>
            <a:pPr lvl="1"/>
            <a:r>
              <a:rPr lang="en-US" altLang="en-US" sz="1800" dirty="0"/>
              <a:t>Initiating action</a:t>
            </a:r>
          </a:p>
          <a:p>
            <a:pPr lvl="1"/>
            <a:r>
              <a:rPr lang="en-US" altLang="en-US" sz="1800" dirty="0"/>
              <a:t>It’s NOT just named officer positions in an organization. It’s a behavior, not a title.</a:t>
            </a:r>
            <a:endParaRPr lang="en-US" altLang="en-US" sz="2400" dirty="0"/>
          </a:p>
          <a:p>
            <a:pPr marL="0" indent="0">
              <a:buNone/>
            </a:pPr>
            <a:r>
              <a:rPr lang="en-US" altLang="en-US" sz="2400" b="1" dirty="0">
                <a:solidFill>
                  <a:srgbClr val="FF0000"/>
                </a:solidFill>
              </a:rPr>
              <a:t>B</a:t>
            </a:r>
            <a:r>
              <a:rPr lang="en-US" altLang="en-US" sz="2400" b="1" dirty="0"/>
              <a:t>usiness</a:t>
            </a:r>
          </a:p>
          <a:p>
            <a:pPr lvl="1"/>
            <a:r>
              <a:rPr lang="en-US" altLang="en-US" sz="1800" dirty="0"/>
              <a:t>How to get work done &amp; why the work is important</a:t>
            </a:r>
          </a:p>
          <a:p>
            <a:pPr lvl="1"/>
            <a:r>
              <a:rPr lang="en-US" altLang="en-US" sz="1800" dirty="0"/>
              <a:t>Industry and Company Standards</a:t>
            </a:r>
          </a:p>
          <a:p>
            <a:pPr lvl="1"/>
            <a:r>
              <a:rPr lang="en-US" altLang="en-US" sz="1800" dirty="0"/>
              <a:t>Work Processes &amp; Stewardship</a:t>
            </a:r>
          </a:p>
          <a:p>
            <a:pPr lvl="1"/>
            <a:r>
              <a:rPr lang="en-US" altLang="en-US" sz="1800" dirty="0"/>
              <a:t>Big Picture Understanding &amp; Economics</a:t>
            </a:r>
          </a:p>
          <a:p>
            <a:pPr marL="0" indent="0">
              <a:buNone/>
            </a:pPr>
            <a:r>
              <a:rPr lang="en-US" altLang="en-US" sz="2400" b="1" dirty="0">
                <a:solidFill>
                  <a:srgbClr val="FF0000"/>
                </a:solidFill>
              </a:rPr>
              <a:t>I</a:t>
            </a:r>
            <a:r>
              <a:rPr lang="en-US" altLang="en-US" sz="2400" b="1" dirty="0"/>
              <a:t>nterpersonal</a:t>
            </a:r>
          </a:p>
          <a:p>
            <a:pPr lvl="1"/>
            <a:r>
              <a:rPr lang="en-US" altLang="en-US" sz="1800" dirty="0"/>
              <a:t>Working in Teams</a:t>
            </a:r>
          </a:p>
          <a:p>
            <a:pPr lvl="1"/>
            <a:r>
              <a:rPr lang="en-US" altLang="en-US" sz="1800" dirty="0"/>
              <a:t>Communicating to Stakeholders</a:t>
            </a:r>
          </a:p>
          <a:p>
            <a:pPr lvl="1"/>
            <a:r>
              <a:rPr lang="en-US" altLang="en-US" sz="1800" dirty="0"/>
              <a:t>Networking</a:t>
            </a:r>
          </a:p>
          <a:p>
            <a:pPr marL="0" indent="0">
              <a:buNone/>
            </a:pPr>
            <a:r>
              <a:rPr lang="en-US" altLang="en-US" sz="2400" b="1" dirty="0">
                <a:solidFill>
                  <a:srgbClr val="FF0000"/>
                </a:solidFill>
              </a:rPr>
              <a:t>T</a:t>
            </a:r>
            <a:r>
              <a:rPr lang="en-US" altLang="en-US" sz="2400" b="1" dirty="0"/>
              <a:t>echnical</a:t>
            </a:r>
          </a:p>
          <a:p>
            <a:pPr lvl="1"/>
            <a:r>
              <a:rPr lang="en-US" altLang="en-US" sz="2000" dirty="0"/>
              <a:t>Important, but undergrads tend to focus here and underestimate the other three</a:t>
            </a:r>
          </a:p>
        </p:txBody>
      </p:sp>
      <p:sp>
        <p:nvSpPr>
          <p:cNvPr id="49156" name="Slide Number Placeholder 3">
            <a:extLst>
              <a:ext uri="{FF2B5EF4-FFF2-40B4-BE49-F238E27FC236}">
                <a16:creationId xmlns:a16="http://schemas.microsoft.com/office/drawing/2014/main" id="{622209BC-CAC9-7520-A002-C95060332DB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1859AD8-D83B-4172-AFA9-FE7CB09659BF}" type="slidenum">
              <a:rPr lang="en-US" altLang="en-US" sz="1400" smtClean="0"/>
              <a:pPr>
                <a:spcBef>
                  <a:spcPct val="0"/>
                </a:spcBef>
                <a:buFontTx/>
                <a:buNone/>
              </a:pPr>
              <a:t>3</a:t>
            </a:fld>
            <a:endParaRPr lang="en-US" altLang="en-US" sz="1400"/>
          </a:p>
        </p:txBody>
      </p:sp>
      <p:sp>
        <p:nvSpPr>
          <p:cNvPr id="2" name="TextBox 1">
            <a:extLst>
              <a:ext uri="{FF2B5EF4-FFF2-40B4-BE49-F238E27FC236}">
                <a16:creationId xmlns:a16="http://schemas.microsoft.com/office/drawing/2014/main" id="{EEBEFE2A-98E9-EF2B-6D98-37AE1CC1E684}"/>
              </a:ext>
            </a:extLst>
          </p:cNvPr>
          <p:cNvSpPr txBox="1"/>
          <p:nvPr/>
        </p:nvSpPr>
        <p:spPr>
          <a:xfrm>
            <a:off x="304800" y="6512123"/>
            <a:ext cx="11494878" cy="307777"/>
          </a:xfrm>
          <a:prstGeom prst="rect">
            <a:avLst/>
          </a:prstGeom>
          <a:noFill/>
        </p:spPr>
        <p:txBody>
          <a:bodyPr wrap="non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hlinkClick r:id="rId2"/>
              </a:rPr>
              <a:t>Setting and Accomplishing Development Goals · second-hand-tigers/badocter-career-learnings Wiki</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DE9209BB-2DE9-2D31-53CD-85ACC3D3DFA0}"/>
              </a:ext>
            </a:extLst>
          </p:cNvPr>
          <p:cNvSpPr>
            <a:spLocks noGrp="1" noChangeArrowheads="1"/>
          </p:cNvSpPr>
          <p:nvPr>
            <p:ph type="title"/>
          </p:nvPr>
        </p:nvSpPr>
        <p:spPr/>
        <p:txBody>
          <a:bodyPr/>
          <a:lstStyle/>
          <a:p>
            <a:r>
              <a:rPr lang="en-US" dirty="0"/>
              <a:t>Don’t Be the Technical “A” Who Gets an “F” on the Other Three</a:t>
            </a:r>
            <a:endParaRPr lang="en-US" altLang="en-US" dirty="0"/>
          </a:p>
        </p:txBody>
      </p:sp>
      <p:sp>
        <p:nvSpPr>
          <p:cNvPr id="43011" name="Content Placeholder 2">
            <a:extLst>
              <a:ext uri="{FF2B5EF4-FFF2-40B4-BE49-F238E27FC236}">
                <a16:creationId xmlns:a16="http://schemas.microsoft.com/office/drawing/2014/main" id="{F96D24C3-455D-3037-02F5-7144C5A71865}"/>
              </a:ext>
            </a:extLst>
          </p:cNvPr>
          <p:cNvSpPr>
            <a:spLocks noGrp="1" noChangeArrowheads="1"/>
          </p:cNvSpPr>
          <p:nvPr>
            <p:ph idx="1"/>
          </p:nvPr>
        </p:nvSpPr>
        <p:spPr>
          <a:xfrm>
            <a:off x="203200" y="838393"/>
            <a:ext cx="9169400" cy="3241675"/>
          </a:xfrm>
        </p:spPr>
        <p:txBody>
          <a:bodyPr/>
          <a:lstStyle/>
          <a:p>
            <a:pPr marL="0" indent="0">
              <a:buFontTx/>
              <a:buNone/>
            </a:pPr>
            <a:r>
              <a:rPr lang="en-US" altLang="en-US" sz="2000" dirty="0"/>
              <a:t>Jurassic Park's Nedry is a classic example of a failed expert who doesn't realize he's a failed expert</a:t>
            </a:r>
          </a:p>
          <a:p>
            <a:pPr lvl="0"/>
            <a:r>
              <a:rPr lang="en-US" sz="2000" dirty="0">
                <a:solidFill>
                  <a:schemeClr val="accent5">
                    <a:lumMod val="50000"/>
                  </a:schemeClr>
                </a:solidFill>
              </a:rPr>
              <a:t>Technical capability exceptional, despite Hammond’s complaints about system bugs (scope of work described would easily justify a team of 10)</a:t>
            </a:r>
          </a:p>
          <a:p>
            <a:pPr lvl="0"/>
            <a:r>
              <a:rPr lang="en-US" sz="2000" dirty="0">
                <a:solidFill>
                  <a:srgbClr val="FF0000"/>
                </a:solidFill>
              </a:rPr>
              <a:t>Acting ethically — Fail </a:t>
            </a:r>
            <a:r>
              <a:rPr lang="en-US" sz="2000" i="1" dirty="0">
                <a:solidFill>
                  <a:srgbClr val="FF0000"/>
                </a:solidFill>
              </a:rPr>
              <a:t>(Leadership — an ethics failure will get immediate disciplinary action: likely termination and possible criminal prosecution)</a:t>
            </a:r>
            <a:endParaRPr lang="en-US" sz="2000" dirty="0">
              <a:solidFill>
                <a:srgbClr val="FF0000"/>
              </a:solidFill>
            </a:endParaRPr>
          </a:p>
          <a:p>
            <a:pPr lvl="0"/>
            <a:r>
              <a:rPr lang="en-US" sz="2000" dirty="0">
                <a:solidFill>
                  <a:srgbClr val="FF0000"/>
                </a:solidFill>
              </a:rPr>
              <a:t>Owning and addressing his own mistakes — Fail </a:t>
            </a:r>
            <a:r>
              <a:rPr lang="en-US" sz="2000" i="1" dirty="0">
                <a:solidFill>
                  <a:srgbClr val="FF0000"/>
                </a:solidFill>
              </a:rPr>
              <a:t>(Leadership)</a:t>
            </a:r>
            <a:endParaRPr lang="en-US" sz="2000" dirty="0">
              <a:solidFill>
                <a:srgbClr val="FF0000"/>
              </a:solidFill>
            </a:endParaRPr>
          </a:p>
          <a:p>
            <a:pPr lvl="0"/>
            <a:r>
              <a:rPr lang="en-US" sz="2000" dirty="0">
                <a:solidFill>
                  <a:srgbClr val="FF0000"/>
                </a:solidFill>
              </a:rPr>
              <a:t>Caring about and mentoring the team — Fail </a:t>
            </a:r>
            <a:r>
              <a:rPr lang="en-US" sz="2000" i="1" dirty="0">
                <a:solidFill>
                  <a:srgbClr val="FF0000"/>
                </a:solidFill>
              </a:rPr>
              <a:t>(Interpersonal &amp; Leadership)</a:t>
            </a:r>
            <a:endParaRPr lang="en-US" sz="2000" dirty="0">
              <a:solidFill>
                <a:srgbClr val="FF0000"/>
              </a:solidFill>
            </a:endParaRPr>
          </a:p>
          <a:p>
            <a:pPr lvl="0"/>
            <a:r>
              <a:rPr lang="en-US" sz="2000" dirty="0">
                <a:solidFill>
                  <a:srgbClr val="FF0000"/>
                </a:solidFill>
              </a:rPr>
              <a:t>Communicating priorities, challenges, and wins effectively — Fail </a:t>
            </a:r>
            <a:r>
              <a:rPr lang="en-US" sz="2000" i="1" dirty="0">
                <a:solidFill>
                  <a:srgbClr val="FF0000"/>
                </a:solidFill>
              </a:rPr>
              <a:t>(Interpersonal)</a:t>
            </a:r>
            <a:endParaRPr lang="en-US" sz="2000" dirty="0">
              <a:solidFill>
                <a:srgbClr val="FF0000"/>
              </a:solidFill>
            </a:endParaRPr>
          </a:p>
          <a:p>
            <a:pPr lvl="0"/>
            <a:r>
              <a:rPr lang="en-US" sz="2000" dirty="0">
                <a:solidFill>
                  <a:srgbClr val="FF0000"/>
                </a:solidFill>
              </a:rPr>
              <a:t>Business financials — Fail </a:t>
            </a:r>
            <a:r>
              <a:rPr lang="en-US" sz="2000" i="1" dirty="0">
                <a:solidFill>
                  <a:srgbClr val="FF0000"/>
                </a:solidFill>
              </a:rPr>
              <a:t>(Business)</a:t>
            </a:r>
            <a:endParaRPr lang="en-US" sz="2000" dirty="0">
              <a:solidFill>
                <a:srgbClr val="FF0000"/>
              </a:solidFill>
            </a:endParaRPr>
          </a:p>
        </p:txBody>
      </p:sp>
      <p:sp>
        <p:nvSpPr>
          <p:cNvPr id="43012" name="Slide Number Placeholder 3">
            <a:extLst>
              <a:ext uri="{FF2B5EF4-FFF2-40B4-BE49-F238E27FC236}">
                <a16:creationId xmlns:a16="http://schemas.microsoft.com/office/drawing/2014/main" id="{300D9C41-BD4F-F5DA-29CB-97EE006A468A}"/>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083566D-BA64-4F19-81A2-499AE5797E6E}" type="slidenum">
              <a:rPr lang="en-US" altLang="en-US" sz="1400" smtClean="0"/>
              <a:pPr>
                <a:spcBef>
                  <a:spcPct val="0"/>
                </a:spcBef>
                <a:buFontTx/>
                <a:buNone/>
              </a:pPr>
              <a:t>4</a:t>
            </a:fld>
            <a:endParaRPr lang="en-US" altLang="en-US" sz="1400"/>
          </a:p>
        </p:txBody>
      </p:sp>
      <p:sp>
        <p:nvSpPr>
          <p:cNvPr id="2" name="TextBox 1">
            <a:extLst>
              <a:ext uri="{FF2B5EF4-FFF2-40B4-BE49-F238E27FC236}">
                <a16:creationId xmlns:a16="http://schemas.microsoft.com/office/drawing/2014/main" id="{80A20C02-24EE-1DC6-40A9-E243DFAEBAF7}"/>
              </a:ext>
            </a:extLst>
          </p:cNvPr>
          <p:cNvSpPr txBox="1"/>
          <p:nvPr/>
        </p:nvSpPr>
        <p:spPr>
          <a:xfrm>
            <a:off x="914400" y="6429052"/>
            <a:ext cx="11506200" cy="400110"/>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hlinkClick r:id="rId2"/>
              </a:rPr>
              <a:t>The Failed Expert · second-hand-tigers/</a:t>
            </a:r>
            <a:r>
              <a:rPr lang="en-US" sz="2000" dirty="0" err="1">
                <a:latin typeface="Calibri" panose="020F0502020204030204" pitchFamily="34" charset="0"/>
                <a:ea typeface="Calibri" panose="020F0502020204030204" pitchFamily="34" charset="0"/>
                <a:cs typeface="Calibri" panose="020F0502020204030204" pitchFamily="34" charset="0"/>
                <a:hlinkClick r:id="rId2"/>
              </a:rPr>
              <a:t>badocter</a:t>
            </a:r>
            <a:r>
              <a:rPr lang="en-US" sz="2000" dirty="0">
                <a:latin typeface="Calibri" panose="020F0502020204030204" pitchFamily="34" charset="0"/>
                <a:ea typeface="Calibri" panose="020F0502020204030204" pitchFamily="34" charset="0"/>
                <a:cs typeface="Calibri" panose="020F0502020204030204" pitchFamily="34" charset="0"/>
                <a:hlinkClick r:id="rId2"/>
              </a:rPr>
              <a:t>-career-learnings Wiki</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75BB20D5-5313-658C-729F-849625138F46}"/>
              </a:ext>
            </a:extLst>
          </p:cNvPr>
          <p:cNvGraphicFramePr>
            <a:graphicFrameLocks noGrp="1"/>
          </p:cNvGraphicFramePr>
          <p:nvPr>
            <p:extLst>
              <p:ext uri="{D42A27DB-BD31-4B8C-83A1-F6EECF244321}">
                <p14:modId xmlns:p14="http://schemas.microsoft.com/office/powerpoint/2010/main" val="3982501307"/>
              </p:ext>
            </p:extLst>
          </p:nvPr>
        </p:nvGraphicFramePr>
        <p:xfrm>
          <a:off x="103615" y="4828261"/>
          <a:ext cx="10792984" cy="1483360"/>
        </p:xfrm>
        <a:graphic>
          <a:graphicData uri="http://schemas.openxmlformats.org/drawingml/2006/table">
            <a:tbl>
              <a:tblPr firstRow="1" bandRow="1">
                <a:tableStyleId>{5C22544A-7EE6-4342-B048-85BDC9FD1C3A}</a:tableStyleId>
              </a:tblPr>
              <a:tblGrid>
                <a:gridCol w="2977523">
                  <a:extLst>
                    <a:ext uri="{9D8B030D-6E8A-4147-A177-3AD203B41FA5}">
                      <a16:colId xmlns:a16="http://schemas.microsoft.com/office/drawing/2014/main" val="1460152181"/>
                    </a:ext>
                  </a:extLst>
                </a:gridCol>
                <a:gridCol w="1514729">
                  <a:extLst>
                    <a:ext uri="{9D8B030D-6E8A-4147-A177-3AD203B41FA5}">
                      <a16:colId xmlns:a16="http://schemas.microsoft.com/office/drawing/2014/main" val="857785896"/>
                    </a:ext>
                  </a:extLst>
                </a:gridCol>
                <a:gridCol w="1423933">
                  <a:extLst>
                    <a:ext uri="{9D8B030D-6E8A-4147-A177-3AD203B41FA5}">
                      <a16:colId xmlns:a16="http://schemas.microsoft.com/office/drawing/2014/main" val="1008808309"/>
                    </a:ext>
                  </a:extLst>
                </a:gridCol>
                <a:gridCol w="1682601">
                  <a:extLst>
                    <a:ext uri="{9D8B030D-6E8A-4147-A177-3AD203B41FA5}">
                      <a16:colId xmlns:a16="http://schemas.microsoft.com/office/drawing/2014/main" val="68081279"/>
                    </a:ext>
                  </a:extLst>
                </a:gridCol>
                <a:gridCol w="1597099">
                  <a:extLst>
                    <a:ext uri="{9D8B030D-6E8A-4147-A177-3AD203B41FA5}">
                      <a16:colId xmlns:a16="http://schemas.microsoft.com/office/drawing/2014/main" val="4115906472"/>
                    </a:ext>
                  </a:extLst>
                </a:gridCol>
                <a:gridCol w="1597099">
                  <a:extLst>
                    <a:ext uri="{9D8B030D-6E8A-4147-A177-3AD203B41FA5}">
                      <a16:colId xmlns:a16="http://schemas.microsoft.com/office/drawing/2014/main" val="4257208822"/>
                    </a:ext>
                  </a:extLst>
                </a:gridCol>
              </a:tblGrid>
              <a:tr h="370840">
                <a:tc>
                  <a:txBody>
                    <a:bodyPr/>
                    <a:lstStyle/>
                    <a:p>
                      <a:endParaRPr lang="en-US"/>
                    </a:p>
                  </a:txBody>
                  <a:tcPr/>
                </a:tc>
                <a:tc>
                  <a:txBody>
                    <a:bodyPr/>
                    <a:lstStyle/>
                    <a:p>
                      <a:pPr algn="r"/>
                      <a:r>
                        <a:rPr lang="en-US" dirty="0"/>
                        <a:t>Leadership</a:t>
                      </a:r>
                    </a:p>
                  </a:txBody>
                  <a:tcPr/>
                </a:tc>
                <a:tc>
                  <a:txBody>
                    <a:bodyPr/>
                    <a:lstStyle/>
                    <a:p>
                      <a:pPr algn="r"/>
                      <a:r>
                        <a:rPr lang="en-US" dirty="0"/>
                        <a:t>Business</a:t>
                      </a:r>
                    </a:p>
                  </a:txBody>
                  <a:tcPr/>
                </a:tc>
                <a:tc>
                  <a:txBody>
                    <a:bodyPr/>
                    <a:lstStyle/>
                    <a:p>
                      <a:pPr algn="r"/>
                      <a:r>
                        <a:rPr lang="en-US" dirty="0"/>
                        <a:t>Interpersonal</a:t>
                      </a:r>
                    </a:p>
                  </a:txBody>
                  <a:tcPr/>
                </a:tc>
                <a:tc>
                  <a:txBody>
                    <a:bodyPr/>
                    <a:lstStyle/>
                    <a:p>
                      <a:pPr algn="r"/>
                      <a:r>
                        <a:rPr lang="en-US" dirty="0"/>
                        <a:t>Technical</a:t>
                      </a:r>
                    </a:p>
                  </a:txBody>
                  <a:tcPr/>
                </a:tc>
                <a:tc>
                  <a:txBody>
                    <a:bodyPr/>
                    <a:lstStyle/>
                    <a:p>
                      <a:pPr algn="r"/>
                      <a:r>
                        <a:rPr lang="en-US" b="1" dirty="0"/>
                        <a:t>Overall</a:t>
                      </a:r>
                    </a:p>
                  </a:txBody>
                  <a:tcPr/>
                </a:tc>
                <a:extLst>
                  <a:ext uri="{0D108BD9-81ED-4DB2-BD59-A6C34878D82A}">
                    <a16:rowId xmlns:a16="http://schemas.microsoft.com/office/drawing/2014/main" val="1254948553"/>
                  </a:ext>
                </a:extLst>
              </a:tr>
              <a:tr h="370840">
                <a:tc>
                  <a:txBody>
                    <a:bodyPr/>
                    <a:lstStyle/>
                    <a:p>
                      <a:r>
                        <a:rPr lang="en-US" dirty="0"/>
                        <a:t>Nedry thinks of himself</a:t>
                      </a:r>
                    </a:p>
                  </a:txBody>
                  <a:tcPr/>
                </a:tc>
                <a:tc>
                  <a:txBody>
                    <a:bodyPr/>
                    <a:lstStyle/>
                    <a:p>
                      <a:pPr algn="r"/>
                      <a:r>
                        <a:rPr lang="en-US" dirty="0"/>
                        <a:t>N/A</a:t>
                      </a:r>
                    </a:p>
                  </a:txBody>
                  <a:tcPr/>
                </a:tc>
                <a:tc>
                  <a:txBody>
                    <a:bodyPr/>
                    <a:lstStyle/>
                    <a:p>
                      <a:pPr algn="r"/>
                      <a:r>
                        <a:rPr lang="en-US" dirty="0"/>
                        <a:t>N/A</a:t>
                      </a:r>
                    </a:p>
                  </a:txBody>
                  <a:tcPr/>
                </a:tc>
                <a:tc>
                  <a:txBody>
                    <a:bodyPr/>
                    <a:lstStyle/>
                    <a:p>
                      <a:pPr algn="r"/>
                      <a:r>
                        <a:rPr lang="en-US" dirty="0"/>
                        <a:t>N/A</a:t>
                      </a:r>
                    </a:p>
                  </a:txBody>
                  <a:tcPr/>
                </a:tc>
                <a:tc>
                  <a:txBody>
                    <a:bodyPr/>
                    <a:lstStyle/>
                    <a:p>
                      <a:pPr algn="r"/>
                      <a:r>
                        <a:rPr lang="en-US" dirty="0"/>
                        <a:t>A+</a:t>
                      </a:r>
                    </a:p>
                  </a:txBody>
                  <a:tcPr>
                    <a:solidFill>
                      <a:srgbClr val="66FF33"/>
                    </a:solidFill>
                  </a:tcPr>
                </a:tc>
                <a:tc>
                  <a:txBody>
                    <a:bodyPr/>
                    <a:lstStyle/>
                    <a:p>
                      <a:pPr algn="r"/>
                      <a:r>
                        <a:rPr lang="en-US" b="1" dirty="0"/>
                        <a:t>A+</a:t>
                      </a:r>
                    </a:p>
                  </a:txBody>
                  <a:tcPr>
                    <a:solidFill>
                      <a:srgbClr val="66FF33"/>
                    </a:solidFill>
                  </a:tcPr>
                </a:tc>
                <a:extLst>
                  <a:ext uri="{0D108BD9-81ED-4DB2-BD59-A6C34878D82A}">
                    <a16:rowId xmlns:a16="http://schemas.microsoft.com/office/drawing/2014/main" val="4001853807"/>
                  </a:ext>
                </a:extLst>
              </a:tr>
              <a:tr h="370840">
                <a:tc>
                  <a:txBody>
                    <a:bodyPr/>
                    <a:lstStyle/>
                    <a:p>
                      <a:r>
                        <a:rPr lang="en-US" dirty="0"/>
                        <a:t>Hammond thinks of Nedry</a:t>
                      </a:r>
                    </a:p>
                  </a:txBody>
                  <a:tcPr/>
                </a:tc>
                <a:tc>
                  <a:txBody>
                    <a:bodyPr/>
                    <a:lstStyle/>
                    <a:p>
                      <a:pPr algn="r"/>
                      <a:r>
                        <a:rPr lang="en-US" dirty="0"/>
                        <a:t>F</a:t>
                      </a:r>
                    </a:p>
                  </a:txBody>
                  <a:tcPr>
                    <a:solidFill>
                      <a:srgbClr val="FF9999"/>
                    </a:solidFill>
                  </a:tcPr>
                </a:tc>
                <a:tc>
                  <a:txBody>
                    <a:bodyPr/>
                    <a:lstStyle/>
                    <a:p>
                      <a:pPr algn="r"/>
                      <a:r>
                        <a:rPr lang="en-US" dirty="0"/>
                        <a:t>F</a:t>
                      </a:r>
                    </a:p>
                  </a:txBody>
                  <a:tcPr>
                    <a:solidFill>
                      <a:srgbClr val="FF9999"/>
                    </a:solidFill>
                  </a:tcPr>
                </a:tc>
                <a:tc>
                  <a:txBody>
                    <a:bodyPr/>
                    <a:lstStyle/>
                    <a:p>
                      <a:pPr algn="r"/>
                      <a:r>
                        <a:rPr lang="en-US" dirty="0"/>
                        <a:t>F</a:t>
                      </a:r>
                    </a:p>
                  </a:txBody>
                  <a:tcPr>
                    <a:solidFill>
                      <a:srgbClr val="FF9999"/>
                    </a:solidFill>
                  </a:tcPr>
                </a:tc>
                <a:tc>
                  <a:txBody>
                    <a:bodyPr/>
                    <a:lstStyle/>
                    <a:p>
                      <a:pPr algn="r"/>
                      <a:r>
                        <a:rPr lang="en-US" dirty="0"/>
                        <a:t>C-</a:t>
                      </a:r>
                    </a:p>
                  </a:txBody>
                  <a:tcPr>
                    <a:solidFill>
                      <a:srgbClr val="FFFF00"/>
                    </a:solidFill>
                  </a:tcPr>
                </a:tc>
                <a:tc>
                  <a:txBody>
                    <a:bodyPr/>
                    <a:lstStyle/>
                    <a:p>
                      <a:pPr algn="r"/>
                      <a:r>
                        <a:rPr lang="en-US" b="1" dirty="0"/>
                        <a:t>F</a:t>
                      </a:r>
                    </a:p>
                  </a:txBody>
                  <a:tcPr>
                    <a:solidFill>
                      <a:srgbClr val="FF9999"/>
                    </a:solidFill>
                  </a:tcPr>
                </a:tc>
                <a:extLst>
                  <a:ext uri="{0D108BD9-81ED-4DB2-BD59-A6C34878D82A}">
                    <a16:rowId xmlns:a16="http://schemas.microsoft.com/office/drawing/2014/main" val="3930257306"/>
                  </a:ext>
                </a:extLst>
              </a:tr>
              <a:tr h="370840">
                <a:tc>
                  <a:txBody>
                    <a:bodyPr/>
                    <a:lstStyle/>
                    <a:p>
                      <a:r>
                        <a:rPr lang="en-US" dirty="0"/>
                        <a:t>An Objective Supervisor</a:t>
                      </a:r>
                    </a:p>
                  </a:txBody>
                  <a:tcPr/>
                </a:tc>
                <a:tc>
                  <a:txBody>
                    <a:bodyPr/>
                    <a:lstStyle/>
                    <a:p>
                      <a:pPr algn="r"/>
                      <a:r>
                        <a:rPr lang="en-US" dirty="0"/>
                        <a:t>F</a:t>
                      </a:r>
                    </a:p>
                  </a:txBody>
                  <a:tcPr>
                    <a:solidFill>
                      <a:srgbClr val="FF9999"/>
                    </a:solidFill>
                  </a:tcPr>
                </a:tc>
                <a:tc>
                  <a:txBody>
                    <a:bodyPr/>
                    <a:lstStyle/>
                    <a:p>
                      <a:pPr algn="r"/>
                      <a:r>
                        <a:rPr lang="en-US" dirty="0"/>
                        <a:t>F</a:t>
                      </a:r>
                    </a:p>
                  </a:txBody>
                  <a:tcPr>
                    <a:solidFill>
                      <a:srgbClr val="FF9999"/>
                    </a:solidFill>
                  </a:tcPr>
                </a:tc>
                <a:tc>
                  <a:txBody>
                    <a:bodyPr/>
                    <a:lstStyle/>
                    <a:p>
                      <a:pPr algn="r"/>
                      <a:r>
                        <a:rPr lang="en-US" dirty="0"/>
                        <a:t>F</a:t>
                      </a:r>
                    </a:p>
                  </a:txBody>
                  <a:tcPr>
                    <a:solidFill>
                      <a:srgbClr val="FF9999"/>
                    </a:solidFill>
                  </a:tcPr>
                </a:tc>
                <a:tc>
                  <a:txBody>
                    <a:bodyPr/>
                    <a:lstStyle/>
                    <a:p>
                      <a:pPr algn="r"/>
                      <a:r>
                        <a:rPr lang="en-US" dirty="0"/>
                        <a:t>A+</a:t>
                      </a:r>
                    </a:p>
                  </a:txBody>
                  <a:tcPr>
                    <a:solidFill>
                      <a:srgbClr val="66FF33"/>
                    </a:solidFill>
                  </a:tcPr>
                </a:tc>
                <a:tc>
                  <a:txBody>
                    <a:bodyPr/>
                    <a:lstStyle/>
                    <a:p>
                      <a:pPr algn="r"/>
                      <a:r>
                        <a:rPr lang="en-US" b="1" dirty="0"/>
                        <a:t>F</a:t>
                      </a:r>
                    </a:p>
                  </a:txBody>
                  <a:tcPr>
                    <a:solidFill>
                      <a:srgbClr val="FF9999"/>
                    </a:solidFill>
                  </a:tcPr>
                </a:tc>
                <a:extLst>
                  <a:ext uri="{0D108BD9-81ED-4DB2-BD59-A6C34878D82A}">
                    <a16:rowId xmlns:a16="http://schemas.microsoft.com/office/drawing/2014/main" val="373522429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88171-A41B-28F1-1A91-B357807AE2ED}"/>
              </a:ext>
            </a:extLst>
          </p:cNvPr>
          <p:cNvSpPr>
            <a:spLocks noGrp="1"/>
          </p:cNvSpPr>
          <p:nvPr>
            <p:ph type="title"/>
          </p:nvPr>
        </p:nvSpPr>
        <p:spPr/>
        <p:txBody>
          <a:bodyPr/>
          <a:lstStyle/>
          <a:p>
            <a:r>
              <a:rPr lang="en-US" dirty="0"/>
              <a:t>Your LBIT Assessment Has Already Started</a:t>
            </a:r>
          </a:p>
        </p:txBody>
      </p:sp>
      <p:sp>
        <p:nvSpPr>
          <p:cNvPr id="3" name="Content Placeholder 2">
            <a:extLst>
              <a:ext uri="{FF2B5EF4-FFF2-40B4-BE49-F238E27FC236}">
                <a16:creationId xmlns:a16="http://schemas.microsoft.com/office/drawing/2014/main" id="{C66DCB9D-F43C-678B-8CED-3A52704AD586}"/>
              </a:ext>
            </a:extLst>
          </p:cNvPr>
          <p:cNvSpPr>
            <a:spLocks noGrp="1"/>
          </p:cNvSpPr>
          <p:nvPr>
            <p:ph idx="1"/>
          </p:nvPr>
        </p:nvSpPr>
        <p:spPr>
          <a:xfrm>
            <a:off x="1143000" y="838200"/>
            <a:ext cx="10903032" cy="5257800"/>
          </a:xfrm>
        </p:spPr>
        <p:txBody>
          <a:bodyPr/>
          <a:lstStyle/>
          <a:p>
            <a:pPr marL="0" indent="0">
              <a:buNone/>
            </a:pPr>
            <a:r>
              <a:rPr lang="en-US" sz="2600" dirty="0"/>
              <a:t>Job Hunt (Resume/LinkedIn/Interview)</a:t>
            </a:r>
          </a:p>
          <a:p>
            <a:pPr lvl="1"/>
            <a:r>
              <a:rPr lang="en-US" sz="2200" dirty="0"/>
              <a:t>You are being assessed vs other applicants (peers) on each dimension</a:t>
            </a:r>
          </a:p>
          <a:p>
            <a:pPr marL="1257300" lvl="2" indent="-342900">
              <a:buAutoNum type="arabicParenR"/>
            </a:pPr>
            <a:r>
              <a:rPr lang="en-US" sz="1800" dirty="0"/>
              <a:t>Will you contribute to the team’s objectives and success?</a:t>
            </a:r>
          </a:p>
          <a:p>
            <a:pPr marL="1257300" lvl="2" indent="-342900">
              <a:buAutoNum type="arabicParenR"/>
            </a:pPr>
            <a:r>
              <a:rPr lang="en-US" sz="1800" dirty="0"/>
              <a:t>Will you be competitive in the LBIT performance assessment a year from now?</a:t>
            </a:r>
            <a:endParaRPr lang="en-US" sz="1400" dirty="0"/>
          </a:p>
          <a:p>
            <a:pPr lvl="1"/>
            <a:r>
              <a:rPr lang="en-US" sz="2200" dirty="0"/>
              <a:t>You are not just a toolbox of technical skills</a:t>
            </a:r>
          </a:p>
          <a:p>
            <a:pPr marL="0" indent="0">
              <a:buNone/>
            </a:pPr>
            <a:r>
              <a:rPr lang="en-US" sz="2600" dirty="0"/>
              <a:t>Development Planning</a:t>
            </a:r>
          </a:p>
          <a:p>
            <a:pPr lvl="1"/>
            <a:r>
              <a:rPr lang="en-US" sz="2200" dirty="0"/>
              <a:t>You will have assigned objectives in each LBIT dimension based on growth opportunities identified during assessment</a:t>
            </a:r>
          </a:p>
          <a:p>
            <a:pPr marL="0" indent="0">
              <a:buNone/>
            </a:pPr>
            <a:r>
              <a:rPr lang="en-US" sz="2600" dirty="0"/>
              <a:t>Performance Assessment</a:t>
            </a:r>
          </a:p>
          <a:p>
            <a:pPr lvl="1"/>
            <a:r>
              <a:rPr lang="en-US" sz="2200" dirty="0"/>
              <a:t>You will be graded vs your peers and progress on your development plan on each dimension </a:t>
            </a:r>
            <a:r>
              <a:rPr lang="en-US" sz="2200" dirty="0">
                <a:sym typeface="Wingdings" panose="05000000000000000000" pitchFamily="2" charset="2"/>
              </a:rPr>
              <a:t> Did you grow what you agreed to grow?</a:t>
            </a:r>
            <a:endParaRPr lang="en-US" sz="2200" dirty="0"/>
          </a:p>
          <a:p>
            <a:pPr lvl="1"/>
            <a:r>
              <a:rPr lang="en-US" sz="2200" dirty="0"/>
              <a:t>Targets escalate with career stages</a:t>
            </a:r>
          </a:p>
          <a:p>
            <a:pPr lvl="2"/>
            <a:r>
              <a:rPr lang="en-US" sz="1800" dirty="0"/>
              <a:t>Non-technical share of the job: ~50% at Expert, 100% at Sponsor</a:t>
            </a:r>
          </a:p>
          <a:p>
            <a:pPr lvl="2"/>
            <a:r>
              <a:rPr lang="en-US" sz="1800" dirty="0"/>
              <a:t>You will eventually have to mentor across all LBIT dimensions and “influence without authority” above your pay grade</a:t>
            </a:r>
          </a:p>
          <a:p>
            <a:pPr marL="457200" lvl="1" indent="0">
              <a:buNone/>
            </a:pPr>
            <a:endParaRPr lang="en-US" dirty="0"/>
          </a:p>
        </p:txBody>
      </p:sp>
      <p:sp>
        <p:nvSpPr>
          <p:cNvPr id="4" name="Slide Number Placeholder 3">
            <a:extLst>
              <a:ext uri="{FF2B5EF4-FFF2-40B4-BE49-F238E27FC236}">
                <a16:creationId xmlns:a16="http://schemas.microsoft.com/office/drawing/2014/main" id="{8B72BA9A-9F50-5339-8B47-2D0213C0E58E}"/>
              </a:ext>
            </a:extLst>
          </p:cNvPr>
          <p:cNvSpPr>
            <a:spLocks noGrp="1"/>
          </p:cNvSpPr>
          <p:nvPr>
            <p:ph type="sldNum" sz="quarter" idx="11"/>
          </p:nvPr>
        </p:nvSpPr>
        <p:spPr/>
        <p:txBody>
          <a:bodyPr/>
          <a:lstStyle/>
          <a:p>
            <a:pPr>
              <a:defRPr/>
            </a:pPr>
            <a:fld id="{90494FE9-4416-4F3E-97F0-CB1F982A0E38}" type="slidenum">
              <a:rPr lang="en-US" altLang="en-US" smtClean="0"/>
              <a:pPr>
                <a:defRPr/>
              </a:pPr>
              <a:t>5</a:t>
            </a:fld>
            <a:endParaRPr lang="en-US" altLang="en-US"/>
          </a:p>
        </p:txBody>
      </p:sp>
      <p:sp>
        <p:nvSpPr>
          <p:cNvPr id="5" name="Arrow: Curved Right 4">
            <a:extLst>
              <a:ext uri="{FF2B5EF4-FFF2-40B4-BE49-F238E27FC236}">
                <a16:creationId xmlns:a16="http://schemas.microsoft.com/office/drawing/2014/main" id="{6A5B6778-301D-7D2A-B78F-1CCCDBBADE88}"/>
              </a:ext>
            </a:extLst>
          </p:cNvPr>
          <p:cNvSpPr/>
          <p:nvPr/>
        </p:nvSpPr>
        <p:spPr bwMode="auto">
          <a:xfrm>
            <a:off x="47963" y="1021352"/>
            <a:ext cx="637837" cy="1905000"/>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11" name="Arrow: Curved Right 10">
            <a:extLst>
              <a:ext uri="{FF2B5EF4-FFF2-40B4-BE49-F238E27FC236}">
                <a16:creationId xmlns:a16="http://schemas.microsoft.com/office/drawing/2014/main" id="{C15B1621-5CE3-4F89-4703-85C3D862A979}"/>
              </a:ext>
            </a:extLst>
          </p:cNvPr>
          <p:cNvSpPr/>
          <p:nvPr/>
        </p:nvSpPr>
        <p:spPr bwMode="auto">
          <a:xfrm flipH="1">
            <a:off x="733763" y="2895600"/>
            <a:ext cx="637837" cy="1524000"/>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12" name="TextBox 11">
            <a:extLst>
              <a:ext uri="{FF2B5EF4-FFF2-40B4-BE49-F238E27FC236}">
                <a16:creationId xmlns:a16="http://schemas.microsoft.com/office/drawing/2014/main" id="{911F11F3-46CC-B4ED-7F11-A3F581BA0E38}"/>
              </a:ext>
            </a:extLst>
          </p:cNvPr>
          <p:cNvSpPr txBox="1"/>
          <p:nvPr/>
        </p:nvSpPr>
        <p:spPr>
          <a:xfrm>
            <a:off x="203200" y="6436313"/>
            <a:ext cx="10620793" cy="400110"/>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hlinkClick r:id="rId2"/>
              </a:rPr>
              <a:t>Mentoring Integration with Stage Development · second-hand-tigers/</a:t>
            </a:r>
            <a:r>
              <a:rPr lang="en-US" sz="2000" dirty="0" err="1">
                <a:latin typeface="Calibri" panose="020F0502020204030204" pitchFamily="34" charset="0"/>
                <a:ea typeface="Calibri" panose="020F0502020204030204" pitchFamily="34" charset="0"/>
                <a:cs typeface="Calibri" panose="020F0502020204030204" pitchFamily="34" charset="0"/>
                <a:hlinkClick r:id="rId2"/>
              </a:rPr>
              <a:t>badocter</a:t>
            </a:r>
            <a:r>
              <a:rPr lang="en-US" sz="2000" dirty="0">
                <a:latin typeface="Calibri" panose="020F0502020204030204" pitchFamily="34" charset="0"/>
                <a:ea typeface="Calibri" panose="020F0502020204030204" pitchFamily="34" charset="0"/>
                <a:cs typeface="Calibri" panose="020F0502020204030204" pitchFamily="34" charset="0"/>
                <a:hlinkClick r:id="rId2"/>
              </a:rPr>
              <a:t>-career-learnings Wiki</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9" name="Arrow: Curved Right 8">
            <a:extLst>
              <a:ext uri="{FF2B5EF4-FFF2-40B4-BE49-F238E27FC236}">
                <a16:creationId xmlns:a16="http://schemas.microsoft.com/office/drawing/2014/main" id="{D8CEAC55-532A-0E9A-FC40-29657D872FA8}"/>
              </a:ext>
            </a:extLst>
          </p:cNvPr>
          <p:cNvSpPr/>
          <p:nvPr/>
        </p:nvSpPr>
        <p:spPr bwMode="auto">
          <a:xfrm rot="10800000" flipH="1">
            <a:off x="54644" y="2819400"/>
            <a:ext cx="629630" cy="1524000"/>
          </a:xfrm>
          <a:prstGeom prst="curved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6" name="TextBox 5">
            <a:extLst>
              <a:ext uri="{FF2B5EF4-FFF2-40B4-BE49-F238E27FC236}">
                <a16:creationId xmlns:a16="http://schemas.microsoft.com/office/drawing/2014/main" id="{330D0093-3F26-4B53-94FA-D8AB53227A7C}"/>
              </a:ext>
            </a:extLst>
          </p:cNvPr>
          <p:cNvSpPr txBox="1"/>
          <p:nvPr/>
        </p:nvSpPr>
        <p:spPr>
          <a:xfrm>
            <a:off x="101901" y="3219377"/>
            <a:ext cx="1194714" cy="830997"/>
          </a:xfrm>
          <a:prstGeom prst="rect">
            <a:avLst/>
          </a:prstGeom>
          <a:noFill/>
        </p:spPr>
        <p:txBody>
          <a:bodyPr wrap="square" rtlCol="0">
            <a:sp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Annual Cycle</a:t>
            </a:r>
          </a:p>
        </p:txBody>
      </p:sp>
    </p:spTree>
    <p:extLst>
      <p:ext uri="{BB962C8B-B14F-4D97-AF65-F5344CB8AC3E}">
        <p14:creationId xmlns:p14="http://schemas.microsoft.com/office/powerpoint/2010/main" val="2556014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LBIT </a:t>
            </a:r>
            <a:r>
              <a:rPr lang="en-US" dirty="0"/>
              <a:t>Screenings </a:t>
            </a:r>
            <a:r>
              <a:rPr dirty="0"/>
              <a:t>in Your Job Hunt</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6</a:t>
            </a:fld>
            <a:endParaRPr lang="en-US" altLang="en-US" sz="1400"/>
          </a:p>
        </p:txBody>
      </p:sp>
      <p:sp>
        <p:nvSpPr>
          <p:cNvPr id="51205" name="Card Resume"/>
          <p:cNvSpPr/>
          <p:nvPr/>
        </p:nvSpPr>
        <p:spPr>
          <a:xfrm>
            <a:off x="502920" y="838200"/>
            <a:ext cx="3383280" cy="30175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06" name="Card Header Resume"/>
          <p:cNvSpPr/>
          <p:nvPr/>
        </p:nvSpPr>
        <p:spPr>
          <a:xfrm>
            <a:off x="502920" y="838200"/>
            <a:ext cx="3383280" cy="7772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2600" b="1">
                <a:solidFill>
                  <a:srgbClr val="FFFFFF"/>
                </a:solidFill>
              </a:rPr>
              <a:t>Resume</a:t>
            </a:r>
          </a:p>
        </p:txBody>
      </p:sp>
      <p:sp>
        <p:nvSpPr>
          <p:cNvPr id="51207" name="TextBox 51206"/>
          <p:cNvSpPr txBox="1"/>
          <p:nvPr/>
        </p:nvSpPr>
        <p:spPr>
          <a:xfrm>
            <a:off x="566928" y="1688592"/>
            <a:ext cx="3255264" cy="2130551"/>
          </a:xfrm>
          <a:prstGeom prst="rect">
            <a:avLst/>
          </a:prstGeom>
          <a:noFill/>
        </p:spPr>
        <p:txBody>
          <a:bodyPr wrap="square" lIns="73152" tIns="73152" rIns="73152" bIns="73152" anchor="t">
            <a:spAutoFit/>
          </a:bodyPr>
          <a:lstStyle/>
          <a:p>
            <a:pPr>
              <a:spcAft>
                <a:spcPts val="1000"/>
              </a:spcAft>
            </a:pPr>
            <a:r>
              <a:rPr sz="2000" b="1" i="0" dirty="0">
                <a:solidFill>
                  <a:srgbClr val="000000"/>
                </a:solidFill>
                <a:latin typeface="Arial"/>
              </a:rPr>
              <a:t>The hook that lands the interview.</a:t>
            </a:r>
          </a:p>
          <a:p>
            <a:pPr>
              <a:spcAft>
                <a:spcPts val="600"/>
              </a:spcAft>
            </a:pPr>
            <a:r>
              <a:rPr sz="1800" b="0" i="0" dirty="0">
                <a:solidFill>
                  <a:srgbClr val="000000"/>
                </a:solidFill>
                <a:latin typeface="Arial"/>
              </a:rPr>
              <a:t>One-way: applicant to interviewer. Every bullet is a lead-in for LBIT probing questions.</a:t>
            </a:r>
          </a:p>
        </p:txBody>
      </p:sp>
      <p:sp>
        <p:nvSpPr>
          <p:cNvPr id="51208" name="Right Arrow 51207"/>
          <p:cNvSpPr/>
          <p:nvPr/>
        </p:nvSpPr>
        <p:spPr>
          <a:xfrm>
            <a:off x="3931920" y="1981200"/>
            <a:ext cx="411480" cy="457200"/>
          </a:xfrm>
          <a:prstGeom prst="rightArrow">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09" name="Card LinkedIn"/>
          <p:cNvSpPr/>
          <p:nvPr/>
        </p:nvSpPr>
        <p:spPr>
          <a:xfrm>
            <a:off x="4389120" y="838200"/>
            <a:ext cx="3383280" cy="30175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0" name="Card Header LinkedIn"/>
          <p:cNvSpPr/>
          <p:nvPr/>
        </p:nvSpPr>
        <p:spPr>
          <a:xfrm>
            <a:off x="4389120" y="838200"/>
            <a:ext cx="3383280" cy="7772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2600" b="1">
                <a:solidFill>
                  <a:srgbClr val="FFFFFF"/>
                </a:solidFill>
              </a:rPr>
              <a:t>LinkedIn</a:t>
            </a:r>
          </a:p>
        </p:txBody>
      </p:sp>
      <p:sp>
        <p:nvSpPr>
          <p:cNvPr id="51211" name="TextBox 51210"/>
          <p:cNvSpPr txBox="1"/>
          <p:nvPr/>
        </p:nvSpPr>
        <p:spPr>
          <a:xfrm>
            <a:off x="4453128" y="1688592"/>
            <a:ext cx="3255264" cy="2130551"/>
          </a:xfrm>
          <a:prstGeom prst="rect">
            <a:avLst/>
          </a:prstGeom>
          <a:noFill/>
        </p:spPr>
        <p:txBody>
          <a:bodyPr wrap="square" lIns="73152" tIns="73152" rIns="73152" bIns="73152" anchor="t">
            <a:spAutoFit/>
          </a:bodyPr>
          <a:lstStyle/>
          <a:p>
            <a:pPr>
              <a:spcAft>
                <a:spcPts val="1000"/>
              </a:spcAft>
            </a:pPr>
            <a:r>
              <a:rPr sz="2000" b="1" i="0">
                <a:solidFill>
                  <a:srgbClr val="000000"/>
                </a:solidFill>
                <a:latin typeface="Arial"/>
              </a:rPr>
              <a:t>Your public, two-way presence.</a:t>
            </a:r>
          </a:p>
          <a:p>
            <a:pPr>
              <a:spcAft>
                <a:spcPts val="600"/>
              </a:spcAft>
            </a:pPr>
            <a:r>
              <a:rPr sz="1800" b="0" i="0">
                <a:solidFill>
                  <a:srgbClr val="000000"/>
                </a:solidFill>
                <a:latin typeface="Arial"/>
              </a:rPr>
              <a:t>Interviewers read your profile; you read theirs. Every entry and every post is fair game.</a:t>
            </a:r>
          </a:p>
        </p:txBody>
      </p:sp>
      <p:sp>
        <p:nvSpPr>
          <p:cNvPr id="51212" name="Right Arrow 51211"/>
          <p:cNvSpPr/>
          <p:nvPr/>
        </p:nvSpPr>
        <p:spPr>
          <a:xfrm>
            <a:off x="7818120" y="1981200"/>
            <a:ext cx="411480" cy="457200"/>
          </a:xfrm>
          <a:prstGeom prst="rightArrow">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13" name="Card Interview"/>
          <p:cNvSpPr/>
          <p:nvPr/>
        </p:nvSpPr>
        <p:spPr>
          <a:xfrm>
            <a:off x="8275320" y="838200"/>
            <a:ext cx="3383280" cy="30175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4" name="Card Header Interview"/>
          <p:cNvSpPr/>
          <p:nvPr/>
        </p:nvSpPr>
        <p:spPr>
          <a:xfrm>
            <a:off x="8275320" y="838200"/>
            <a:ext cx="3383280" cy="7772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2600" b="1">
                <a:solidFill>
                  <a:srgbClr val="FFFFFF"/>
                </a:solidFill>
              </a:rPr>
              <a:t>Interview</a:t>
            </a:r>
          </a:p>
        </p:txBody>
      </p:sp>
      <p:sp>
        <p:nvSpPr>
          <p:cNvPr id="51215" name="TextBox 51214"/>
          <p:cNvSpPr txBox="1"/>
          <p:nvPr/>
        </p:nvSpPr>
        <p:spPr>
          <a:xfrm>
            <a:off x="8339328" y="1688592"/>
            <a:ext cx="3255264" cy="2130551"/>
          </a:xfrm>
          <a:prstGeom prst="rect">
            <a:avLst/>
          </a:prstGeom>
          <a:noFill/>
        </p:spPr>
        <p:txBody>
          <a:bodyPr wrap="square" lIns="73152" tIns="73152" rIns="73152" bIns="73152" anchor="t">
            <a:spAutoFit/>
          </a:bodyPr>
          <a:lstStyle/>
          <a:p>
            <a:pPr>
              <a:spcAft>
                <a:spcPts val="1000"/>
              </a:spcAft>
            </a:pPr>
            <a:r>
              <a:rPr sz="2000" b="1" i="0">
                <a:solidFill>
                  <a:srgbClr val="000000"/>
                </a:solidFill>
                <a:latin typeface="Arial"/>
              </a:rPr>
              <a:t>The room itself.</a:t>
            </a:r>
          </a:p>
          <a:p>
            <a:pPr>
              <a:spcAft>
                <a:spcPts val="600"/>
              </a:spcAft>
            </a:pPr>
            <a:r>
              <a:rPr sz="1800" b="0" i="0">
                <a:solidFill>
                  <a:srgbClr val="000000"/>
                </a:solidFill>
                <a:latin typeface="Arial"/>
              </a:rPr>
              <a:t>The interviewer probes until all four dimensions are covered, unless you cover them first.</a:t>
            </a:r>
          </a:p>
        </p:txBody>
      </p:sp>
      <p:sp>
        <p:nvSpPr>
          <p:cNvPr id="51216" name="TextBox 51215"/>
          <p:cNvSpPr txBox="1"/>
          <p:nvPr/>
        </p:nvSpPr>
        <p:spPr>
          <a:xfrm>
            <a:off x="502920" y="3835667"/>
            <a:ext cx="11155680" cy="1091581"/>
          </a:xfrm>
          <a:prstGeom prst="rect">
            <a:avLst/>
          </a:prstGeom>
          <a:noFill/>
        </p:spPr>
        <p:txBody>
          <a:bodyPr wrap="square" lIns="73152" tIns="73152" rIns="73152" bIns="73152" anchor="t">
            <a:spAutoFit/>
          </a:bodyPr>
          <a:lstStyle/>
          <a:p>
            <a:pPr>
              <a:spcAft>
                <a:spcPts val="400"/>
              </a:spcAft>
            </a:pPr>
            <a:r>
              <a:rPr sz="2200" b="1" i="0" dirty="0">
                <a:solidFill>
                  <a:srgbClr val="007A5C"/>
                </a:solidFill>
                <a:latin typeface="Arial"/>
              </a:rPr>
              <a:t>Same rule at every step: </a:t>
            </a:r>
            <a:r>
              <a:rPr lang="en-US" sz="2200" b="1" i="0" dirty="0">
                <a:solidFill>
                  <a:srgbClr val="007A5C"/>
                </a:solidFill>
                <a:latin typeface="Arial"/>
              </a:rPr>
              <a:t>show </a:t>
            </a:r>
            <a:r>
              <a:rPr sz="2200" b="1" i="0" dirty="0">
                <a:solidFill>
                  <a:srgbClr val="007A5C"/>
                </a:solidFill>
                <a:latin typeface="Arial"/>
              </a:rPr>
              <a:t>you are not just a toolb</a:t>
            </a:r>
            <a:r>
              <a:rPr lang="en-US" sz="2200" b="1" i="0" dirty="0">
                <a:solidFill>
                  <a:srgbClr val="007A5C"/>
                </a:solidFill>
                <a:latin typeface="Arial"/>
              </a:rPr>
              <a:t>ox</a:t>
            </a:r>
            <a:r>
              <a:rPr sz="2200" b="1" i="0" dirty="0">
                <a:solidFill>
                  <a:srgbClr val="007A5C"/>
                </a:solidFill>
                <a:latin typeface="Arial"/>
              </a:rPr>
              <a:t> of technical skills.</a:t>
            </a:r>
          </a:p>
          <a:p>
            <a:pPr>
              <a:spcAft>
                <a:spcPts val="600"/>
              </a:spcAft>
            </a:pPr>
            <a:r>
              <a:rPr sz="1800" b="0" i="0" dirty="0">
                <a:solidFill>
                  <a:srgbClr val="000000"/>
                </a:solidFill>
                <a:latin typeface="Arial"/>
              </a:rPr>
              <a:t>Leadership, Business, Interpersonal, and Technical</a:t>
            </a:r>
            <a:r>
              <a:rPr lang="en-US" sz="1800" b="0" i="0" dirty="0">
                <a:solidFill>
                  <a:srgbClr val="000000"/>
                </a:solidFill>
                <a:latin typeface="Arial"/>
              </a:rPr>
              <a:t> capability all need to shine in the Resume, LinkedIn Profile, and Interview</a:t>
            </a:r>
            <a:r>
              <a:rPr lang="en-US" sz="1800" dirty="0">
                <a:solidFill>
                  <a:srgbClr val="000000"/>
                </a:solidFill>
                <a:latin typeface="Arial"/>
              </a:rPr>
              <a:t>. The Interview is the only stage where the </a:t>
            </a:r>
            <a:r>
              <a:rPr sz="1800" b="0" i="0" dirty="0">
                <a:solidFill>
                  <a:srgbClr val="000000"/>
                </a:solidFill>
                <a:latin typeface="Arial"/>
              </a:rPr>
              <a:t>interviewer </a:t>
            </a:r>
            <a:r>
              <a:rPr lang="en-US" sz="1800" b="0" i="0" dirty="0">
                <a:solidFill>
                  <a:srgbClr val="000000"/>
                </a:solidFill>
                <a:latin typeface="Arial"/>
              </a:rPr>
              <a:t>can</a:t>
            </a:r>
            <a:r>
              <a:rPr sz="1800" b="0" i="0" dirty="0">
                <a:solidFill>
                  <a:srgbClr val="000000"/>
                </a:solidFill>
                <a:latin typeface="Arial"/>
              </a:rPr>
              <a:t> </a:t>
            </a:r>
            <a:r>
              <a:rPr lang="en-US" sz="1800" b="0" i="0" dirty="0">
                <a:solidFill>
                  <a:srgbClr val="000000"/>
                </a:solidFill>
                <a:latin typeface="Arial"/>
              </a:rPr>
              <a:t>actively </a:t>
            </a:r>
            <a:r>
              <a:rPr sz="1800" b="0" i="0" dirty="0">
                <a:solidFill>
                  <a:srgbClr val="000000"/>
                </a:solidFill>
                <a:latin typeface="Arial"/>
              </a:rPr>
              <a:t>dig it out of you.</a:t>
            </a:r>
          </a:p>
        </p:txBody>
      </p:sp>
      <p:sp>
        <p:nvSpPr>
          <p:cNvPr id="51217"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3"/>
              </a:rPr>
              <a:t>The Job Hunt · second-hand-tigers/badocter-career-learnings Wiki</a:t>
            </a:r>
          </a:p>
        </p:txBody>
      </p:sp>
      <p:graphicFrame>
        <p:nvGraphicFramePr>
          <p:cNvPr id="4" name="Table 3">
            <a:extLst>
              <a:ext uri="{FF2B5EF4-FFF2-40B4-BE49-F238E27FC236}">
                <a16:creationId xmlns:a16="http://schemas.microsoft.com/office/drawing/2014/main" id="{ADA6C1B6-B0C2-356A-A317-3CDB0E6591D1}"/>
              </a:ext>
            </a:extLst>
          </p:cNvPr>
          <p:cNvGraphicFramePr>
            <a:graphicFrameLocks noGrp="1"/>
          </p:cNvGraphicFramePr>
          <p:nvPr>
            <p:extLst>
              <p:ext uri="{D42A27DB-BD31-4B8C-83A1-F6EECF244321}">
                <p14:modId xmlns:p14="http://schemas.microsoft.com/office/powerpoint/2010/main" val="2186960670"/>
              </p:ext>
            </p:extLst>
          </p:nvPr>
        </p:nvGraphicFramePr>
        <p:xfrm>
          <a:off x="490220" y="4956904"/>
          <a:ext cx="10792984" cy="1483360"/>
        </p:xfrm>
        <a:graphic>
          <a:graphicData uri="http://schemas.openxmlformats.org/drawingml/2006/table">
            <a:tbl>
              <a:tblPr firstRow="1" bandRow="1">
                <a:tableStyleId>{5C22544A-7EE6-4342-B048-85BDC9FD1C3A}</a:tableStyleId>
              </a:tblPr>
              <a:tblGrid>
                <a:gridCol w="2977523">
                  <a:extLst>
                    <a:ext uri="{9D8B030D-6E8A-4147-A177-3AD203B41FA5}">
                      <a16:colId xmlns:a16="http://schemas.microsoft.com/office/drawing/2014/main" val="1460152181"/>
                    </a:ext>
                  </a:extLst>
                </a:gridCol>
                <a:gridCol w="1514729">
                  <a:extLst>
                    <a:ext uri="{9D8B030D-6E8A-4147-A177-3AD203B41FA5}">
                      <a16:colId xmlns:a16="http://schemas.microsoft.com/office/drawing/2014/main" val="857785896"/>
                    </a:ext>
                  </a:extLst>
                </a:gridCol>
                <a:gridCol w="1423933">
                  <a:extLst>
                    <a:ext uri="{9D8B030D-6E8A-4147-A177-3AD203B41FA5}">
                      <a16:colId xmlns:a16="http://schemas.microsoft.com/office/drawing/2014/main" val="1008808309"/>
                    </a:ext>
                  </a:extLst>
                </a:gridCol>
                <a:gridCol w="1682601">
                  <a:extLst>
                    <a:ext uri="{9D8B030D-6E8A-4147-A177-3AD203B41FA5}">
                      <a16:colId xmlns:a16="http://schemas.microsoft.com/office/drawing/2014/main" val="68081279"/>
                    </a:ext>
                  </a:extLst>
                </a:gridCol>
                <a:gridCol w="1597099">
                  <a:extLst>
                    <a:ext uri="{9D8B030D-6E8A-4147-A177-3AD203B41FA5}">
                      <a16:colId xmlns:a16="http://schemas.microsoft.com/office/drawing/2014/main" val="4115906472"/>
                    </a:ext>
                  </a:extLst>
                </a:gridCol>
                <a:gridCol w="1597099">
                  <a:extLst>
                    <a:ext uri="{9D8B030D-6E8A-4147-A177-3AD203B41FA5}">
                      <a16:colId xmlns:a16="http://schemas.microsoft.com/office/drawing/2014/main" val="4257208822"/>
                    </a:ext>
                  </a:extLst>
                </a:gridCol>
              </a:tblGrid>
              <a:tr h="370840">
                <a:tc>
                  <a:txBody>
                    <a:bodyPr/>
                    <a:lstStyle/>
                    <a:p>
                      <a:endParaRPr lang="en-US"/>
                    </a:p>
                  </a:txBody>
                  <a:tcPr/>
                </a:tc>
                <a:tc>
                  <a:txBody>
                    <a:bodyPr/>
                    <a:lstStyle/>
                    <a:p>
                      <a:pPr algn="r"/>
                      <a:r>
                        <a:rPr lang="en-US" dirty="0"/>
                        <a:t>Leadership</a:t>
                      </a:r>
                    </a:p>
                  </a:txBody>
                  <a:tcPr/>
                </a:tc>
                <a:tc>
                  <a:txBody>
                    <a:bodyPr/>
                    <a:lstStyle/>
                    <a:p>
                      <a:pPr algn="r"/>
                      <a:r>
                        <a:rPr lang="en-US" dirty="0"/>
                        <a:t>Business</a:t>
                      </a:r>
                    </a:p>
                  </a:txBody>
                  <a:tcPr/>
                </a:tc>
                <a:tc>
                  <a:txBody>
                    <a:bodyPr/>
                    <a:lstStyle/>
                    <a:p>
                      <a:pPr algn="r"/>
                      <a:r>
                        <a:rPr lang="en-US" dirty="0"/>
                        <a:t>Interpersonal</a:t>
                      </a:r>
                    </a:p>
                  </a:txBody>
                  <a:tcPr/>
                </a:tc>
                <a:tc>
                  <a:txBody>
                    <a:bodyPr/>
                    <a:lstStyle/>
                    <a:p>
                      <a:pPr algn="r"/>
                      <a:r>
                        <a:rPr lang="en-US" dirty="0"/>
                        <a:t>Technical</a:t>
                      </a:r>
                    </a:p>
                  </a:txBody>
                  <a:tcPr/>
                </a:tc>
                <a:tc>
                  <a:txBody>
                    <a:bodyPr/>
                    <a:lstStyle/>
                    <a:p>
                      <a:pPr algn="r"/>
                      <a:r>
                        <a:rPr lang="en-US" b="1" dirty="0"/>
                        <a:t>Overall</a:t>
                      </a:r>
                    </a:p>
                  </a:txBody>
                  <a:tcPr/>
                </a:tc>
                <a:extLst>
                  <a:ext uri="{0D108BD9-81ED-4DB2-BD59-A6C34878D82A}">
                    <a16:rowId xmlns:a16="http://schemas.microsoft.com/office/drawing/2014/main" val="1254948553"/>
                  </a:ext>
                </a:extLst>
              </a:tr>
              <a:tr h="370840">
                <a:tc>
                  <a:txBody>
                    <a:bodyPr/>
                    <a:lstStyle/>
                    <a:p>
                      <a:r>
                        <a:rPr lang="en-US" dirty="0"/>
                        <a:t>Resume</a:t>
                      </a:r>
                    </a:p>
                  </a:txBody>
                  <a:tcPr/>
                </a:tc>
                <a:tc>
                  <a:txBody>
                    <a:bodyPr/>
                    <a:lstStyle/>
                    <a:p>
                      <a:pPr algn="r"/>
                      <a:r>
                        <a:rPr lang="en-US" dirty="0">
                          <a:solidFill>
                            <a:schemeClr val="tx1"/>
                          </a:solidFill>
                        </a:rPr>
                        <a:t>Up to You</a:t>
                      </a:r>
                    </a:p>
                  </a:txBody>
                  <a:tcPr>
                    <a:solidFill>
                      <a:srgbClr val="FF9999"/>
                    </a:solidFill>
                  </a:tcPr>
                </a:tc>
                <a:tc>
                  <a:txBody>
                    <a:bodyPr/>
                    <a:lstStyle/>
                    <a:p>
                      <a:pPr algn="r"/>
                      <a:r>
                        <a:rPr lang="en-US" dirty="0">
                          <a:solidFill>
                            <a:schemeClr val="tx1"/>
                          </a:solidFill>
                        </a:rPr>
                        <a:t>Up to You</a:t>
                      </a:r>
                    </a:p>
                  </a:txBody>
                  <a:tcPr>
                    <a:solidFill>
                      <a:srgbClr val="FF9999"/>
                    </a:solidFill>
                  </a:tcPr>
                </a:tc>
                <a:tc>
                  <a:txBody>
                    <a:bodyPr/>
                    <a:lstStyle/>
                    <a:p>
                      <a:pPr algn="r"/>
                      <a:r>
                        <a:rPr lang="en-US" dirty="0">
                          <a:solidFill>
                            <a:schemeClr val="tx1"/>
                          </a:solidFill>
                        </a:rPr>
                        <a:t>Up to You</a:t>
                      </a:r>
                    </a:p>
                  </a:txBody>
                  <a:tcPr>
                    <a:solidFill>
                      <a:srgbClr val="FF9999"/>
                    </a:solidFill>
                  </a:tcPr>
                </a:tc>
                <a:tc>
                  <a:txBody>
                    <a:bodyPr/>
                    <a:lstStyle/>
                    <a:p>
                      <a:pPr algn="r"/>
                      <a:r>
                        <a:rPr lang="en-US" dirty="0"/>
                        <a:t>A</a:t>
                      </a:r>
                    </a:p>
                  </a:txBody>
                  <a:tcPr>
                    <a:solidFill>
                      <a:srgbClr val="66FF33"/>
                    </a:solidFill>
                  </a:tcPr>
                </a:tc>
                <a:tc>
                  <a:txBody>
                    <a:bodyPr/>
                    <a:lstStyle/>
                    <a:p>
                      <a:pPr algn="r"/>
                      <a:r>
                        <a:rPr lang="en-US" dirty="0">
                          <a:solidFill>
                            <a:schemeClr val="tx1"/>
                          </a:solidFill>
                        </a:rPr>
                        <a:t>(L+B+I+T)/4</a:t>
                      </a:r>
                    </a:p>
                  </a:txBody>
                  <a:tcPr>
                    <a:solidFill>
                      <a:srgbClr val="FF9999"/>
                    </a:solidFill>
                  </a:tcPr>
                </a:tc>
                <a:extLst>
                  <a:ext uri="{0D108BD9-81ED-4DB2-BD59-A6C34878D82A}">
                    <a16:rowId xmlns:a16="http://schemas.microsoft.com/office/drawing/2014/main" val="4001853807"/>
                  </a:ext>
                </a:extLst>
              </a:tr>
              <a:tr h="370840">
                <a:tc>
                  <a:txBody>
                    <a:bodyPr/>
                    <a:lstStyle/>
                    <a:p>
                      <a:r>
                        <a:rPr lang="en-US" dirty="0"/>
                        <a:t>LinkedIn</a:t>
                      </a:r>
                    </a:p>
                  </a:txBody>
                  <a:tcPr/>
                </a:tc>
                <a:tc>
                  <a:txBody>
                    <a:bodyPr/>
                    <a:lstStyle/>
                    <a:p>
                      <a:pPr algn="r"/>
                      <a:r>
                        <a:rPr lang="en-US" dirty="0">
                          <a:solidFill>
                            <a:schemeClr val="tx1"/>
                          </a:solidFill>
                        </a:rPr>
                        <a:t>Up to You</a:t>
                      </a:r>
                    </a:p>
                  </a:txBody>
                  <a:tcPr>
                    <a:solidFill>
                      <a:srgbClr val="FF9999"/>
                    </a:solidFill>
                  </a:tcPr>
                </a:tc>
                <a:tc>
                  <a:txBody>
                    <a:bodyPr/>
                    <a:lstStyle/>
                    <a:p>
                      <a:pPr algn="r"/>
                      <a:r>
                        <a:rPr lang="en-US" dirty="0">
                          <a:solidFill>
                            <a:schemeClr val="tx1"/>
                          </a:solidFill>
                        </a:rPr>
                        <a:t>Up to You</a:t>
                      </a:r>
                    </a:p>
                  </a:txBody>
                  <a:tcPr>
                    <a:solidFill>
                      <a:srgbClr val="FF9999"/>
                    </a:solidFill>
                  </a:tcPr>
                </a:tc>
                <a:tc>
                  <a:txBody>
                    <a:bodyPr/>
                    <a:lstStyle/>
                    <a:p>
                      <a:pPr algn="r"/>
                      <a:r>
                        <a:rPr lang="en-US" dirty="0">
                          <a:solidFill>
                            <a:schemeClr val="tx1"/>
                          </a:solidFill>
                        </a:rPr>
                        <a:t>Up to You</a:t>
                      </a:r>
                    </a:p>
                  </a:txBody>
                  <a:tcPr>
                    <a:solidFill>
                      <a:srgbClr val="FF9999"/>
                    </a:solidFill>
                  </a:tcPr>
                </a:tc>
                <a:tc>
                  <a:txBody>
                    <a:bodyPr/>
                    <a:lstStyle/>
                    <a:p>
                      <a:pPr algn="r"/>
                      <a:r>
                        <a:rPr lang="en-US" dirty="0"/>
                        <a:t>A</a:t>
                      </a:r>
                    </a:p>
                  </a:txBody>
                  <a:tcPr>
                    <a:solidFill>
                      <a:srgbClr val="66FF33"/>
                    </a:solidFill>
                  </a:tcPr>
                </a:tc>
                <a:tc>
                  <a:txBody>
                    <a:bodyPr/>
                    <a:lstStyle/>
                    <a:p>
                      <a:pPr algn="r"/>
                      <a:r>
                        <a:rPr lang="en-US" dirty="0">
                          <a:solidFill>
                            <a:schemeClr val="tx1"/>
                          </a:solidFill>
                        </a:rPr>
                        <a:t>(L+B+I+T)/4</a:t>
                      </a:r>
                    </a:p>
                  </a:txBody>
                  <a:tcPr>
                    <a:solidFill>
                      <a:srgbClr val="FF9999"/>
                    </a:solidFill>
                  </a:tcPr>
                </a:tc>
                <a:extLst>
                  <a:ext uri="{0D108BD9-81ED-4DB2-BD59-A6C34878D82A}">
                    <a16:rowId xmlns:a16="http://schemas.microsoft.com/office/drawing/2014/main" val="3930257306"/>
                  </a:ext>
                </a:extLst>
              </a:tr>
              <a:tr h="370840">
                <a:tc>
                  <a:txBody>
                    <a:bodyPr/>
                    <a:lstStyle/>
                    <a:p>
                      <a:r>
                        <a:rPr lang="en-US" dirty="0"/>
                        <a:t>Interview</a:t>
                      </a:r>
                    </a:p>
                  </a:txBody>
                  <a:tcPr/>
                </a:tc>
                <a:tc>
                  <a:txBody>
                    <a:bodyPr/>
                    <a:lstStyle/>
                    <a:p>
                      <a:pPr algn="r"/>
                      <a:r>
                        <a:rPr lang="en-US" dirty="0"/>
                        <a:t>Q&amp;A</a:t>
                      </a:r>
                    </a:p>
                  </a:txBody>
                  <a:tcPr>
                    <a:solidFill>
                      <a:srgbClr val="FFFF0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Q&amp;A</a:t>
                      </a:r>
                    </a:p>
                  </a:txBody>
                  <a:tcPr>
                    <a:solidFill>
                      <a:srgbClr val="FFFF0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t>Q&amp;A</a:t>
                      </a:r>
                    </a:p>
                  </a:txBody>
                  <a:tcPr>
                    <a:solidFill>
                      <a:srgbClr val="FFFF00"/>
                    </a:solidFill>
                  </a:tcPr>
                </a:tc>
                <a:tc>
                  <a:txBody>
                    <a:bodyPr/>
                    <a:lstStyle/>
                    <a:p>
                      <a:pPr algn="r"/>
                      <a:r>
                        <a:rPr lang="en-US" dirty="0"/>
                        <a:t>A</a:t>
                      </a:r>
                    </a:p>
                  </a:txBody>
                  <a:tcPr>
                    <a:solidFill>
                      <a:srgbClr val="66FF33"/>
                    </a:solidFill>
                  </a:tcPr>
                </a:tc>
                <a:tc>
                  <a:txBody>
                    <a:bodyPr/>
                    <a:lstStyle/>
                    <a:p>
                      <a:pPr algn="r"/>
                      <a:r>
                        <a:rPr lang="en-US" dirty="0">
                          <a:solidFill>
                            <a:schemeClr val="tx1"/>
                          </a:solidFill>
                        </a:rPr>
                        <a:t>(L+B+I+T)/4</a:t>
                      </a:r>
                    </a:p>
                  </a:txBody>
                  <a:tcPr>
                    <a:solidFill>
                      <a:srgbClr val="FFFF00"/>
                    </a:solidFill>
                  </a:tcPr>
                </a:tc>
                <a:extLst>
                  <a:ext uri="{0D108BD9-81ED-4DB2-BD59-A6C34878D82A}">
                    <a16:rowId xmlns:a16="http://schemas.microsoft.com/office/drawing/2014/main" val="373522429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07FE26FB-5F41-2C99-0400-60D6FD81BAFE}"/>
              </a:ext>
            </a:extLst>
          </p:cNvPr>
          <p:cNvSpPr>
            <a:spLocks noGrp="1" noChangeArrowheads="1"/>
          </p:cNvSpPr>
          <p:nvPr>
            <p:ph type="title"/>
          </p:nvPr>
        </p:nvSpPr>
        <p:spPr/>
        <p:txBody>
          <a:bodyPr/>
          <a:lstStyle/>
          <a:p>
            <a:r>
              <a:rPr lang="en-US" altLang="en-US" dirty="0"/>
              <a:t>You Probably Have Highlights Across LBIT for Your Job Hunt</a:t>
            </a:r>
          </a:p>
        </p:txBody>
      </p:sp>
      <p:sp>
        <p:nvSpPr>
          <p:cNvPr id="50179" name="Content Placeholder 2">
            <a:extLst>
              <a:ext uri="{FF2B5EF4-FFF2-40B4-BE49-F238E27FC236}">
                <a16:creationId xmlns:a16="http://schemas.microsoft.com/office/drawing/2014/main" id="{88430702-B47E-5A13-46DA-1465A9AAF721}"/>
              </a:ext>
            </a:extLst>
          </p:cNvPr>
          <p:cNvSpPr>
            <a:spLocks noGrp="1" noChangeArrowheads="1"/>
          </p:cNvSpPr>
          <p:nvPr>
            <p:ph idx="1"/>
          </p:nvPr>
        </p:nvSpPr>
        <p:spPr>
          <a:xfrm>
            <a:off x="203200" y="762000"/>
            <a:ext cx="11684000" cy="5257800"/>
          </a:xfrm>
        </p:spPr>
        <p:txBody>
          <a:bodyPr/>
          <a:lstStyle/>
          <a:p>
            <a:pPr lvl="1"/>
            <a:r>
              <a:rPr lang="en-US" altLang="en-US" sz="2000" dirty="0"/>
              <a:t>Leadership</a:t>
            </a:r>
          </a:p>
          <a:p>
            <a:pPr lvl="2"/>
            <a:r>
              <a:rPr lang="en-US" altLang="en-US" sz="1600" dirty="0">
                <a:solidFill>
                  <a:srgbClr val="FF0000"/>
                </a:solidFill>
              </a:rPr>
              <a:t>Mentoring/Tutoring</a:t>
            </a:r>
          </a:p>
          <a:p>
            <a:pPr lvl="2"/>
            <a:r>
              <a:rPr lang="en-US" altLang="en-US" sz="1600" dirty="0"/>
              <a:t>Undergrad Research Projects</a:t>
            </a:r>
          </a:p>
          <a:p>
            <a:pPr lvl="2"/>
            <a:r>
              <a:rPr lang="en-US" altLang="en-US" sz="1600" dirty="0"/>
              <a:t>Team lead in Extracurricular</a:t>
            </a:r>
          </a:p>
          <a:p>
            <a:pPr lvl="2"/>
            <a:r>
              <a:rPr lang="en-US" altLang="en-US" sz="1600" dirty="0">
                <a:solidFill>
                  <a:srgbClr val="0070C0"/>
                </a:solidFill>
              </a:rPr>
              <a:t>Volunteer in Education Outreach (</a:t>
            </a:r>
            <a:r>
              <a:rPr lang="en-US" sz="1600" dirty="0"/>
              <a:t>e.g.,</a:t>
            </a:r>
            <a:r>
              <a:rPr lang="en-US" altLang="en-US" sz="1600" dirty="0">
                <a:solidFill>
                  <a:srgbClr val="0070C0"/>
                </a:solidFill>
              </a:rPr>
              <a:t> Junior Achievement Finance Park, JA-in-a-Day)</a:t>
            </a:r>
          </a:p>
          <a:p>
            <a:pPr lvl="1"/>
            <a:r>
              <a:rPr lang="en-US" altLang="en-US" sz="2000" dirty="0"/>
              <a:t>Business</a:t>
            </a:r>
          </a:p>
          <a:p>
            <a:pPr lvl="2"/>
            <a:r>
              <a:rPr lang="en-US" altLang="en-US" sz="1600" dirty="0"/>
              <a:t>Internships/Co-op</a:t>
            </a:r>
          </a:p>
          <a:p>
            <a:pPr lvl="2"/>
            <a:r>
              <a:rPr lang="en-US" altLang="en-US" sz="1600" dirty="0"/>
              <a:t>Active in a Professional Organization (e.g., AIChE, and not just paying dues!)</a:t>
            </a:r>
          </a:p>
          <a:p>
            <a:pPr lvl="2"/>
            <a:r>
              <a:rPr lang="en-US" altLang="en-US" sz="1600" dirty="0"/>
              <a:t>Interviewing Workshops, Researching Employers</a:t>
            </a:r>
          </a:p>
          <a:p>
            <a:pPr lvl="1"/>
            <a:r>
              <a:rPr lang="en-US" altLang="en-US" sz="2000" dirty="0"/>
              <a:t>Interpersonal</a:t>
            </a:r>
          </a:p>
          <a:p>
            <a:pPr lvl="2"/>
            <a:r>
              <a:rPr lang="en-US" altLang="en-US" sz="1600" dirty="0">
                <a:solidFill>
                  <a:srgbClr val="FF0000"/>
                </a:solidFill>
              </a:rPr>
              <a:t>Mentoring/Tutoring</a:t>
            </a:r>
          </a:p>
          <a:p>
            <a:pPr lvl="2"/>
            <a:r>
              <a:rPr lang="en-US" altLang="en-US" sz="1600" dirty="0"/>
              <a:t>Group Projects</a:t>
            </a:r>
          </a:p>
          <a:p>
            <a:pPr lvl="2"/>
            <a:r>
              <a:rPr lang="en-US" altLang="en-US" sz="1600" dirty="0"/>
              <a:t>Team/Group Extracurricular Activities</a:t>
            </a:r>
          </a:p>
          <a:p>
            <a:pPr lvl="2"/>
            <a:r>
              <a:rPr lang="en-US" altLang="en-US" sz="1600" dirty="0">
                <a:solidFill>
                  <a:srgbClr val="0070C0"/>
                </a:solidFill>
              </a:rPr>
              <a:t>Volunteer in Outreach</a:t>
            </a:r>
          </a:p>
          <a:p>
            <a:pPr lvl="1"/>
            <a:r>
              <a:rPr lang="en-US" altLang="en-US" sz="2000" dirty="0"/>
              <a:t>Technical</a:t>
            </a:r>
          </a:p>
          <a:p>
            <a:pPr lvl="2"/>
            <a:r>
              <a:rPr lang="en-US" altLang="en-US" sz="1600" dirty="0">
                <a:solidFill>
                  <a:srgbClr val="FF0000"/>
                </a:solidFill>
              </a:rPr>
              <a:t>Mentoring/Tutoring</a:t>
            </a:r>
          </a:p>
          <a:p>
            <a:pPr lvl="2"/>
            <a:r>
              <a:rPr lang="en-US" altLang="en-US" sz="1600" dirty="0"/>
              <a:t>Undergrad Research Projects</a:t>
            </a:r>
            <a:endParaRPr lang="en-US" altLang="en-US" sz="1600" dirty="0">
              <a:solidFill>
                <a:srgbClr val="FF0000"/>
              </a:solidFill>
            </a:endParaRPr>
          </a:p>
          <a:p>
            <a:pPr lvl="2"/>
            <a:r>
              <a:rPr lang="en-US" altLang="en-US" sz="1600" dirty="0"/>
              <a:t>Technical Electives</a:t>
            </a:r>
          </a:p>
          <a:p>
            <a:pPr lvl="2"/>
            <a:r>
              <a:rPr lang="en-US" altLang="en-US" sz="1600" dirty="0"/>
              <a:t>Base Engineering Curriculum</a:t>
            </a:r>
          </a:p>
          <a:p>
            <a:pPr lvl="2"/>
            <a:endParaRPr lang="en-US" altLang="en-US" sz="1600" dirty="0"/>
          </a:p>
          <a:p>
            <a:endParaRPr lang="en-US" altLang="en-US" sz="2400" dirty="0"/>
          </a:p>
        </p:txBody>
      </p:sp>
      <p:sp>
        <p:nvSpPr>
          <p:cNvPr id="50180" name="Slide Number Placeholder 3">
            <a:extLst>
              <a:ext uri="{FF2B5EF4-FFF2-40B4-BE49-F238E27FC236}">
                <a16:creationId xmlns:a16="http://schemas.microsoft.com/office/drawing/2014/main" id="{88DCFCC0-EB75-5F11-14FF-8C124D5EFA5F}"/>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D7A2058-582F-4325-8DB4-3A4B5D0EDEF1}" type="slidenum">
              <a:rPr lang="en-US" altLang="en-US" sz="1400" smtClean="0"/>
              <a:pPr>
                <a:spcBef>
                  <a:spcPct val="0"/>
                </a:spcBef>
                <a:buFontTx/>
                <a:buNone/>
              </a:pPr>
              <a:t>7</a:t>
            </a:fld>
            <a:endParaRPr lang="en-US" altLang="en-US" sz="1400"/>
          </a:p>
        </p:txBody>
      </p:sp>
      <p:sp>
        <p:nvSpPr>
          <p:cNvPr id="5" name="TextBox 4">
            <a:extLst>
              <a:ext uri="{FF2B5EF4-FFF2-40B4-BE49-F238E27FC236}">
                <a16:creationId xmlns:a16="http://schemas.microsoft.com/office/drawing/2014/main" id="{4300FF7C-406F-F171-62B1-FE3D2314C2B1}"/>
              </a:ext>
            </a:extLst>
          </p:cNvPr>
          <p:cNvSpPr txBox="1"/>
          <p:nvPr/>
        </p:nvSpPr>
        <p:spPr>
          <a:xfrm>
            <a:off x="7315200" y="3771535"/>
            <a:ext cx="4749800" cy="1938992"/>
          </a:xfrm>
          <a:prstGeom prst="rect">
            <a:avLst/>
          </a:prstGeom>
          <a:solidFill>
            <a:schemeClr val="bg1">
              <a:lumMod val="85000"/>
            </a:schemeClr>
          </a:solidFill>
        </p:spPr>
        <p:txBody>
          <a:bodyPr>
            <a:spAutoFit/>
          </a:bodyPr>
          <a:lstStyle/>
          <a:p>
            <a:pPr>
              <a:defRPr/>
            </a:pPr>
            <a:r>
              <a:rPr lang="en-US" sz="2000" dirty="0">
                <a:latin typeface="+mj-lt"/>
              </a:rPr>
              <a:t>Many activities develop more than one dimension at the same time. Those are the ones to feature on your resume.</a:t>
            </a:r>
          </a:p>
          <a:p>
            <a:pPr>
              <a:defRPr/>
            </a:pPr>
            <a:endParaRPr lang="en-US" sz="2000" dirty="0">
              <a:latin typeface="+mj-lt"/>
            </a:endParaRPr>
          </a:p>
          <a:p>
            <a:pPr>
              <a:defRPr/>
            </a:pPr>
            <a:endParaRPr lang="en-US" sz="2000" dirty="0">
              <a:latin typeface="+mj-lt"/>
            </a:endParaRPr>
          </a:p>
          <a:p>
            <a:pPr>
              <a:defRPr/>
            </a:pPr>
            <a:endParaRPr lang="en-US" sz="2000" dirty="0">
              <a:latin typeface="+mj-lt"/>
            </a:endParaRPr>
          </a:p>
        </p:txBody>
      </p:sp>
      <p:sp>
        <p:nvSpPr>
          <p:cNvPr id="50181" name="Wiki Link"/>
          <p:cNvSpPr txBox="1"/>
          <p:nvPr/>
        </p:nvSpPr>
        <p:spPr>
          <a:xfrm>
            <a:off x="152400" y="6532272"/>
            <a:ext cx="9326880" cy="402336"/>
          </a:xfrm>
          <a:prstGeom prst="rect">
            <a:avLst/>
          </a:prstGeom>
          <a:noFill/>
        </p:spPr>
        <p:txBody>
          <a:bodyPr wrap="none">
            <a:spAutoFit/>
          </a:bodyPr>
          <a:lstStyle/>
          <a:p>
            <a:pPr algn="l"/>
            <a:r>
              <a:rPr sz="2000" dirty="0">
                <a:latin typeface="Calibri"/>
                <a:hlinkClick r:id="rId2"/>
              </a:rPr>
              <a:t>Extracurriculars · second-hand-tigers/</a:t>
            </a:r>
            <a:r>
              <a:rPr sz="2000" dirty="0" err="1">
                <a:latin typeface="Calibri"/>
                <a:hlinkClick r:id="rId2"/>
              </a:rPr>
              <a:t>badocter</a:t>
            </a:r>
            <a:r>
              <a:rPr sz="2000" dirty="0">
                <a:latin typeface="Calibri"/>
                <a:hlinkClick r:id="rId2"/>
              </a:rPr>
              <a:t>-career-learnings Wiki</a:t>
            </a:r>
          </a:p>
        </p:txBody>
      </p:sp>
      <p:sp>
        <p:nvSpPr>
          <p:cNvPr id="29" name="Star: 5 Points 28">
            <a:extLst>
              <a:ext uri="{FF2B5EF4-FFF2-40B4-BE49-F238E27FC236}">
                <a16:creationId xmlns:a16="http://schemas.microsoft.com/office/drawing/2014/main" id="{BBAFF7C3-1AEA-7082-E626-73527F7B97FD}"/>
              </a:ext>
            </a:extLst>
          </p:cNvPr>
          <p:cNvSpPr/>
          <p:nvPr/>
        </p:nvSpPr>
        <p:spPr bwMode="auto">
          <a:xfrm>
            <a:off x="1143000" y="1165670"/>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31" name="Star: 5 Points 30">
            <a:extLst>
              <a:ext uri="{FF2B5EF4-FFF2-40B4-BE49-F238E27FC236}">
                <a16:creationId xmlns:a16="http://schemas.microsoft.com/office/drawing/2014/main" id="{90421203-1654-8055-B221-6BA77343B643}"/>
              </a:ext>
            </a:extLst>
          </p:cNvPr>
          <p:cNvSpPr/>
          <p:nvPr/>
        </p:nvSpPr>
        <p:spPr bwMode="auto">
          <a:xfrm>
            <a:off x="1143000" y="1432370"/>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33" name="Star: 5 Points 32">
            <a:extLst>
              <a:ext uri="{FF2B5EF4-FFF2-40B4-BE49-F238E27FC236}">
                <a16:creationId xmlns:a16="http://schemas.microsoft.com/office/drawing/2014/main" id="{E961EA6A-81B1-664C-9470-27CE76088013}"/>
              </a:ext>
            </a:extLst>
          </p:cNvPr>
          <p:cNvSpPr/>
          <p:nvPr/>
        </p:nvSpPr>
        <p:spPr bwMode="auto">
          <a:xfrm>
            <a:off x="1143000" y="1735794"/>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35" name="Star: 5 Points 34">
            <a:extLst>
              <a:ext uri="{FF2B5EF4-FFF2-40B4-BE49-F238E27FC236}">
                <a16:creationId xmlns:a16="http://schemas.microsoft.com/office/drawing/2014/main" id="{158FFACF-26EE-6775-25AD-0812A0844317}"/>
              </a:ext>
            </a:extLst>
          </p:cNvPr>
          <p:cNvSpPr/>
          <p:nvPr/>
        </p:nvSpPr>
        <p:spPr bwMode="auto">
          <a:xfrm>
            <a:off x="1143000" y="2023385"/>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37" name="Star: 5 Points 36">
            <a:extLst>
              <a:ext uri="{FF2B5EF4-FFF2-40B4-BE49-F238E27FC236}">
                <a16:creationId xmlns:a16="http://schemas.microsoft.com/office/drawing/2014/main" id="{C96D7322-A380-2C11-61F7-391B98E158F7}"/>
              </a:ext>
            </a:extLst>
          </p:cNvPr>
          <p:cNvSpPr/>
          <p:nvPr/>
        </p:nvSpPr>
        <p:spPr bwMode="auto">
          <a:xfrm>
            <a:off x="1143000" y="5486662"/>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38" name="Star: 5 Points 37">
            <a:extLst>
              <a:ext uri="{FF2B5EF4-FFF2-40B4-BE49-F238E27FC236}">
                <a16:creationId xmlns:a16="http://schemas.microsoft.com/office/drawing/2014/main" id="{D0FFB342-CC89-5787-061A-4A394F16389E}"/>
              </a:ext>
            </a:extLst>
          </p:cNvPr>
          <p:cNvSpPr/>
          <p:nvPr/>
        </p:nvSpPr>
        <p:spPr bwMode="auto">
          <a:xfrm>
            <a:off x="1143000" y="2705100"/>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40" name="Star: 5 Points 39">
            <a:extLst>
              <a:ext uri="{FF2B5EF4-FFF2-40B4-BE49-F238E27FC236}">
                <a16:creationId xmlns:a16="http://schemas.microsoft.com/office/drawing/2014/main" id="{2AECB373-6DC4-7235-8CC6-E111CD9951B4}"/>
              </a:ext>
            </a:extLst>
          </p:cNvPr>
          <p:cNvSpPr/>
          <p:nvPr/>
        </p:nvSpPr>
        <p:spPr bwMode="auto">
          <a:xfrm>
            <a:off x="1143000" y="2996111"/>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42" name="Star: 5 Points 41">
            <a:extLst>
              <a:ext uri="{FF2B5EF4-FFF2-40B4-BE49-F238E27FC236}">
                <a16:creationId xmlns:a16="http://schemas.microsoft.com/office/drawing/2014/main" id="{C97A6834-0623-8AFD-74AC-1E2FD2E22BCC}"/>
              </a:ext>
            </a:extLst>
          </p:cNvPr>
          <p:cNvSpPr/>
          <p:nvPr/>
        </p:nvSpPr>
        <p:spPr bwMode="auto">
          <a:xfrm>
            <a:off x="1143000" y="4545238"/>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44" name="Star: 5 Points 43">
            <a:extLst>
              <a:ext uri="{FF2B5EF4-FFF2-40B4-BE49-F238E27FC236}">
                <a16:creationId xmlns:a16="http://schemas.microsoft.com/office/drawing/2014/main" id="{DFEB029D-C6DD-1A00-3B08-6D68AE8714D1}"/>
              </a:ext>
            </a:extLst>
          </p:cNvPr>
          <p:cNvSpPr/>
          <p:nvPr/>
        </p:nvSpPr>
        <p:spPr bwMode="auto">
          <a:xfrm>
            <a:off x="1143000" y="3934822"/>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46" name="Star: 5 Points 45">
            <a:extLst>
              <a:ext uri="{FF2B5EF4-FFF2-40B4-BE49-F238E27FC236}">
                <a16:creationId xmlns:a16="http://schemas.microsoft.com/office/drawing/2014/main" id="{74C284BC-8C02-78D0-1F2D-B4593275AAEA}"/>
              </a:ext>
            </a:extLst>
          </p:cNvPr>
          <p:cNvSpPr/>
          <p:nvPr/>
        </p:nvSpPr>
        <p:spPr bwMode="auto">
          <a:xfrm>
            <a:off x="1143000" y="4240030"/>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48" name="Star: 5 Points 47">
            <a:extLst>
              <a:ext uri="{FF2B5EF4-FFF2-40B4-BE49-F238E27FC236}">
                <a16:creationId xmlns:a16="http://schemas.microsoft.com/office/drawing/2014/main" id="{CF0C9F2F-94DA-F50E-2F32-F6D47D7859AF}"/>
              </a:ext>
            </a:extLst>
          </p:cNvPr>
          <p:cNvSpPr/>
          <p:nvPr/>
        </p:nvSpPr>
        <p:spPr bwMode="auto">
          <a:xfrm>
            <a:off x="1147948" y="4838962"/>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52" name="Star: 5 Points 51">
            <a:extLst>
              <a:ext uri="{FF2B5EF4-FFF2-40B4-BE49-F238E27FC236}">
                <a16:creationId xmlns:a16="http://schemas.microsoft.com/office/drawing/2014/main" id="{DF7DF046-3F19-6098-B8DC-531ED8F6459E}"/>
              </a:ext>
            </a:extLst>
          </p:cNvPr>
          <p:cNvSpPr/>
          <p:nvPr/>
        </p:nvSpPr>
        <p:spPr bwMode="auto">
          <a:xfrm>
            <a:off x="7391401" y="5063551"/>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
        <p:nvSpPr>
          <p:cNvPr id="53" name="TextBox 52">
            <a:extLst>
              <a:ext uri="{FF2B5EF4-FFF2-40B4-BE49-F238E27FC236}">
                <a16:creationId xmlns:a16="http://schemas.microsoft.com/office/drawing/2014/main" id="{71DF1296-9C5B-3A18-D7B1-EA4ADD40C00C}"/>
              </a:ext>
            </a:extLst>
          </p:cNvPr>
          <p:cNvSpPr txBox="1"/>
          <p:nvPr/>
        </p:nvSpPr>
        <p:spPr>
          <a:xfrm>
            <a:off x="7620001" y="4991362"/>
            <a:ext cx="4343400" cy="707886"/>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Can frame full LBIT narrative for Resume/LinkedIn/Interview</a:t>
            </a:r>
          </a:p>
        </p:txBody>
      </p:sp>
      <p:sp>
        <p:nvSpPr>
          <p:cNvPr id="55" name="Star: 5 Points 54">
            <a:extLst>
              <a:ext uri="{FF2B5EF4-FFF2-40B4-BE49-F238E27FC236}">
                <a16:creationId xmlns:a16="http://schemas.microsoft.com/office/drawing/2014/main" id="{995A63BF-D345-C23C-9FD4-A70E9E0B740F}"/>
              </a:ext>
            </a:extLst>
          </p:cNvPr>
          <p:cNvSpPr/>
          <p:nvPr/>
        </p:nvSpPr>
        <p:spPr bwMode="auto">
          <a:xfrm>
            <a:off x="1143000" y="5791200"/>
            <a:ext cx="228600" cy="228600"/>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200" b="0" i="0" u="none" strike="noStrike" cap="none" normalizeH="0" baseline="0">
              <a:ln>
                <a:noFill/>
              </a:ln>
              <a:solidFill>
                <a:schemeClr val="tx1"/>
              </a:solidFill>
              <a:effectLst/>
              <a:latin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Resume: One Bullet, Four Dimensions</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8</a:t>
            </a:fld>
            <a:endParaRPr lang="en-US" altLang="en-US" sz="1400"/>
          </a:p>
        </p:txBody>
      </p:sp>
      <p:graphicFrame>
        <p:nvGraphicFramePr>
          <p:cNvPr id="51205" name="Bullet Formula"/>
          <p:cNvGraphicFramePr>
            <a:graphicFrameLocks noGrp="1"/>
          </p:cNvGraphicFramePr>
          <p:nvPr>
            <p:extLst>
              <p:ext uri="{D42A27DB-BD31-4B8C-83A1-F6EECF244321}">
                <p14:modId xmlns:p14="http://schemas.microsoft.com/office/powerpoint/2010/main" val="1635508447"/>
              </p:ext>
            </p:extLst>
          </p:nvPr>
        </p:nvGraphicFramePr>
        <p:xfrm>
          <a:off x="371706" y="3352800"/>
          <a:ext cx="11430000" cy="2578608"/>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675120">
                  <a:extLst>
                    <a:ext uri="{9D8B030D-6E8A-4147-A177-3AD203B41FA5}">
                      <a16:colId xmlns:a16="http://schemas.microsoft.com/office/drawing/2014/main" val="20002"/>
                    </a:ext>
                  </a:extLst>
                </a:gridCol>
              </a:tblGrid>
              <a:tr h="448056">
                <a:tc>
                  <a:txBody>
                    <a:bodyPr/>
                    <a:lstStyle/>
                    <a:p>
                      <a:r>
                        <a:rPr sz="1600" b="1" i="0"/>
                        <a:t>Dimension</a:t>
                      </a:r>
                    </a:p>
                  </a:txBody>
                  <a:tcPr marL="73152" marR="73152" marT="36576" marB="36576" anchor="ctr"/>
                </a:tc>
                <a:tc>
                  <a:txBody>
                    <a:bodyPr/>
                    <a:lstStyle/>
                    <a:p>
                      <a:r>
                        <a:rPr sz="1600" b="1" i="0"/>
                        <a:t>Ask yourself</a:t>
                      </a:r>
                    </a:p>
                  </a:txBody>
                  <a:tcPr marL="73152" marR="73152" marT="36576" marB="36576" anchor="ctr"/>
                </a:tc>
                <a:tc>
                  <a:txBody>
                    <a:bodyPr/>
                    <a:lstStyle/>
                    <a:p>
                      <a:r>
                        <a:rPr sz="1600" b="1" i="0"/>
                        <a:t>In the example</a:t>
                      </a:r>
                    </a:p>
                  </a:txBody>
                  <a:tcPr marL="73152" marR="73152" marT="36576" marB="36576" anchor="ctr"/>
                </a:tc>
                <a:extLst>
                  <a:ext uri="{0D108BD9-81ED-4DB2-BD59-A6C34878D82A}">
                    <a16:rowId xmlns:a16="http://schemas.microsoft.com/office/drawing/2014/main" val="10000"/>
                  </a:ext>
                </a:extLst>
              </a:tr>
              <a:tr h="448056">
                <a:tc>
                  <a:txBody>
                    <a:bodyPr/>
                    <a:lstStyle/>
                    <a:p>
                      <a:r>
                        <a:rPr sz="1600" b="1" i="0">
                          <a:solidFill>
                            <a:srgbClr val="FF0000"/>
                          </a:solidFill>
                        </a:rPr>
                        <a:t>Technical</a:t>
                      </a:r>
                    </a:p>
                  </a:txBody>
                  <a:tcPr marL="73152" marR="73152" marT="36576" marB="36576" anchor="ctr"/>
                </a:tc>
                <a:tc>
                  <a:txBody>
                    <a:bodyPr/>
                    <a:lstStyle/>
                    <a:p>
                      <a:r>
                        <a:rPr sz="1600" b="0" i="0">
                          <a:solidFill>
                            <a:srgbClr val="000000"/>
                          </a:solidFill>
                        </a:rPr>
                        <a:t>What did you do?</a:t>
                      </a:r>
                    </a:p>
                  </a:txBody>
                  <a:tcPr marL="73152" marR="73152" marT="36576" marB="36576" anchor="ctr"/>
                </a:tc>
                <a:tc>
                  <a:txBody>
                    <a:bodyPr/>
                    <a:lstStyle/>
                    <a:p>
                      <a:r>
                        <a:rPr sz="1600" b="0" i="0" dirty="0">
                          <a:solidFill>
                            <a:srgbClr val="000000"/>
                          </a:solidFill>
                        </a:rPr>
                        <a:t>Automated a daily data analysis process</a:t>
                      </a:r>
                    </a:p>
                  </a:txBody>
                  <a:tcPr marL="73152" marR="73152" marT="36576" marB="36576" anchor="ctr"/>
                </a:tc>
                <a:extLst>
                  <a:ext uri="{0D108BD9-81ED-4DB2-BD59-A6C34878D82A}">
                    <a16:rowId xmlns:a16="http://schemas.microsoft.com/office/drawing/2014/main" val="10001"/>
                  </a:ext>
                </a:extLst>
              </a:tr>
              <a:tr h="448056">
                <a:tc>
                  <a:txBody>
                    <a:bodyPr/>
                    <a:lstStyle/>
                    <a:p>
                      <a:r>
                        <a:rPr sz="1600" b="1" i="0">
                          <a:solidFill>
                            <a:srgbClr val="FF0000"/>
                          </a:solidFill>
                        </a:rPr>
                        <a:t>Business</a:t>
                      </a:r>
                    </a:p>
                  </a:txBody>
                  <a:tcPr marL="73152" marR="73152" marT="36576" marB="36576" anchor="ctr"/>
                </a:tc>
                <a:tc>
                  <a:txBody>
                    <a:bodyPr/>
                    <a:lstStyle/>
                    <a:p>
                      <a:r>
                        <a:rPr sz="1600" b="0" i="0">
                          <a:solidFill>
                            <a:srgbClr val="000000"/>
                          </a:solidFill>
                        </a:rPr>
                        <a:t>Why did it matter?</a:t>
                      </a:r>
                    </a:p>
                  </a:txBody>
                  <a:tcPr marL="73152" marR="73152" marT="36576" marB="36576" anchor="ctr"/>
                </a:tc>
                <a:tc>
                  <a:txBody>
                    <a:bodyPr/>
                    <a:lstStyle/>
                    <a:p>
                      <a:r>
                        <a:rPr sz="1600" b="0" i="0" dirty="0">
                          <a:solidFill>
                            <a:srgbClr val="000000"/>
                          </a:solidFill>
                        </a:rPr>
                        <a:t>Freed up ~5 hours/week</a:t>
                      </a:r>
                      <a:r>
                        <a:rPr lang="en-US" sz="1600" b="0" i="0" dirty="0">
                          <a:solidFill>
                            <a:srgbClr val="000000"/>
                          </a:solidFill>
                        </a:rPr>
                        <a:t> per application, </a:t>
                      </a:r>
                      <a:r>
                        <a:rPr sz="1600" b="0" i="0" dirty="0">
                          <a:solidFill>
                            <a:srgbClr val="000000"/>
                          </a:solidFill>
                        </a:rPr>
                        <a:t>eliminated errors</a:t>
                      </a:r>
                      <a:r>
                        <a:rPr lang="en-US" sz="1600" b="0" i="0" dirty="0">
                          <a:solidFill>
                            <a:srgbClr val="000000"/>
                          </a:solidFill>
                        </a:rPr>
                        <a:t>, and met end-user requirement for instant availability of analysis</a:t>
                      </a:r>
                      <a:endParaRPr sz="1600" b="0" i="0" dirty="0">
                        <a:solidFill>
                          <a:srgbClr val="000000"/>
                        </a:solidFill>
                      </a:endParaRPr>
                    </a:p>
                  </a:txBody>
                  <a:tcPr marL="73152" marR="73152" marT="36576" marB="36576" anchor="ctr"/>
                </a:tc>
                <a:extLst>
                  <a:ext uri="{0D108BD9-81ED-4DB2-BD59-A6C34878D82A}">
                    <a16:rowId xmlns:a16="http://schemas.microsoft.com/office/drawing/2014/main" val="10002"/>
                  </a:ext>
                </a:extLst>
              </a:tr>
              <a:tr h="448056">
                <a:tc>
                  <a:txBody>
                    <a:bodyPr/>
                    <a:lstStyle/>
                    <a:p>
                      <a:r>
                        <a:rPr sz="1600" b="1" i="0">
                          <a:solidFill>
                            <a:srgbClr val="FF0000"/>
                          </a:solidFill>
                        </a:rPr>
                        <a:t>Interpersonal</a:t>
                      </a:r>
                    </a:p>
                  </a:txBody>
                  <a:tcPr marL="73152" marR="73152" marT="36576" marB="36576" anchor="ctr"/>
                </a:tc>
                <a:tc>
                  <a:txBody>
                    <a:bodyPr/>
                    <a:lstStyle/>
                    <a:p>
                      <a:r>
                        <a:rPr sz="1600" b="0" i="0">
                          <a:solidFill>
                            <a:srgbClr val="000000"/>
                          </a:solidFill>
                        </a:rPr>
                        <a:t>Who did you work with?</a:t>
                      </a:r>
                    </a:p>
                  </a:txBody>
                  <a:tcPr marL="73152" marR="73152" marT="36576" marB="36576" anchor="ctr"/>
                </a:tc>
                <a:tc>
                  <a:txBody>
                    <a:bodyPr/>
                    <a:lstStyle/>
                    <a:p>
                      <a:r>
                        <a:rPr sz="1600" b="0" i="0">
                          <a:solidFill>
                            <a:srgbClr val="000000"/>
                          </a:solidFill>
                        </a:rPr>
                        <a:t>Partnered with a software developer and a system engineer to deploy the pilot</a:t>
                      </a:r>
                    </a:p>
                  </a:txBody>
                  <a:tcPr marL="73152" marR="73152" marT="36576" marB="36576" anchor="ctr"/>
                </a:tc>
                <a:extLst>
                  <a:ext uri="{0D108BD9-81ED-4DB2-BD59-A6C34878D82A}">
                    <a16:rowId xmlns:a16="http://schemas.microsoft.com/office/drawing/2014/main" val="10003"/>
                  </a:ext>
                </a:extLst>
              </a:tr>
              <a:tr h="448056">
                <a:tc>
                  <a:txBody>
                    <a:bodyPr/>
                    <a:lstStyle/>
                    <a:p>
                      <a:r>
                        <a:rPr sz="1600" b="1" i="0">
                          <a:solidFill>
                            <a:srgbClr val="FF0000"/>
                          </a:solidFill>
                        </a:rPr>
                        <a:t>Leadership</a:t>
                      </a:r>
                    </a:p>
                  </a:txBody>
                  <a:tcPr marL="73152" marR="73152" marT="36576" marB="36576" anchor="ctr"/>
                </a:tc>
                <a:tc>
                  <a:txBody>
                    <a:bodyPr/>
                    <a:lstStyle/>
                    <a:p>
                      <a:r>
                        <a:rPr sz="1600" b="0" i="0">
                          <a:solidFill>
                            <a:srgbClr val="000000"/>
                          </a:solidFill>
                        </a:rPr>
                        <a:t>How did you own it?</a:t>
                      </a:r>
                    </a:p>
                  </a:txBody>
                  <a:tcPr marL="73152" marR="73152" marT="36576" marB="36576" anchor="ctr"/>
                </a:tc>
                <a:tc>
                  <a:txBody>
                    <a:bodyPr/>
                    <a:lstStyle/>
                    <a:p>
                      <a:r>
                        <a:rPr sz="1600" b="0" i="0" dirty="0">
                          <a:solidFill>
                            <a:srgbClr val="000000"/>
                          </a:solidFill>
                        </a:rPr>
                        <a:t>Developed job handover playbook and led training</a:t>
                      </a:r>
                      <a:r>
                        <a:rPr lang="en-US" sz="1600" b="0" i="0" dirty="0">
                          <a:solidFill>
                            <a:srgbClr val="000000"/>
                          </a:solidFill>
                        </a:rPr>
                        <a:t> for company-wide rollout</a:t>
                      </a:r>
                      <a:endParaRPr sz="1600" b="0" i="0" dirty="0">
                        <a:solidFill>
                          <a:srgbClr val="000000"/>
                        </a:solidFill>
                      </a:endParaRPr>
                    </a:p>
                  </a:txBody>
                  <a:tcPr marL="73152" marR="73152" marT="36576" marB="36576" anchor="ctr"/>
                </a:tc>
                <a:extLst>
                  <a:ext uri="{0D108BD9-81ED-4DB2-BD59-A6C34878D82A}">
                    <a16:rowId xmlns:a16="http://schemas.microsoft.com/office/drawing/2014/main" val="10004"/>
                  </a:ext>
                </a:extLst>
              </a:tr>
            </a:tbl>
          </a:graphicData>
        </a:graphic>
      </p:graphicFrame>
      <p:sp>
        <p:nvSpPr>
          <p:cNvPr id="51206" name="Before Box"/>
          <p:cNvSpPr/>
          <p:nvPr/>
        </p:nvSpPr>
        <p:spPr>
          <a:xfrm>
            <a:off x="339227" y="888336"/>
            <a:ext cx="4572000" cy="2240280"/>
          </a:xfrm>
          <a:prstGeom prst="roundRect">
            <a:avLst>
              <a:gd name="adj" fmla="val 8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07" name="TextBox 51206"/>
          <p:cNvSpPr txBox="1"/>
          <p:nvPr/>
        </p:nvSpPr>
        <p:spPr>
          <a:xfrm>
            <a:off x="476387" y="979776"/>
            <a:ext cx="4297680" cy="2103120"/>
          </a:xfrm>
          <a:prstGeom prst="rect">
            <a:avLst/>
          </a:prstGeom>
          <a:noFill/>
        </p:spPr>
        <p:txBody>
          <a:bodyPr wrap="square" lIns="73152" tIns="73152" rIns="73152" bIns="73152" anchor="t">
            <a:spAutoFit/>
          </a:bodyPr>
          <a:lstStyle/>
          <a:p>
            <a:pPr>
              <a:spcAft>
                <a:spcPts val="1000"/>
              </a:spcAft>
            </a:pPr>
            <a:r>
              <a:rPr sz="1800" b="1" i="0">
                <a:solidFill>
                  <a:srgbClr val="FF0000"/>
                </a:solidFill>
                <a:latin typeface="Arial"/>
              </a:rPr>
              <a:t>Before: Technical only</a:t>
            </a:r>
          </a:p>
          <a:p>
            <a:pPr>
              <a:spcAft>
                <a:spcPts val="600"/>
              </a:spcAft>
            </a:pPr>
            <a:r>
              <a:rPr sz="1600" b="0" i="1">
                <a:solidFill>
                  <a:srgbClr val="000000"/>
                </a:solidFill>
                <a:latin typeface="Arial"/>
              </a:rPr>
              <a:t>Built a program to automate a manual data analysis process.</a:t>
            </a:r>
          </a:p>
        </p:txBody>
      </p:sp>
      <p:sp>
        <p:nvSpPr>
          <p:cNvPr id="51209" name="After Box"/>
          <p:cNvSpPr/>
          <p:nvPr/>
        </p:nvSpPr>
        <p:spPr>
          <a:xfrm>
            <a:off x="5597027" y="888336"/>
            <a:ext cx="6172200" cy="224028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0" name="TextBox 51209"/>
          <p:cNvSpPr txBox="1"/>
          <p:nvPr/>
        </p:nvSpPr>
        <p:spPr>
          <a:xfrm>
            <a:off x="5734187" y="979776"/>
            <a:ext cx="5897880" cy="2030299"/>
          </a:xfrm>
          <a:prstGeom prst="rect">
            <a:avLst/>
          </a:prstGeom>
          <a:noFill/>
        </p:spPr>
        <p:txBody>
          <a:bodyPr wrap="square" lIns="73152" tIns="73152" rIns="73152" bIns="73152" anchor="t">
            <a:spAutoFit/>
          </a:bodyPr>
          <a:lstStyle/>
          <a:p>
            <a:pPr>
              <a:spcAft>
                <a:spcPts val="1000"/>
              </a:spcAft>
            </a:pPr>
            <a:r>
              <a:rPr sz="1800" b="1" i="0" dirty="0">
                <a:solidFill>
                  <a:srgbClr val="007A5C"/>
                </a:solidFill>
                <a:latin typeface="Arial"/>
              </a:rPr>
              <a:t>After: all four</a:t>
            </a:r>
          </a:p>
          <a:p>
            <a:pPr>
              <a:spcAft>
                <a:spcPts val="600"/>
              </a:spcAft>
            </a:pPr>
            <a:r>
              <a:rPr sz="1600" b="0" i="1" dirty="0">
                <a:solidFill>
                  <a:srgbClr val="000000"/>
                </a:solidFill>
                <a:latin typeface="Arial"/>
              </a:rPr>
              <a:t>Automated daily data analysis process, freeing up ~5 hours/week </a:t>
            </a:r>
            <a:r>
              <a:rPr lang="en-US" sz="1600" b="0" i="1" dirty="0">
                <a:solidFill>
                  <a:srgbClr val="000000"/>
                </a:solidFill>
                <a:latin typeface="Arial"/>
              </a:rPr>
              <a:t>per application, </a:t>
            </a:r>
            <a:r>
              <a:rPr sz="1600" b="0" i="1" dirty="0">
                <a:solidFill>
                  <a:srgbClr val="000000"/>
                </a:solidFill>
                <a:latin typeface="Arial"/>
              </a:rPr>
              <a:t>eliminating errors</a:t>
            </a:r>
            <a:r>
              <a:rPr lang="en-US" sz="1600" b="0" i="1" dirty="0">
                <a:solidFill>
                  <a:srgbClr val="000000"/>
                </a:solidFill>
                <a:latin typeface="Arial"/>
              </a:rPr>
              <a:t>, and meeting end-user requirement for instant analysis availability</a:t>
            </a:r>
            <a:r>
              <a:rPr lang="en-US" sz="1600" i="1" dirty="0">
                <a:solidFill>
                  <a:srgbClr val="000000"/>
                </a:solidFill>
                <a:latin typeface="Arial"/>
              </a:rPr>
              <a:t>.</a:t>
            </a:r>
            <a:r>
              <a:rPr sz="1600" b="0" i="1" dirty="0">
                <a:solidFill>
                  <a:srgbClr val="000000"/>
                </a:solidFill>
                <a:latin typeface="Arial"/>
              </a:rPr>
              <a:t> </a:t>
            </a:r>
            <a:r>
              <a:rPr lang="en-US" sz="1600" i="1" dirty="0">
                <a:solidFill>
                  <a:srgbClr val="000000"/>
                </a:solidFill>
                <a:latin typeface="Arial"/>
              </a:rPr>
              <a:t>P</a:t>
            </a:r>
            <a:r>
              <a:rPr sz="1600" b="0" i="1" dirty="0">
                <a:solidFill>
                  <a:srgbClr val="000000"/>
                </a:solidFill>
                <a:latin typeface="Arial"/>
              </a:rPr>
              <a:t>artnered with a software developer and a system engineer to deploy the pilot; </a:t>
            </a:r>
            <a:r>
              <a:rPr lang="en-US" sz="1600" b="0" i="1" dirty="0">
                <a:solidFill>
                  <a:srgbClr val="000000"/>
                </a:solidFill>
                <a:latin typeface="Arial"/>
              </a:rPr>
              <a:t>developed</a:t>
            </a:r>
            <a:r>
              <a:rPr sz="1600" b="0" i="1" dirty="0">
                <a:solidFill>
                  <a:srgbClr val="000000"/>
                </a:solidFill>
                <a:latin typeface="Arial"/>
              </a:rPr>
              <a:t> job handover playbook and led training</a:t>
            </a:r>
            <a:r>
              <a:rPr lang="en-US" sz="1600" b="0" i="1" dirty="0">
                <a:solidFill>
                  <a:srgbClr val="000000"/>
                </a:solidFill>
                <a:latin typeface="Arial"/>
              </a:rPr>
              <a:t> for company-wide rollout.</a:t>
            </a:r>
            <a:endParaRPr sz="1600" b="0" i="1" dirty="0">
              <a:solidFill>
                <a:srgbClr val="000000"/>
              </a:solidFill>
              <a:latin typeface="Arial"/>
            </a:endParaRPr>
          </a:p>
        </p:txBody>
      </p:sp>
      <p:sp>
        <p:nvSpPr>
          <p:cNvPr id="51211" name="TextBox 51210"/>
          <p:cNvSpPr txBox="1"/>
          <p:nvPr/>
        </p:nvSpPr>
        <p:spPr>
          <a:xfrm>
            <a:off x="371706" y="5837699"/>
            <a:ext cx="11430000" cy="701731"/>
          </a:xfrm>
          <a:prstGeom prst="rect">
            <a:avLst/>
          </a:prstGeom>
          <a:noFill/>
        </p:spPr>
        <p:txBody>
          <a:bodyPr wrap="square" lIns="73152" tIns="73152" rIns="73152" bIns="73152" anchor="t">
            <a:spAutoFit/>
          </a:bodyPr>
          <a:lstStyle/>
          <a:p>
            <a:pPr>
              <a:spcAft>
                <a:spcPts val="600"/>
              </a:spcAft>
            </a:pPr>
            <a:r>
              <a:rPr sz="1800" b="0" i="0" dirty="0">
                <a:solidFill>
                  <a:srgbClr val="595959"/>
                </a:solidFill>
                <a:latin typeface="Arial"/>
              </a:rPr>
              <a:t>Use ownership verbs (automated, partnered, developed, led)</a:t>
            </a:r>
            <a:r>
              <a:rPr lang="en-US" sz="1800" b="0" i="0" dirty="0">
                <a:solidFill>
                  <a:srgbClr val="595959"/>
                </a:solidFill>
                <a:latin typeface="Arial"/>
              </a:rPr>
              <a:t>, </a:t>
            </a:r>
            <a:r>
              <a:rPr sz="1800" b="0" i="0" dirty="0">
                <a:solidFill>
                  <a:srgbClr val="595959"/>
                </a:solidFill>
                <a:latin typeface="Arial"/>
              </a:rPr>
              <a:t>not "helped with." Across the whole resume, don't leave an all-Technical picture.</a:t>
            </a:r>
          </a:p>
        </p:txBody>
      </p:sp>
      <p:sp>
        <p:nvSpPr>
          <p:cNvPr id="51212" name="Wiki Link"/>
          <p:cNvSpPr txBox="1"/>
          <p:nvPr/>
        </p:nvSpPr>
        <p:spPr>
          <a:xfrm>
            <a:off x="301752" y="6428232"/>
            <a:ext cx="6861048" cy="402336"/>
          </a:xfrm>
          <a:prstGeom prst="rect">
            <a:avLst/>
          </a:prstGeom>
          <a:noFill/>
        </p:spPr>
        <p:txBody>
          <a:bodyPr wrap="square">
            <a:spAutoFit/>
          </a:bodyPr>
          <a:lstStyle/>
          <a:p>
            <a:pPr algn="l"/>
            <a:r>
              <a:rPr sz="2000">
                <a:latin typeface="Calibri"/>
                <a:hlinkClick r:id="rId3"/>
              </a:rPr>
              <a:t>Resumes · second-hand-tigers/badocter-career-learnings Wiki</a:t>
            </a:r>
          </a:p>
        </p:txBody>
      </p:sp>
      <p:sp>
        <p:nvSpPr>
          <p:cNvPr id="4" name="Right Arrow 51207">
            <a:extLst>
              <a:ext uri="{FF2B5EF4-FFF2-40B4-BE49-F238E27FC236}">
                <a16:creationId xmlns:a16="http://schemas.microsoft.com/office/drawing/2014/main" id="{5C7CFF72-DCDC-79E3-A7E7-180F94BCFF9C}"/>
              </a:ext>
            </a:extLst>
          </p:cNvPr>
          <p:cNvSpPr/>
          <p:nvPr/>
        </p:nvSpPr>
        <p:spPr>
          <a:xfrm rot="16200000">
            <a:off x="6711302" y="2982498"/>
            <a:ext cx="588202" cy="457200"/>
          </a:xfrm>
          <a:prstGeom prst="rightArrow">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Arrow 51207">
            <a:extLst>
              <a:ext uri="{FF2B5EF4-FFF2-40B4-BE49-F238E27FC236}">
                <a16:creationId xmlns:a16="http://schemas.microsoft.com/office/drawing/2014/main" id="{0C0CD15B-0F75-8E31-8D76-D18B9082CDB2}"/>
              </a:ext>
            </a:extLst>
          </p:cNvPr>
          <p:cNvSpPr/>
          <p:nvPr/>
        </p:nvSpPr>
        <p:spPr>
          <a:xfrm rot="5400000">
            <a:off x="2982499" y="2982499"/>
            <a:ext cx="588201" cy="457200"/>
          </a:xfrm>
          <a:prstGeom prst="rightArrow">
            <a:avLst/>
          </a:prstGeom>
          <a:solidFill>
            <a:schemeClr val="accent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LinkedIn: Every Profile Entry Is a Potential Probe</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9</a:t>
            </a:fld>
            <a:endParaRPr lang="en-US" altLang="en-US" sz="1400"/>
          </a:p>
        </p:txBody>
      </p:sp>
      <p:sp>
        <p:nvSpPr>
          <p:cNvPr id="51205" name="TextBox 51204"/>
          <p:cNvSpPr txBox="1"/>
          <p:nvPr/>
        </p:nvSpPr>
        <p:spPr>
          <a:xfrm>
            <a:off x="365760" y="868680"/>
            <a:ext cx="11430000" cy="1005840"/>
          </a:xfrm>
          <a:prstGeom prst="rect">
            <a:avLst/>
          </a:prstGeom>
          <a:noFill/>
        </p:spPr>
        <p:txBody>
          <a:bodyPr wrap="square" lIns="73152" tIns="73152" rIns="73152" bIns="73152" anchor="t">
            <a:spAutoFit/>
          </a:bodyPr>
          <a:lstStyle/>
          <a:p>
            <a:pPr marL="274320" indent="-274320">
              <a:spcAft>
                <a:spcPts val="400"/>
              </a:spcAft>
              <a:buChar char="•"/>
            </a:pPr>
            <a:r>
              <a:rPr sz="1600" b="0" i="0">
                <a:solidFill>
                  <a:srgbClr val="000000"/>
                </a:solidFill>
                <a:latin typeface="Arial"/>
              </a:rPr>
              <a:t>Interviewers may print your profile and go through it like your resume, looking for LBIT items to ask about</a:t>
            </a:r>
          </a:p>
          <a:p>
            <a:pPr marL="274320" indent="-274320">
              <a:spcAft>
                <a:spcPts val="600"/>
              </a:spcAft>
              <a:buChar char="•"/>
            </a:pPr>
            <a:r>
              <a:rPr sz="1600" b="0" i="0">
                <a:solidFill>
                  <a:srgbClr val="000000"/>
                </a:solidFill>
                <a:latin typeface="Arial"/>
              </a:rPr>
              <a:t>Endorsements don't confirm competency: don't list a skill you can't back up in the room with an LBIT narrative</a:t>
            </a:r>
          </a:p>
        </p:txBody>
      </p:sp>
      <p:sp>
        <p:nvSpPr>
          <p:cNvPr id="51206" name="TextBox 51205"/>
          <p:cNvSpPr txBox="1"/>
          <p:nvPr/>
        </p:nvSpPr>
        <p:spPr>
          <a:xfrm>
            <a:off x="365760" y="1965960"/>
            <a:ext cx="11430000" cy="365760"/>
          </a:xfrm>
          <a:prstGeom prst="rect">
            <a:avLst/>
          </a:prstGeom>
          <a:noFill/>
        </p:spPr>
        <p:txBody>
          <a:bodyPr wrap="square" lIns="73152" tIns="73152" rIns="73152" bIns="73152" anchor="t">
            <a:spAutoFit/>
          </a:bodyPr>
          <a:lstStyle/>
          <a:p>
            <a:pPr>
              <a:spcAft>
                <a:spcPts val="600"/>
              </a:spcAft>
            </a:pPr>
            <a:r>
              <a:rPr sz="1600" b="1" i="0">
                <a:solidFill>
                  <a:srgbClr val="000000"/>
                </a:solidFill>
                <a:latin typeface="Arial"/>
              </a:rPr>
              <a:t>Principal Process Control Engineer | Jan 2023 – Aug 2025 | Beaumont, Texas</a:t>
            </a:r>
          </a:p>
        </p:txBody>
      </p:sp>
      <p:sp>
        <p:nvSpPr>
          <p:cNvPr id="51207" name="Before Box"/>
          <p:cNvSpPr/>
          <p:nvPr/>
        </p:nvSpPr>
        <p:spPr>
          <a:xfrm>
            <a:off x="365760" y="2377440"/>
            <a:ext cx="3931920" cy="3291840"/>
          </a:xfrm>
          <a:prstGeom prst="roundRect">
            <a:avLst>
              <a:gd name="adj" fmla="val 8000"/>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08" name="TextBox 51207"/>
          <p:cNvSpPr txBox="1"/>
          <p:nvPr/>
        </p:nvSpPr>
        <p:spPr>
          <a:xfrm>
            <a:off x="502920" y="2468880"/>
            <a:ext cx="3657600" cy="3154680"/>
          </a:xfrm>
          <a:prstGeom prst="rect">
            <a:avLst/>
          </a:prstGeom>
          <a:noFill/>
        </p:spPr>
        <p:txBody>
          <a:bodyPr wrap="square" lIns="73152" tIns="73152" rIns="73152" bIns="73152" anchor="t">
            <a:spAutoFit/>
          </a:bodyPr>
          <a:lstStyle/>
          <a:p>
            <a:pPr>
              <a:spcAft>
                <a:spcPts val="1000"/>
              </a:spcAft>
            </a:pPr>
            <a:r>
              <a:rPr sz="1800" b="1" i="0">
                <a:solidFill>
                  <a:srgbClr val="FF0000"/>
                </a:solidFill>
                <a:latin typeface="Arial"/>
              </a:rPr>
              <a:t>Before: a duty list</a:t>
            </a:r>
          </a:p>
          <a:p>
            <a:pPr>
              <a:spcAft>
                <a:spcPts val="600"/>
              </a:spcAft>
            </a:pPr>
            <a:r>
              <a:rPr sz="1600" b="0" i="0">
                <a:solidFill>
                  <a:srgbClr val="000000"/>
                </a:solidFill>
                <a:latin typeface="Arial"/>
              </a:rPr>
              <a:t>Beaumont Complex RTO/DMC fleet value capture and improvement lead</a:t>
            </a:r>
          </a:p>
          <a:p>
            <a:pPr>
              <a:spcAft>
                <a:spcPts val="600"/>
              </a:spcAft>
            </a:pPr>
            <a:r>
              <a:rPr sz="1600" b="0" i="0">
                <a:solidFill>
                  <a:srgbClr val="000000"/>
                </a:solidFill>
                <a:latin typeface="Arial"/>
              </a:rPr>
              <a:t>Optimization technology and work process innovation and implementation</a:t>
            </a:r>
          </a:p>
          <a:p>
            <a:pPr>
              <a:spcAft>
                <a:spcPts val="600"/>
              </a:spcAft>
            </a:pPr>
            <a:r>
              <a:rPr sz="1600" b="0" i="0">
                <a:solidFill>
                  <a:srgbClr val="000000"/>
                </a:solidFill>
                <a:latin typeface="Arial"/>
              </a:rPr>
              <a:t>Mentoring, people development, succession planning</a:t>
            </a:r>
          </a:p>
          <a:p>
            <a:pPr>
              <a:spcAft>
                <a:spcPts val="600"/>
              </a:spcAft>
            </a:pPr>
            <a:r>
              <a:rPr sz="1600" b="0" i="0">
                <a:solidFill>
                  <a:srgbClr val="000000"/>
                </a:solidFill>
                <a:latin typeface="Arial"/>
              </a:rPr>
              <a:t>Strategic and tactical asset support &amp; resourcing</a:t>
            </a:r>
          </a:p>
        </p:txBody>
      </p:sp>
      <p:sp>
        <p:nvSpPr>
          <p:cNvPr id="51209" name="Right Arrow 51208"/>
          <p:cNvSpPr/>
          <p:nvPr/>
        </p:nvSpPr>
        <p:spPr>
          <a:xfrm>
            <a:off x="4407408" y="3749039"/>
            <a:ext cx="411480" cy="457200"/>
          </a:xfrm>
          <a:prstGeom prst="rightArrow">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10" name="After Box"/>
          <p:cNvSpPr/>
          <p:nvPr/>
        </p:nvSpPr>
        <p:spPr>
          <a:xfrm>
            <a:off x="4937760" y="2377440"/>
            <a:ext cx="6858000" cy="329184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1" name="TextBox 51210"/>
          <p:cNvSpPr txBox="1"/>
          <p:nvPr/>
        </p:nvSpPr>
        <p:spPr>
          <a:xfrm>
            <a:off x="5074920" y="2468880"/>
            <a:ext cx="6583680" cy="3154680"/>
          </a:xfrm>
          <a:prstGeom prst="rect">
            <a:avLst/>
          </a:prstGeom>
          <a:noFill/>
        </p:spPr>
        <p:txBody>
          <a:bodyPr wrap="square" lIns="73152" tIns="73152" rIns="73152" bIns="73152" anchor="t">
            <a:spAutoFit/>
          </a:bodyPr>
          <a:lstStyle/>
          <a:p>
            <a:pPr>
              <a:spcAft>
                <a:spcPts val="1000"/>
              </a:spcAft>
            </a:pPr>
            <a:r>
              <a:rPr sz="1800" b="1" i="0">
                <a:solidFill>
                  <a:srgbClr val="007A5C"/>
                </a:solidFill>
                <a:latin typeface="Arial"/>
              </a:rPr>
              <a:t>After: LBIT narrative</a:t>
            </a:r>
          </a:p>
          <a:p>
            <a:pPr marL="274320" indent="-274320">
              <a:spcAft>
                <a:spcPts val="600"/>
              </a:spcAft>
              <a:buChar char="•"/>
            </a:pPr>
            <a:r>
              <a:rPr sz="1500" b="0" i="0">
                <a:solidFill>
                  <a:srgbClr val="000000"/>
                </a:solidFill>
                <a:latin typeface="Arial"/>
              </a:rPr>
              <a:t>Led fleet-wide value capture across the Beaumont Complex's Real Time Optimization (RTO) and Dynamic Matrix Control (DMC) portfolio, with the team contributing to sustained value capture exceeding $100MM/yr </a:t>
            </a:r>
            <a:r>
              <a:rPr sz="1500" b="1" i="0">
                <a:solidFill>
                  <a:srgbClr val="FF0000"/>
                </a:solidFill>
                <a:latin typeface="Arial"/>
              </a:rPr>
              <a:t>(B, L, T)</a:t>
            </a:r>
          </a:p>
          <a:p>
            <a:pPr marL="274320" indent="-274320">
              <a:spcAft>
                <a:spcPts val="600"/>
              </a:spcAft>
              <a:buChar char="•"/>
            </a:pPr>
            <a:r>
              <a:rPr sz="1500" b="0" i="0">
                <a:solidFill>
                  <a:srgbClr val="000000"/>
                </a:solidFill>
                <a:latin typeface="Arial"/>
              </a:rPr>
              <a:t>Championed GitHub for RTO collaboration and knowledge retention, adopted as the company standard for the global RTO fleet the following year </a:t>
            </a:r>
            <a:r>
              <a:rPr sz="1500" b="1" i="0">
                <a:solidFill>
                  <a:srgbClr val="FF0000"/>
                </a:solidFill>
                <a:latin typeface="Arial"/>
              </a:rPr>
              <a:t>(L, B, I)</a:t>
            </a:r>
          </a:p>
          <a:p>
            <a:pPr marL="274320" indent="-274320">
              <a:spcAft>
                <a:spcPts val="600"/>
              </a:spcAft>
              <a:buChar char="•"/>
            </a:pPr>
            <a:r>
              <a:rPr sz="1500" b="0" i="0">
                <a:solidFill>
                  <a:srgbClr val="000000"/>
                </a:solidFill>
                <a:latin typeface="Arial"/>
              </a:rPr>
              <a:t>Established the succession pipeline for the next Beaumont RTO/DMC Principal Engineers; one took over this role directly </a:t>
            </a:r>
            <a:r>
              <a:rPr sz="1500" b="1" i="0">
                <a:solidFill>
                  <a:srgbClr val="FF0000"/>
                </a:solidFill>
                <a:latin typeface="Arial"/>
              </a:rPr>
              <a:t>(L, B, I)</a:t>
            </a:r>
          </a:p>
        </p:txBody>
      </p:sp>
      <p:sp>
        <p:nvSpPr>
          <p:cNvPr id="51212" name="TextBox 51211"/>
          <p:cNvSpPr txBox="1"/>
          <p:nvPr/>
        </p:nvSpPr>
        <p:spPr>
          <a:xfrm>
            <a:off x="365760" y="5760720"/>
            <a:ext cx="11430000" cy="548640"/>
          </a:xfrm>
          <a:prstGeom prst="rect">
            <a:avLst/>
          </a:prstGeom>
          <a:noFill/>
        </p:spPr>
        <p:txBody>
          <a:bodyPr wrap="square" lIns="73152" tIns="73152" rIns="73152" bIns="73152" anchor="t">
            <a:spAutoFit/>
          </a:bodyPr>
          <a:lstStyle/>
          <a:p>
            <a:pPr>
              <a:spcAft>
                <a:spcPts val="600"/>
              </a:spcAft>
            </a:pPr>
            <a:r>
              <a:rPr sz="1400" b="0" i="0">
                <a:solidFill>
                  <a:srgbClr val="595959"/>
                </a:solidFill>
                <a:latin typeface="Arial"/>
              </a:rPr>
              <a:t>Same role, same facts: the difference is whether the reader can tell what happened and why it mattered. (Tags for reference only.)</a:t>
            </a:r>
          </a:p>
        </p:txBody>
      </p:sp>
      <p:sp>
        <p:nvSpPr>
          <p:cNvPr id="51213"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3"/>
              </a:rPr>
              <a:t>LinkedIn · second-hand-tigers/badocter-career-learnings Wiki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LinkedIn: Do Your Homework on the Interview Team</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10</a:t>
            </a:fld>
            <a:endParaRPr lang="en-US" altLang="en-US" sz="1400"/>
          </a:p>
        </p:txBody>
      </p:sp>
      <p:sp>
        <p:nvSpPr>
          <p:cNvPr id="51205" name="Card Connect with your in"/>
          <p:cNvSpPr/>
          <p:nvPr/>
        </p:nvSpPr>
        <p:spPr>
          <a:xfrm>
            <a:off x="365760" y="960120"/>
            <a:ext cx="5623560" cy="21031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06" name="Card Header Connect with your in"/>
          <p:cNvSpPr/>
          <p:nvPr/>
        </p:nvSpPr>
        <p:spPr>
          <a:xfrm>
            <a:off x="365760" y="960120"/>
            <a:ext cx="5623560"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Connect with your interviewers</a:t>
            </a:r>
          </a:p>
        </p:txBody>
      </p:sp>
      <p:sp>
        <p:nvSpPr>
          <p:cNvPr id="51207" name="TextBox 51206"/>
          <p:cNvSpPr txBox="1"/>
          <p:nvPr/>
        </p:nvSpPr>
        <p:spPr>
          <a:xfrm>
            <a:off x="429768" y="1581912"/>
            <a:ext cx="5495544" cy="144475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As soon as you know who they are. Don't read anything into a pending request: some interviewers hold candidate requests until after a decision.</a:t>
            </a:r>
          </a:p>
        </p:txBody>
      </p:sp>
      <p:sp>
        <p:nvSpPr>
          <p:cNvPr id="51208" name="Card Follow, don't connec"/>
          <p:cNvSpPr/>
          <p:nvPr/>
        </p:nvSpPr>
        <p:spPr>
          <a:xfrm>
            <a:off x="6172200" y="960120"/>
            <a:ext cx="5623560" cy="21031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09" name="Card Header Follow, don't connec"/>
          <p:cNvSpPr/>
          <p:nvPr/>
        </p:nvSpPr>
        <p:spPr>
          <a:xfrm>
            <a:off x="6172200" y="960120"/>
            <a:ext cx="5623560"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Follow, don't connect with, their team</a:t>
            </a:r>
          </a:p>
        </p:txBody>
      </p:sp>
      <p:sp>
        <p:nvSpPr>
          <p:cNvPr id="51210" name="TextBox 51209"/>
          <p:cNvSpPr txBox="1"/>
          <p:nvPr/>
        </p:nvSpPr>
        <p:spPr>
          <a:xfrm>
            <a:off x="6236208" y="1581912"/>
            <a:ext cx="5495544" cy="144475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Browse their connections to learn the team's roles and career paths. A follow is safer than a connection request.</a:t>
            </a:r>
          </a:p>
        </p:txBody>
      </p:sp>
      <p:sp>
        <p:nvSpPr>
          <p:cNvPr id="51211" name="Card Prepare a question f"/>
          <p:cNvSpPr/>
          <p:nvPr/>
        </p:nvSpPr>
        <p:spPr>
          <a:xfrm>
            <a:off x="365760" y="3291839"/>
            <a:ext cx="5623560" cy="21031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2" name="Card Header Prepare a question f"/>
          <p:cNvSpPr/>
          <p:nvPr/>
        </p:nvSpPr>
        <p:spPr>
          <a:xfrm>
            <a:off x="365760" y="3291839"/>
            <a:ext cx="5623560"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Prepare a question for each interviewer</a:t>
            </a:r>
          </a:p>
        </p:txBody>
      </p:sp>
      <p:sp>
        <p:nvSpPr>
          <p:cNvPr id="51213" name="TextBox 51212"/>
          <p:cNvSpPr txBox="1"/>
          <p:nvPr/>
        </p:nvSpPr>
        <p:spPr>
          <a:xfrm>
            <a:off x="429768" y="3913631"/>
            <a:ext cx="5495544" cy="144475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Draw it from their actual background. Have two or three each: intros often answer one before you get to ask it.</a:t>
            </a:r>
          </a:p>
        </p:txBody>
      </p:sp>
      <p:sp>
        <p:nvSpPr>
          <p:cNvPr id="51214" name="Card Keep posts professio"/>
          <p:cNvSpPr/>
          <p:nvPr/>
        </p:nvSpPr>
        <p:spPr>
          <a:xfrm>
            <a:off x="6172200" y="3291839"/>
            <a:ext cx="5623560" cy="21031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5" name="Card Header Keep posts professio"/>
          <p:cNvSpPr/>
          <p:nvPr/>
        </p:nvSpPr>
        <p:spPr>
          <a:xfrm>
            <a:off x="6172200" y="3291839"/>
            <a:ext cx="5623560"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Keep posts professional</a:t>
            </a:r>
          </a:p>
        </p:txBody>
      </p:sp>
      <p:sp>
        <p:nvSpPr>
          <p:cNvPr id="51216" name="TextBox 51215"/>
          <p:cNvSpPr txBox="1"/>
          <p:nvPr/>
        </p:nvSpPr>
        <p:spPr>
          <a:xfrm>
            <a:off x="6236208" y="3913631"/>
            <a:ext cx="5495544" cy="978729"/>
          </a:xfrm>
          <a:prstGeom prst="rect">
            <a:avLst/>
          </a:prstGeom>
          <a:noFill/>
        </p:spPr>
        <p:txBody>
          <a:bodyPr wrap="square" lIns="73152" tIns="73152" rIns="73152" bIns="73152" anchor="t">
            <a:spAutoFit/>
          </a:bodyPr>
          <a:lstStyle/>
          <a:p>
            <a:pPr>
              <a:spcAft>
                <a:spcPts val="600"/>
              </a:spcAft>
            </a:pPr>
            <a:r>
              <a:rPr sz="1800" b="0" i="0" dirty="0">
                <a:solidFill>
                  <a:srgbClr val="000000"/>
                </a:solidFill>
                <a:latin typeface="Arial"/>
              </a:rPr>
              <a:t>LinkedIn isn't Facebook or X. Political posts can </a:t>
            </a:r>
            <a:r>
              <a:rPr lang="en-US" sz="1800" b="0" i="0" dirty="0">
                <a:solidFill>
                  <a:srgbClr val="000000"/>
                </a:solidFill>
                <a:latin typeface="Arial"/>
              </a:rPr>
              <a:t>alienate</a:t>
            </a:r>
            <a:r>
              <a:rPr sz="1800" b="0" i="0" dirty="0">
                <a:solidFill>
                  <a:srgbClr val="000000"/>
                </a:solidFill>
                <a:latin typeface="Arial"/>
              </a:rPr>
              <a:t> roughly half the interviewers before you ever meet them.</a:t>
            </a:r>
          </a:p>
        </p:txBody>
      </p:sp>
      <p:sp>
        <p:nvSpPr>
          <p:cNvPr id="51217" name="Callout"/>
          <p:cNvSpPr/>
          <p:nvPr/>
        </p:nvSpPr>
        <p:spPr>
          <a:xfrm>
            <a:off x="365760" y="5669280"/>
            <a:ext cx="11430000" cy="594360"/>
          </a:xfrm>
          <a:prstGeom prst="roundRect">
            <a:avLst>
              <a:gd name="adj" fmla="val 8000"/>
            </a:avLst>
          </a:prstGeom>
          <a:solidFill>
            <a:srgbClr val="FFFF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600" b="1">
                <a:solidFill>
                  <a:srgbClr val="000000"/>
                </a:solidFill>
              </a:rPr>
              <a:t>Build your network before you need it: a network built the week you need it is a thin one.</a:t>
            </a:r>
          </a:p>
        </p:txBody>
      </p:sp>
      <p:sp>
        <p:nvSpPr>
          <p:cNvPr id="51218"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2"/>
              </a:rPr>
              <a:t>LinkedIn · second-hand-tigers/badocter-career-learnings Wiki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Interviewer Is Working From a Script</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11</a:t>
            </a:fld>
            <a:endParaRPr lang="en-US" altLang="en-US" sz="1400"/>
          </a:p>
        </p:txBody>
      </p:sp>
      <p:sp>
        <p:nvSpPr>
          <p:cNvPr id="51205" name="TextBox 51204"/>
          <p:cNvSpPr txBox="1"/>
          <p:nvPr/>
        </p:nvSpPr>
        <p:spPr>
          <a:xfrm>
            <a:off x="365760" y="868680"/>
            <a:ext cx="11430000" cy="548640"/>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It isn't a sign of disinterest or lack of preparation. It's doing real work for both of you:</a:t>
            </a:r>
          </a:p>
        </p:txBody>
      </p:sp>
      <p:sp>
        <p:nvSpPr>
          <p:cNvPr id="51206" name="Card Nothing gets missed"/>
          <p:cNvSpPr/>
          <p:nvPr/>
        </p:nvSpPr>
        <p:spPr>
          <a:xfrm>
            <a:off x="365760" y="1554480"/>
            <a:ext cx="3675887" cy="25603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07" name="Card Header Nothing gets missed"/>
          <p:cNvSpPr/>
          <p:nvPr/>
        </p:nvSpPr>
        <p:spPr>
          <a:xfrm>
            <a:off x="365760" y="1554480"/>
            <a:ext cx="3675887"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Nothing gets missed</a:t>
            </a:r>
          </a:p>
        </p:txBody>
      </p:sp>
      <p:sp>
        <p:nvSpPr>
          <p:cNvPr id="51208" name="TextBox 51207"/>
          <p:cNvSpPr txBox="1"/>
          <p:nvPr/>
        </p:nvSpPr>
        <p:spPr>
          <a:xfrm>
            <a:off x="429768" y="2176272"/>
            <a:ext cx="3547871" cy="190195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They're assessing you, taking notes for the hiring committee, and selling you on the team, all at the same time.</a:t>
            </a:r>
          </a:p>
        </p:txBody>
      </p:sp>
      <p:sp>
        <p:nvSpPr>
          <p:cNvPr id="51209" name="Card Keeps it legal and f"/>
          <p:cNvSpPr/>
          <p:nvPr/>
        </p:nvSpPr>
        <p:spPr>
          <a:xfrm>
            <a:off x="4224528" y="1554480"/>
            <a:ext cx="3675887" cy="25603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0" name="Card Header Keeps it legal and f"/>
          <p:cNvSpPr/>
          <p:nvPr/>
        </p:nvSpPr>
        <p:spPr>
          <a:xfrm>
            <a:off x="4224528" y="1554480"/>
            <a:ext cx="3675887"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Keeps it legal and fair</a:t>
            </a:r>
          </a:p>
        </p:txBody>
      </p:sp>
      <p:sp>
        <p:nvSpPr>
          <p:cNvPr id="51211" name="TextBox 51210"/>
          <p:cNvSpPr txBox="1"/>
          <p:nvPr/>
        </p:nvSpPr>
        <p:spPr>
          <a:xfrm>
            <a:off x="4288536" y="2176272"/>
            <a:ext cx="3547871" cy="190195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It's written alongside a list of what should and shouldn't be asked. Parts may be set by corporate policy and backed by interviewer training.</a:t>
            </a:r>
          </a:p>
        </p:txBody>
      </p:sp>
      <p:sp>
        <p:nvSpPr>
          <p:cNvPr id="51212" name="Card Tailored to the role"/>
          <p:cNvSpPr/>
          <p:nvPr/>
        </p:nvSpPr>
        <p:spPr>
          <a:xfrm>
            <a:off x="8083296" y="1554480"/>
            <a:ext cx="3675887" cy="256032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3" name="Card Header Tailored to the role"/>
          <p:cNvSpPr/>
          <p:nvPr/>
        </p:nvSpPr>
        <p:spPr>
          <a:xfrm>
            <a:off x="8083296" y="1554480"/>
            <a:ext cx="3675887"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Tailored to the role</a:t>
            </a:r>
          </a:p>
        </p:txBody>
      </p:sp>
      <p:sp>
        <p:nvSpPr>
          <p:cNvPr id="51214" name="TextBox 51213"/>
          <p:cNvSpPr txBox="1"/>
          <p:nvPr/>
        </p:nvSpPr>
        <p:spPr>
          <a:xfrm>
            <a:off x="8147304" y="2176272"/>
            <a:ext cx="3547871" cy="190195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It follows a common framework, re-tailored each time with questions specific to that opening.</a:t>
            </a:r>
          </a:p>
        </p:txBody>
      </p:sp>
      <p:sp>
        <p:nvSpPr>
          <p:cNvPr id="51215" name="Callout"/>
          <p:cNvSpPr/>
          <p:nvPr/>
        </p:nvSpPr>
        <p:spPr>
          <a:xfrm>
            <a:off x="365760" y="4480560"/>
            <a:ext cx="11430000" cy="822960"/>
          </a:xfrm>
          <a:prstGeom prst="roundRect">
            <a:avLst>
              <a:gd name="adj" fmla="val 8000"/>
            </a:avLst>
          </a:prstGeom>
          <a:solidFill>
            <a:srgbClr val="FFFF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800" b="1">
                <a:solidFill>
                  <a:srgbClr val="000000"/>
                </a:solidFill>
              </a:rPr>
              <a:t>They're nervous too. The person across the table may be running one of their first solo interviews, and the script keeps them from going blank.</a:t>
            </a:r>
          </a:p>
        </p:txBody>
      </p:sp>
      <p:sp>
        <p:nvSpPr>
          <p:cNvPr id="51216" name="TextBox 51215"/>
          <p:cNvSpPr txBox="1"/>
          <p:nvPr/>
        </p:nvSpPr>
        <p:spPr>
          <a:xfrm>
            <a:off x="365760" y="5532120"/>
            <a:ext cx="11430000" cy="517065"/>
          </a:xfrm>
          <a:prstGeom prst="rect">
            <a:avLst/>
          </a:prstGeom>
          <a:noFill/>
        </p:spPr>
        <p:txBody>
          <a:bodyPr wrap="square" lIns="73152" tIns="73152" rIns="73152" bIns="73152" anchor="t">
            <a:spAutoFit/>
          </a:bodyPr>
          <a:lstStyle/>
          <a:p>
            <a:pPr>
              <a:spcAft>
                <a:spcPts val="600"/>
              </a:spcAft>
            </a:pPr>
            <a:r>
              <a:rPr sz="2400" b="0" i="1" dirty="0">
                <a:solidFill>
                  <a:srgbClr val="595959"/>
                </a:solidFill>
                <a:latin typeface="Arial"/>
              </a:rPr>
              <a:t>The structure exists to give you a fair, complete shot, not to trip you up.</a:t>
            </a:r>
          </a:p>
        </p:txBody>
      </p:sp>
      <p:sp>
        <p:nvSpPr>
          <p:cNvPr id="51217"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2"/>
              </a:rPr>
              <a:t>Interview Prep · second-hand-tigers/badocter-career-learnings Wiki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Resume Bullet, Four Probes</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12</a:t>
            </a:fld>
            <a:endParaRPr lang="en-US" altLang="en-US" sz="1400"/>
          </a:p>
        </p:txBody>
      </p:sp>
      <p:graphicFrame>
        <p:nvGraphicFramePr>
          <p:cNvPr id="51205" name="Probe Exchange"/>
          <p:cNvGraphicFramePr>
            <a:graphicFrameLocks noGrp="1"/>
          </p:cNvGraphicFramePr>
          <p:nvPr>
            <p:extLst>
              <p:ext uri="{D42A27DB-BD31-4B8C-83A1-F6EECF244321}">
                <p14:modId xmlns:p14="http://schemas.microsoft.com/office/powerpoint/2010/main" val="1586118258"/>
              </p:ext>
            </p:extLst>
          </p:nvPr>
        </p:nvGraphicFramePr>
        <p:xfrm>
          <a:off x="381000" y="864668"/>
          <a:ext cx="11430000" cy="4657344"/>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841248">
                <a:tc>
                  <a:txBody>
                    <a:bodyPr/>
                    <a:lstStyle/>
                    <a:p>
                      <a:r>
                        <a:rPr sz="1600" b="1" i="0"/>
                        <a:t>Interviewer asks</a:t>
                      </a:r>
                    </a:p>
                  </a:txBody>
                  <a:tcPr marL="73152" marR="73152" marT="36576" marB="36576" anchor="ctr"/>
                </a:tc>
                <a:tc>
                  <a:txBody>
                    <a:bodyPr/>
                    <a:lstStyle/>
                    <a:p>
                      <a:r>
                        <a:rPr sz="1600" b="1" i="0"/>
                        <a:t>You answer</a:t>
                      </a:r>
                    </a:p>
                  </a:txBody>
                  <a:tcPr marL="73152" marR="73152" marT="36576" marB="36576" anchor="ctr"/>
                </a:tc>
                <a:tc>
                  <a:txBody>
                    <a:bodyPr/>
                    <a:lstStyle/>
                    <a:p>
                      <a:r>
                        <a:rPr sz="1600" b="1" i="0"/>
                        <a:t>Dimension</a:t>
                      </a:r>
                    </a:p>
                  </a:txBody>
                  <a:tcPr marL="73152" marR="73152" marT="36576" marB="36576" anchor="ctr"/>
                </a:tc>
                <a:extLst>
                  <a:ext uri="{0D108BD9-81ED-4DB2-BD59-A6C34878D82A}">
                    <a16:rowId xmlns:a16="http://schemas.microsoft.com/office/drawing/2014/main" val="10000"/>
                  </a:ext>
                </a:extLst>
              </a:tr>
              <a:tr h="841248">
                <a:tc>
                  <a:txBody>
                    <a:bodyPr/>
                    <a:lstStyle/>
                    <a:p>
                      <a:r>
                        <a:rPr sz="1600" b="0" i="0">
                          <a:solidFill>
                            <a:srgbClr val="000000"/>
                          </a:solidFill>
                        </a:rPr>
                        <a:t>What did you do in the role?</a:t>
                      </a:r>
                    </a:p>
                  </a:txBody>
                  <a:tcPr marL="73152" marR="73152" marT="36576" marB="36576" anchor="ctr"/>
                </a:tc>
                <a:tc>
                  <a:txBody>
                    <a:bodyPr/>
                    <a:lstStyle/>
                    <a:p>
                      <a:r>
                        <a:rPr sz="1600" b="0" i="0">
                          <a:solidFill>
                            <a:srgbClr val="000000"/>
                          </a:solidFill>
                        </a:rPr>
                        <a:t>"I automated a daily analysis that was being run by hand."</a:t>
                      </a:r>
                    </a:p>
                  </a:txBody>
                  <a:tcPr marL="73152" marR="73152" marT="36576" marB="36576" anchor="ctr"/>
                </a:tc>
                <a:tc>
                  <a:txBody>
                    <a:bodyPr/>
                    <a:lstStyle/>
                    <a:p>
                      <a:r>
                        <a:rPr sz="1600" b="1" i="0">
                          <a:solidFill>
                            <a:srgbClr val="FF0000"/>
                          </a:solidFill>
                        </a:rPr>
                        <a:t>Technical</a:t>
                      </a:r>
                    </a:p>
                  </a:txBody>
                  <a:tcPr marL="73152" marR="73152" marT="36576" marB="36576" anchor="ctr"/>
                </a:tc>
                <a:extLst>
                  <a:ext uri="{0D108BD9-81ED-4DB2-BD59-A6C34878D82A}">
                    <a16:rowId xmlns:a16="http://schemas.microsoft.com/office/drawing/2014/main" val="10001"/>
                  </a:ext>
                </a:extLst>
              </a:tr>
              <a:tr h="841248">
                <a:tc>
                  <a:txBody>
                    <a:bodyPr/>
                    <a:lstStyle/>
                    <a:p>
                      <a:r>
                        <a:rPr sz="1600" b="0" i="0">
                          <a:solidFill>
                            <a:srgbClr val="000000"/>
                          </a:solidFill>
                        </a:rPr>
                        <a:t>What was the motivation for automating it?</a:t>
                      </a:r>
                    </a:p>
                  </a:txBody>
                  <a:tcPr marL="73152" marR="73152" marT="36576" marB="36576" anchor="ctr"/>
                </a:tc>
                <a:tc>
                  <a:txBody>
                    <a:bodyPr/>
                    <a:lstStyle/>
                    <a:p>
                      <a:r>
                        <a:rPr sz="1600" b="0" i="0" dirty="0">
                          <a:solidFill>
                            <a:srgbClr val="000000"/>
                          </a:solidFill>
                        </a:rPr>
                        <a:t>"It was a complex, resource-intensive task done by hand daily, prone to mistakes</a:t>
                      </a:r>
                      <a:r>
                        <a:rPr lang="en-US" sz="1600" b="0" i="0" dirty="0">
                          <a:solidFill>
                            <a:srgbClr val="000000"/>
                          </a:solidFill>
                        </a:rPr>
                        <a:t>, and did not meet the end-user timing requirement</a:t>
                      </a:r>
                      <a:r>
                        <a:rPr sz="1600" b="0" i="0" dirty="0">
                          <a:solidFill>
                            <a:srgbClr val="000000"/>
                          </a:solidFill>
                        </a:rPr>
                        <a:t>. Automating it freed up about five hours a week</a:t>
                      </a:r>
                      <a:r>
                        <a:rPr lang="en-US" sz="1600" b="0" i="0" dirty="0">
                          <a:solidFill>
                            <a:srgbClr val="000000"/>
                          </a:solidFill>
                        </a:rPr>
                        <a:t> per application, </a:t>
                      </a:r>
                      <a:r>
                        <a:rPr sz="1600" b="0" i="0" dirty="0">
                          <a:solidFill>
                            <a:srgbClr val="000000"/>
                          </a:solidFill>
                        </a:rPr>
                        <a:t>eliminated the errors</a:t>
                      </a:r>
                      <a:r>
                        <a:rPr lang="en-US" sz="1600" b="0" i="0" dirty="0">
                          <a:solidFill>
                            <a:srgbClr val="000000"/>
                          </a:solidFill>
                        </a:rPr>
                        <a:t>, and made the analysis instantly available to all</a:t>
                      </a:r>
                      <a:r>
                        <a:rPr sz="1600" b="0" i="0" dirty="0">
                          <a:solidFill>
                            <a:srgbClr val="000000"/>
                          </a:solidFill>
                        </a:rPr>
                        <a:t>."</a:t>
                      </a:r>
                    </a:p>
                  </a:txBody>
                  <a:tcPr marL="73152" marR="73152" marT="36576" marB="36576" anchor="ctr"/>
                </a:tc>
                <a:tc>
                  <a:txBody>
                    <a:bodyPr/>
                    <a:lstStyle/>
                    <a:p>
                      <a:r>
                        <a:rPr sz="1600" b="1" i="0">
                          <a:solidFill>
                            <a:srgbClr val="FF0000"/>
                          </a:solidFill>
                        </a:rPr>
                        <a:t>Business</a:t>
                      </a:r>
                    </a:p>
                  </a:txBody>
                  <a:tcPr marL="73152" marR="73152" marT="36576" marB="36576" anchor="ctr"/>
                </a:tc>
                <a:extLst>
                  <a:ext uri="{0D108BD9-81ED-4DB2-BD59-A6C34878D82A}">
                    <a16:rowId xmlns:a16="http://schemas.microsoft.com/office/drawing/2014/main" val="10002"/>
                  </a:ext>
                </a:extLst>
              </a:tr>
              <a:tr h="841248">
                <a:tc>
                  <a:txBody>
                    <a:bodyPr/>
                    <a:lstStyle/>
                    <a:p>
                      <a:r>
                        <a:rPr sz="1600" b="0" i="0">
                          <a:solidFill>
                            <a:srgbClr val="000000"/>
                          </a:solidFill>
                        </a:rPr>
                        <a:t>Who did you work with on this effort?</a:t>
                      </a:r>
                    </a:p>
                  </a:txBody>
                  <a:tcPr marL="73152" marR="73152" marT="36576" marB="36576" anchor="ctr"/>
                </a:tc>
                <a:tc>
                  <a:txBody>
                    <a:bodyPr/>
                    <a:lstStyle/>
                    <a:p>
                      <a:r>
                        <a:rPr sz="1600" b="0" i="0">
                          <a:solidFill>
                            <a:srgbClr val="000000"/>
                          </a:solidFill>
                        </a:rPr>
                        <a:t>"I worked with a software developer and a system engineer to hook it into the site's automation system. I led training for the company-wide rollout and wrote the handover playbook."</a:t>
                      </a:r>
                    </a:p>
                  </a:txBody>
                  <a:tcPr marL="73152" marR="73152" marT="36576" marB="36576" anchor="ctr"/>
                </a:tc>
                <a:tc>
                  <a:txBody>
                    <a:bodyPr/>
                    <a:lstStyle/>
                    <a:p>
                      <a:r>
                        <a:rPr sz="1600" b="1" i="0">
                          <a:solidFill>
                            <a:srgbClr val="FF0000"/>
                          </a:solidFill>
                        </a:rPr>
                        <a:t>Interpersonal</a:t>
                      </a:r>
                    </a:p>
                  </a:txBody>
                  <a:tcPr marL="73152" marR="73152" marT="36576" marB="36576" anchor="ctr"/>
                </a:tc>
                <a:extLst>
                  <a:ext uri="{0D108BD9-81ED-4DB2-BD59-A6C34878D82A}">
                    <a16:rowId xmlns:a16="http://schemas.microsoft.com/office/drawing/2014/main" val="10003"/>
                  </a:ext>
                </a:extLst>
              </a:tr>
              <a:tr h="841248">
                <a:tc>
                  <a:txBody>
                    <a:bodyPr/>
                    <a:lstStyle/>
                    <a:p>
                      <a:r>
                        <a:rPr sz="1600" b="0" i="1">
                          <a:solidFill>
                            <a:srgbClr val="595959"/>
                          </a:solidFill>
                        </a:rPr>
                        <a:t>(never asked)</a:t>
                      </a:r>
                    </a:p>
                  </a:txBody>
                  <a:tcPr marL="73152" marR="73152" marT="36576" marB="36576" anchor="ctr"/>
                </a:tc>
                <a:tc>
                  <a:txBody>
                    <a:bodyPr/>
                    <a:lstStyle/>
                    <a:p>
                      <a:r>
                        <a:rPr sz="1600" b="0" i="1">
                          <a:solidFill>
                            <a:srgbClr val="000000"/>
                          </a:solidFill>
                        </a:rPr>
                        <a:t>By now, how you initiated, owned, networked, and drove the effort has already come through.</a:t>
                      </a:r>
                    </a:p>
                  </a:txBody>
                  <a:tcPr marL="73152" marR="73152" marT="36576" marB="36576" anchor="ctr"/>
                </a:tc>
                <a:tc>
                  <a:txBody>
                    <a:bodyPr/>
                    <a:lstStyle/>
                    <a:p>
                      <a:r>
                        <a:rPr sz="1600" b="1" i="0" dirty="0">
                          <a:solidFill>
                            <a:srgbClr val="FF0000"/>
                          </a:solidFill>
                        </a:rPr>
                        <a:t>Leadership</a:t>
                      </a:r>
                      <a:r>
                        <a:rPr sz="1600" b="0" i="0" dirty="0">
                          <a:solidFill>
                            <a:srgbClr val="FF0000"/>
                          </a:solidFill>
                        </a:rPr>
                        <a:t> (inferred)</a:t>
                      </a:r>
                    </a:p>
                  </a:txBody>
                  <a:tcPr marL="73152" marR="73152" marT="36576" marB="36576" anchor="ctr"/>
                </a:tc>
                <a:extLst>
                  <a:ext uri="{0D108BD9-81ED-4DB2-BD59-A6C34878D82A}">
                    <a16:rowId xmlns:a16="http://schemas.microsoft.com/office/drawing/2014/main" val="10004"/>
                  </a:ext>
                </a:extLst>
              </a:tr>
            </a:tbl>
          </a:graphicData>
        </a:graphic>
      </p:graphicFrame>
      <p:sp>
        <p:nvSpPr>
          <p:cNvPr id="51206" name="Callout"/>
          <p:cNvSpPr/>
          <p:nvPr/>
        </p:nvSpPr>
        <p:spPr>
          <a:xfrm>
            <a:off x="381000" y="5609362"/>
            <a:ext cx="11430000" cy="731520"/>
          </a:xfrm>
          <a:prstGeom prst="roundRect">
            <a:avLst>
              <a:gd name="adj" fmla="val 8000"/>
            </a:avLst>
          </a:prstGeom>
          <a:solidFill>
            <a:srgbClr val="FFFF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600" b="1">
                <a:solidFill>
                  <a:srgbClr val="000000"/>
                </a:solidFill>
              </a:rPr>
              <a:t>Same example as the resume bullet. A skilled interviewer covers all four dimensions with a few probes about a single role.</a:t>
            </a:r>
          </a:p>
        </p:txBody>
      </p:sp>
      <p:sp>
        <p:nvSpPr>
          <p:cNvPr id="51207"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2"/>
              </a:rPr>
              <a:t>Interview Prep · second-hand-tigers/badocter-career-learnings Wiki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Cover All Four Before You're Asked</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13</a:t>
            </a:fld>
            <a:endParaRPr lang="en-US" altLang="en-US" sz="1400"/>
          </a:p>
        </p:txBody>
      </p:sp>
      <p:sp>
        <p:nvSpPr>
          <p:cNvPr id="51205" name="TextBox 51204"/>
          <p:cNvSpPr txBox="1"/>
          <p:nvPr/>
        </p:nvSpPr>
        <p:spPr>
          <a:xfrm>
            <a:off x="365760" y="914400"/>
            <a:ext cx="6949440" cy="4480560"/>
          </a:xfrm>
          <a:prstGeom prst="rect">
            <a:avLst/>
          </a:prstGeom>
          <a:noFill/>
        </p:spPr>
        <p:txBody>
          <a:bodyPr wrap="square" lIns="73152" tIns="73152" rIns="73152" bIns="73152" anchor="t">
            <a:spAutoFit/>
          </a:bodyPr>
          <a:lstStyle/>
          <a:p>
            <a:pPr marL="274320" indent="-274320">
              <a:spcAft>
                <a:spcPts val="1400"/>
              </a:spcAft>
              <a:buChar char="•"/>
            </a:pPr>
            <a:r>
              <a:rPr sz="2000" b="0" i="0">
                <a:solidFill>
                  <a:srgbClr val="000000"/>
                </a:solidFill>
                <a:latin typeface="Arial"/>
              </a:rPr>
              <a:t>When asked about a role, cover Leadership, Business, Interpersonal, and Technical yourself, instead of waiting to be walked through them one probe at a time</a:t>
            </a:r>
          </a:p>
          <a:p>
            <a:pPr marL="274320" indent="-274320">
              <a:spcAft>
                <a:spcPts val="1400"/>
              </a:spcAft>
              <a:buChar char="•"/>
            </a:pPr>
            <a:r>
              <a:rPr sz="2000" b="0" i="0">
                <a:solidFill>
                  <a:srgbClr val="000000"/>
                </a:solidFill>
                <a:latin typeface="Arial"/>
              </a:rPr>
              <a:t>Every answer is about what you did. Credit the team, but keep coming back to "we" and expect: "What did you specifically do?"</a:t>
            </a:r>
          </a:p>
          <a:p>
            <a:pPr marL="274320" indent="-274320">
              <a:spcAft>
                <a:spcPts val="600"/>
              </a:spcAft>
              <a:buChar char="•"/>
            </a:pPr>
            <a:r>
              <a:rPr sz="2000" b="0" i="0">
                <a:solidFill>
                  <a:srgbClr val="000000"/>
                </a:solidFill>
                <a:latin typeface="Arial"/>
              </a:rPr>
              <a:t>You can't reliably do this cold. Practicing with classmates makes it feel natural instead of scripted when it counts</a:t>
            </a:r>
          </a:p>
        </p:txBody>
      </p:sp>
      <p:sp>
        <p:nvSpPr>
          <p:cNvPr id="51206" name="Check Leadership"/>
          <p:cNvSpPr/>
          <p:nvPr/>
        </p:nvSpPr>
        <p:spPr>
          <a:xfrm>
            <a:off x="7772400" y="960120"/>
            <a:ext cx="4023360" cy="566928"/>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200" b="1" dirty="0">
                <a:solidFill>
                  <a:srgbClr val="007A5C"/>
                </a:solidFill>
              </a:rPr>
              <a:t>☑  </a:t>
            </a:r>
            <a:r>
              <a:rPr sz="2000" b="1" dirty="0">
                <a:solidFill>
                  <a:srgbClr val="000000"/>
                </a:solidFill>
              </a:rPr>
              <a:t>Leadership</a:t>
            </a:r>
          </a:p>
        </p:txBody>
      </p:sp>
      <p:sp>
        <p:nvSpPr>
          <p:cNvPr id="51207" name="Check Business"/>
          <p:cNvSpPr/>
          <p:nvPr/>
        </p:nvSpPr>
        <p:spPr>
          <a:xfrm>
            <a:off x="7772400" y="1673352"/>
            <a:ext cx="4023360" cy="566928"/>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200" b="1" dirty="0">
                <a:solidFill>
                  <a:srgbClr val="007A5C"/>
                </a:solidFill>
              </a:rPr>
              <a:t>☑  </a:t>
            </a:r>
            <a:r>
              <a:rPr sz="2000" b="1" dirty="0">
                <a:solidFill>
                  <a:srgbClr val="000000"/>
                </a:solidFill>
              </a:rPr>
              <a:t>Business</a:t>
            </a:r>
          </a:p>
        </p:txBody>
      </p:sp>
      <p:sp>
        <p:nvSpPr>
          <p:cNvPr id="51208" name="Check Interpersonal"/>
          <p:cNvSpPr/>
          <p:nvPr/>
        </p:nvSpPr>
        <p:spPr>
          <a:xfrm>
            <a:off x="7772400" y="2386584"/>
            <a:ext cx="4023360" cy="566928"/>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200" b="1" dirty="0">
                <a:solidFill>
                  <a:srgbClr val="007A5C"/>
                </a:solidFill>
              </a:rPr>
              <a:t>☑  </a:t>
            </a:r>
            <a:r>
              <a:rPr sz="2000" b="1" dirty="0">
                <a:solidFill>
                  <a:srgbClr val="000000"/>
                </a:solidFill>
              </a:rPr>
              <a:t>Interpersonal</a:t>
            </a:r>
          </a:p>
        </p:txBody>
      </p:sp>
      <p:sp>
        <p:nvSpPr>
          <p:cNvPr id="51209" name="Check Technical"/>
          <p:cNvSpPr/>
          <p:nvPr/>
        </p:nvSpPr>
        <p:spPr>
          <a:xfrm>
            <a:off x="7772400" y="3099815"/>
            <a:ext cx="4023360" cy="566928"/>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200" b="1" dirty="0">
                <a:solidFill>
                  <a:srgbClr val="007A5C"/>
                </a:solidFill>
              </a:rPr>
              <a:t>☑  </a:t>
            </a:r>
            <a:r>
              <a:rPr sz="2000" b="1" dirty="0">
                <a:solidFill>
                  <a:srgbClr val="000000"/>
                </a:solidFill>
              </a:rPr>
              <a:t>Technical</a:t>
            </a:r>
          </a:p>
        </p:txBody>
      </p:sp>
      <p:sp>
        <p:nvSpPr>
          <p:cNvPr id="51210" name="Callout"/>
          <p:cNvSpPr/>
          <p:nvPr/>
        </p:nvSpPr>
        <p:spPr>
          <a:xfrm>
            <a:off x="685800" y="4480370"/>
            <a:ext cx="10576560" cy="1417320"/>
          </a:xfrm>
          <a:prstGeom prst="roundRect">
            <a:avLst>
              <a:gd name="adj" fmla="val 8000"/>
            </a:avLst>
          </a:prstGeom>
          <a:solidFill>
            <a:srgbClr val="FFFF00"/>
          </a:solidFill>
          <a:ln w="15875">
            <a:solidFill>
              <a:srgbClr val="000000"/>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2800" b="1" dirty="0">
                <a:solidFill>
                  <a:srgbClr val="000000"/>
                </a:solidFill>
              </a:rPr>
              <a:t>There IS an "I" in "TEAM": recruiters </a:t>
            </a:r>
            <a:r>
              <a:rPr lang="en-US" sz="2800" b="1" dirty="0">
                <a:solidFill>
                  <a:srgbClr val="000000"/>
                </a:solidFill>
              </a:rPr>
              <a:t>are assessing how you function with a team </a:t>
            </a:r>
            <a:r>
              <a:rPr sz="2800" b="1" dirty="0">
                <a:solidFill>
                  <a:srgbClr val="000000"/>
                </a:solidFill>
              </a:rPr>
              <a:t>and your own</a:t>
            </a:r>
            <a:r>
              <a:rPr lang="en-US" sz="2800" b="1" dirty="0">
                <a:solidFill>
                  <a:srgbClr val="000000"/>
                </a:solidFill>
              </a:rPr>
              <a:t> specific</a:t>
            </a:r>
            <a:r>
              <a:rPr sz="2800" b="1" dirty="0">
                <a:solidFill>
                  <a:srgbClr val="000000"/>
                </a:solidFill>
              </a:rPr>
              <a:t> contribution</a:t>
            </a:r>
            <a:r>
              <a:rPr lang="en-US" sz="2800" b="1" dirty="0">
                <a:solidFill>
                  <a:srgbClr val="000000"/>
                </a:solidFill>
              </a:rPr>
              <a:t>s</a:t>
            </a:r>
            <a:r>
              <a:rPr sz="2800" b="1" dirty="0">
                <a:solidFill>
                  <a:srgbClr val="000000"/>
                </a:solidFill>
              </a:rPr>
              <a:t>. Show a balance of the two.</a:t>
            </a:r>
          </a:p>
        </p:txBody>
      </p:sp>
      <p:sp>
        <p:nvSpPr>
          <p:cNvPr id="51211"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2"/>
              </a:rPr>
              <a:t>Resumes · second-hand-tigers/badocter-career-learnings Wiki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Mock Interview: The Game</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14</a:t>
            </a:fld>
            <a:endParaRPr lang="en-US" altLang="en-US" sz="1400" dirty="0"/>
          </a:p>
        </p:txBody>
      </p:sp>
      <p:sp>
        <p:nvSpPr>
          <p:cNvPr id="51205" name="TextBox 51204"/>
          <p:cNvSpPr txBox="1"/>
          <p:nvPr/>
        </p:nvSpPr>
        <p:spPr>
          <a:xfrm>
            <a:off x="365760" y="914400"/>
            <a:ext cx="5852160" cy="3835922"/>
          </a:xfrm>
          <a:prstGeom prst="rect">
            <a:avLst/>
          </a:prstGeom>
          <a:noFill/>
        </p:spPr>
        <p:txBody>
          <a:bodyPr wrap="square" lIns="73152" tIns="73152" rIns="73152" bIns="73152" anchor="t">
            <a:spAutoFit/>
          </a:bodyPr>
          <a:lstStyle/>
          <a:p>
            <a:pPr marL="365760" indent="-365760">
              <a:spcAft>
                <a:spcPts val="1000"/>
              </a:spcAft>
              <a:buAutoNum type="arabicPeriod"/>
            </a:pPr>
            <a:r>
              <a:rPr sz="1800" b="0" i="0" dirty="0">
                <a:solidFill>
                  <a:srgbClr val="000000"/>
                </a:solidFill>
                <a:latin typeface="Arial"/>
              </a:rPr>
              <a:t>Pair up: one Interviewer, one Interviewee. Odd number? Make a triad with an observer</a:t>
            </a:r>
          </a:p>
          <a:p>
            <a:pPr marL="365760" indent="-365760">
              <a:spcAft>
                <a:spcPts val="1000"/>
              </a:spcAft>
              <a:buAutoNum type="arabicPeriod"/>
            </a:pPr>
            <a:r>
              <a:rPr sz="1800" b="0" i="0" dirty="0">
                <a:solidFill>
                  <a:srgbClr val="000000"/>
                </a:solidFill>
                <a:latin typeface="Arial"/>
              </a:rPr>
              <a:t>The Interviewer holds the Interviewee's resume and the scorecard</a:t>
            </a:r>
          </a:p>
          <a:p>
            <a:pPr marL="365760" indent="-365760">
              <a:spcAft>
                <a:spcPts val="1000"/>
              </a:spcAft>
              <a:buAutoNum type="arabicPeriod"/>
            </a:pPr>
            <a:r>
              <a:rPr sz="1800" b="0" i="0" dirty="0">
                <a:solidFill>
                  <a:srgbClr val="000000"/>
                </a:solidFill>
                <a:latin typeface="Arial"/>
              </a:rPr>
              <a:t>Pick one resume entry and </a:t>
            </a:r>
            <a:r>
              <a:rPr lang="en-US" sz="1800" b="0" i="0" dirty="0">
                <a:solidFill>
                  <a:srgbClr val="000000"/>
                </a:solidFill>
                <a:latin typeface="Arial"/>
              </a:rPr>
              <a:t>start</a:t>
            </a:r>
            <a:r>
              <a:rPr sz="1800" b="0" i="0" dirty="0">
                <a:solidFill>
                  <a:srgbClr val="000000"/>
                </a:solidFill>
                <a:latin typeface="Arial"/>
              </a:rPr>
              <a:t> asking questions</a:t>
            </a:r>
            <a:r>
              <a:rPr lang="en-US" sz="1800" b="0" i="0" dirty="0">
                <a:solidFill>
                  <a:srgbClr val="000000"/>
                </a:solidFill>
                <a:latin typeface="Arial"/>
              </a:rPr>
              <a:t> to cover LBIT</a:t>
            </a:r>
            <a:endParaRPr sz="1800" b="0" i="0" dirty="0">
              <a:solidFill>
                <a:srgbClr val="000000"/>
              </a:solidFill>
              <a:latin typeface="Arial"/>
            </a:endParaRPr>
          </a:p>
          <a:p>
            <a:pPr marL="365760" indent="-365760">
              <a:spcAft>
                <a:spcPts val="1000"/>
              </a:spcAft>
              <a:buAutoNum type="arabicPeriod"/>
            </a:pPr>
            <a:r>
              <a:rPr lang="en-US" sz="1800" b="0" i="0" dirty="0">
                <a:solidFill>
                  <a:srgbClr val="000000"/>
                </a:solidFill>
                <a:latin typeface="Arial"/>
              </a:rPr>
              <a:t>Write</a:t>
            </a:r>
            <a:r>
              <a:rPr sz="1800" b="0" i="0" dirty="0">
                <a:solidFill>
                  <a:srgbClr val="000000"/>
                </a:solidFill>
                <a:latin typeface="Arial"/>
              </a:rPr>
              <a:t> down </a:t>
            </a:r>
            <a:r>
              <a:rPr lang="en-US" sz="1800" b="0" i="0" dirty="0">
                <a:solidFill>
                  <a:srgbClr val="000000"/>
                </a:solidFill>
                <a:latin typeface="Arial"/>
              </a:rPr>
              <a:t>their responses</a:t>
            </a:r>
            <a:r>
              <a:rPr sz="1800" b="0" i="0" dirty="0">
                <a:solidFill>
                  <a:srgbClr val="000000"/>
                </a:solidFill>
                <a:latin typeface="Arial"/>
              </a:rPr>
              <a:t>, </a:t>
            </a:r>
            <a:r>
              <a:rPr lang="en-US" sz="1800" b="0" i="0" dirty="0">
                <a:solidFill>
                  <a:srgbClr val="000000"/>
                </a:solidFill>
                <a:latin typeface="Arial"/>
              </a:rPr>
              <a:t>and continue probing </a:t>
            </a:r>
            <a:r>
              <a:rPr sz="1800" b="0" i="0" dirty="0">
                <a:solidFill>
                  <a:srgbClr val="000000"/>
                </a:solidFill>
                <a:latin typeface="Arial"/>
              </a:rPr>
              <a:t>until all four </a:t>
            </a:r>
            <a:r>
              <a:rPr lang="en-US" sz="1800" b="0" i="0" dirty="0">
                <a:solidFill>
                  <a:srgbClr val="000000"/>
                </a:solidFill>
                <a:latin typeface="Arial"/>
              </a:rPr>
              <a:t>dimensions </a:t>
            </a:r>
            <a:r>
              <a:rPr lang="en-US" sz="1800" dirty="0">
                <a:solidFill>
                  <a:srgbClr val="000000"/>
                </a:solidFill>
                <a:latin typeface="Arial"/>
              </a:rPr>
              <a:t>have been covered</a:t>
            </a:r>
            <a:endParaRPr sz="1800" b="0" i="0" dirty="0">
              <a:solidFill>
                <a:srgbClr val="000000"/>
              </a:solidFill>
              <a:latin typeface="Arial"/>
            </a:endParaRPr>
          </a:p>
          <a:p>
            <a:pPr marL="365760" indent="-365760">
              <a:spcAft>
                <a:spcPts val="1000"/>
              </a:spcAft>
              <a:buAutoNum type="arabicPeriod"/>
            </a:pPr>
            <a:r>
              <a:rPr sz="1800" b="0" i="0" dirty="0">
                <a:solidFill>
                  <a:srgbClr val="000000"/>
                </a:solidFill>
                <a:latin typeface="Arial"/>
              </a:rPr>
              <a:t>Then take the next entry, or swap roles</a:t>
            </a:r>
          </a:p>
          <a:p>
            <a:pPr marL="365760" indent="-365760">
              <a:spcAft>
                <a:spcPts val="600"/>
              </a:spcAft>
              <a:buAutoNum type="arabicPeriod"/>
            </a:pPr>
            <a:r>
              <a:rPr sz="1800" b="0" i="0" dirty="0">
                <a:solidFill>
                  <a:srgbClr val="000000"/>
                </a:solidFill>
                <a:latin typeface="Arial"/>
              </a:rPr>
              <a:t>Observers share what they noticed at the end of the round</a:t>
            </a:r>
          </a:p>
        </p:txBody>
      </p:sp>
      <p:graphicFrame>
        <p:nvGraphicFramePr>
          <p:cNvPr id="51206" name="Scorecard"/>
          <p:cNvGraphicFramePr>
            <a:graphicFrameLocks noGrp="1"/>
          </p:cNvGraphicFramePr>
          <p:nvPr/>
        </p:nvGraphicFramePr>
        <p:xfrm>
          <a:off x="6492240" y="960120"/>
          <a:ext cx="5303520" cy="3017520"/>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603504">
                <a:tc>
                  <a:txBody>
                    <a:bodyPr/>
                    <a:lstStyle/>
                    <a:p>
                      <a:r>
                        <a:rPr sz="1600" b="1" i="0"/>
                        <a:t>Dimension</a:t>
                      </a:r>
                    </a:p>
                  </a:txBody>
                  <a:tcPr marL="73152" marR="73152" marT="36576" marB="36576" anchor="ctr"/>
                </a:tc>
                <a:tc>
                  <a:txBody>
                    <a:bodyPr/>
                    <a:lstStyle/>
                    <a:p>
                      <a:r>
                        <a:rPr sz="1600" b="1" i="0"/>
                        <a:t>Covered?</a:t>
                      </a:r>
                    </a:p>
                  </a:txBody>
                  <a:tcPr marL="73152" marR="73152" marT="36576" marB="36576" anchor="ctr"/>
                </a:tc>
                <a:tc>
                  <a:txBody>
                    <a:bodyPr/>
                    <a:lstStyle/>
                    <a:p>
                      <a:r>
                        <a:rPr sz="1600" b="1" i="0"/>
                        <a:t>What They Said</a:t>
                      </a:r>
                    </a:p>
                  </a:txBody>
                  <a:tcPr marL="73152" marR="73152" marT="36576" marB="36576" anchor="ctr"/>
                </a:tc>
                <a:extLst>
                  <a:ext uri="{0D108BD9-81ED-4DB2-BD59-A6C34878D82A}">
                    <a16:rowId xmlns:a16="http://schemas.microsoft.com/office/drawing/2014/main" val="10000"/>
                  </a:ext>
                </a:extLst>
              </a:tr>
              <a:tr h="603504">
                <a:tc>
                  <a:txBody>
                    <a:bodyPr/>
                    <a:lstStyle/>
                    <a:p>
                      <a:r>
                        <a:rPr sz="1600" b="0" i="0">
                          <a:solidFill>
                            <a:srgbClr val="000000"/>
                          </a:solidFill>
                        </a:rPr>
                        <a:t>Leadership</a:t>
                      </a:r>
                    </a:p>
                  </a:txBody>
                  <a:tcPr marL="73152" marR="73152" marT="36576" marB="36576" anchor="ctr"/>
                </a:tc>
                <a:tc>
                  <a:txBody>
                    <a:bodyPr/>
                    <a:lstStyle/>
                    <a:p>
                      <a:r>
                        <a:rPr sz="1600" b="0" i="0">
                          <a:solidFill>
                            <a:srgbClr val="000000"/>
                          </a:solidFill>
                        </a:rPr>
                        <a:t>☐</a:t>
                      </a:r>
                    </a:p>
                  </a:txBody>
                  <a:tcPr marL="73152" marR="73152" marT="36576" marB="36576" anchor="ctr"/>
                </a:tc>
                <a:tc>
                  <a:txBody>
                    <a:bodyPr/>
                    <a:lstStyle/>
                    <a:p>
                      <a:endParaRPr/>
                    </a:p>
                  </a:txBody>
                  <a:tcPr marL="73152" marR="73152" marT="36576" marB="36576" anchor="ctr"/>
                </a:tc>
                <a:extLst>
                  <a:ext uri="{0D108BD9-81ED-4DB2-BD59-A6C34878D82A}">
                    <a16:rowId xmlns:a16="http://schemas.microsoft.com/office/drawing/2014/main" val="10001"/>
                  </a:ext>
                </a:extLst>
              </a:tr>
              <a:tr h="603504">
                <a:tc>
                  <a:txBody>
                    <a:bodyPr/>
                    <a:lstStyle/>
                    <a:p>
                      <a:r>
                        <a:rPr sz="1600" b="0" i="0">
                          <a:solidFill>
                            <a:srgbClr val="000000"/>
                          </a:solidFill>
                        </a:rPr>
                        <a:t>Business</a:t>
                      </a:r>
                    </a:p>
                  </a:txBody>
                  <a:tcPr marL="73152" marR="73152" marT="36576" marB="36576" anchor="ctr"/>
                </a:tc>
                <a:tc>
                  <a:txBody>
                    <a:bodyPr/>
                    <a:lstStyle/>
                    <a:p>
                      <a:r>
                        <a:rPr sz="1600" b="0" i="0">
                          <a:solidFill>
                            <a:srgbClr val="000000"/>
                          </a:solidFill>
                        </a:rPr>
                        <a:t>☐</a:t>
                      </a:r>
                    </a:p>
                  </a:txBody>
                  <a:tcPr marL="73152" marR="73152" marT="36576" marB="36576" anchor="ctr"/>
                </a:tc>
                <a:tc>
                  <a:txBody>
                    <a:bodyPr/>
                    <a:lstStyle/>
                    <a:p>
                      <a:endParaRPr/>
                    </a:p>
                  </a:txBody>
                  <a:tcPr marL="73152" marR="73152" marT="36576" marB="36576" anchor="ctr"/>
                </a:tc>
                <a:extLst>
                  <a:ext uri="{0D108BD9-81ED-4DB2-BD59-A6C34878D82A}">
                    <a16:rowId xmlns:a16="http://schemas.microsoft.com/office/drawing/2014/main" val="10002"/>
                  </a:ext>
                </a:extLst>
              </a:tr>
              <a:tr h="603504">
                <a:tc>
                  <a:txBody>
                    <a:bodyPr/>
                    <a:lstStyle/>
                    <a:p>
                      <a:r>
                        <a:rPr sz="1600" b="0" i="0">
                          <a:solidFill>
                            <a:srgbClr val="000000"/>
                          </a:solidFill>
                        </a:rPr>
                        <a:t>Interpersonal</a:t>
                      </a:r>
                    </a:p>
                  </a:txBody>
                  <a:tcPr marL="73152" marR="73152" marT="36576" marB="36576" anchor="ctr"/>
                </a:tc>
                <a:tc>
                  <a:txBody>
                    <a:bodyPr/>
                    <a:lstStyle/>
                    <a:p>
                      <a:r>
                        <a:rPr sz="1600" b="0" i="0">
                          <a:solidFill>
                            <a:srgbClr val="000000"/>
                          </a:solidFill>
                        </a:rPr>
                        <a:t>☐</a:t>
                      </a:r>
                    </a:p>
                  </a:txBody>
                  <a:tcPr marL="73152" marR="73152" marT="36576" marB="36576" anchor="ctr"/>
                </a:tc>
                <a:tc>
                  <a:txBody>
                    <a:bodyPr/>
                    <a:lstStyle/>
                    <a:p>
                      <a:endParaRPr/>
                    </a:p>
                  </a:txBody>
                  <a:tcPr marL="73152" marR="73152" marT="36576" marB="36576" anchor="ctr"/>
                </a:tc>
                <a:extLst>
                  <a:ext uri="{0D108BD9-81ED-4DB2-BD59-A6C34878D82A}">
                    <a16:rowId xmlns:a16="http://schemas.microsoft.com/office/drawing/2014/main" val="10003"/>
                  </a:ext>
                </a:extLst>
              </a:tr>
              <a:tr h="603504">
                <a:tc>
                  <a:txBody>
                    <a:bodyPr/>
                    <a:lstStyle/>
                    <a:p>
                      <a:r>
                        <a:rPr sz="1600" b="0" i="0">
                          <a:solidFill>
                            <a:srgbClr val="000000"/>
                          </a:solidFill>
                        </a:rPr>
                        <a:t>Technical</a:t>
                      </a:r>
                    </a:p>
                  </a:txBody>
                  <a:tcPr marL="73152" marR="73152" marT="36576" marB="36576" anchor="ctr"/>
                </a:tc>
                <a:tc>
                  <a:txBody>
                    <a:bodyPr/>
                    <a:lstStyle/>
                    <a:p>
                      <a:r>
                        <a:rPr sz="1600" b="0" i="0">
                          <a:solidFill>
                            <a:srgbClr val="000000"/>
                          </a:solidFill>
                        </a:rPr>
                        <a:t>☐</a:t>
                      </a:r>
                    </a:p>
                  </a:txBody>
                  <a:tcPr marL="73152" marR="73152" marT="36576" marB="36576" anchor="ctr"/>
                </a:tc>
                <a:tc>
                  <a:txBody>
                    <a:bodyPr/>
                    <a:lstStyle/>
                    <a:p>
                      <a:endParaRPr/>
                    </a:p>
                  </a:txBody>
                  <a:tcPr marL="73152" marR="73152" marT="36576" marB="36576" anchor="ctr"/>
                </a:tc>
                <a:extLst>
                  <a:ext uri="{0D108BD9-81ED-4DB2-BD59-A6C34878D82A}">
                    <a16:rowId xmlns:a16="http://schemas.microsoft.com/office/drawing/2014/main" val="10004"/>
                  </a:ext>
                </a:extLst>
              </a:tr>
            </a:tbl>
          </a:graphicData>
        </a:graphic>
      </p:graphicFrame>
      <p:sp>
        <p:nvSpPr>
          <p:cNvPr id="51207" name="TextBox 51206"/>
          <p:cNvSpPr txBox="1"/>
          <p:nvPr/>
        </p:nvSpPr>
        <p:spPr>
          <a:xfrm>
            <a:off x="6492240" y="4023360"/>
            <a:ext cx="5303520" cy="365760"/>
          </a:xfrm>
          <a:prstGeom prst="rect">
            <a:avLst/>
          </a:prstGeom>
          <a:noFill/>
        </p:spPr>
        <p:txBody>
          <a:bodyPr wrap="square" lIns="73152" tIns="73152" rIns="73152" bIns="73152" anchor="t">
            <a:spAutoFit/>
          </a:bodyPr>
          <a:lstStyle/>
          <a:p>
            <a:pPr>
              <a:spcAft>
                <a:spcPts val="600"/>
              </a:spcAft>
            </a:pPr>
            <a:r>
              <a:rPr sz="1400" b="0" i="1">
                <a:solidFill>
                  <a:srgbClr val="595959"/>
                </a:solidFill>
                <a:latin typeface="Arial"/>
              </a:rPr>
              <a:t>Scorecard (paper copies provided)</a:t>
            </a:r>
          </a:p>
        </p:txBody>
      </p:sp>
      <p:sp>
        <p:nvSpPr>
          <p:cNvPr id="51208" name="Step Setup"/>
          <p:cNvSpPr/>
          <p:nvPr/>
        </p:nvSpPr>
        <p:spPr>
          <a:xfrm>
            <a:off x="365760" y="4724400"/>
            <a:ext cx="2103120" cy="86868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dirty="0">
                <a:solidFill>
                  <a:srgbClr val="000000"/>
                </a:solidFill>
              </a:rPr>
              <a:t>Setup  </a:t>
            </a:r>
            <a:r>
              <a:rPr sz="1600" dirty="0">
                <a:solidFill>
                  <a:srgbClr val="000000"/>
                </a:solidFill>
              </a:rPr>
              <a:t>2 min</a:t>
            </a:r>
          </a:p>
        </p:txBody>
      </p:sp>
      <p:sp>
        <p:nvSpPr>
          <p:cNvPr id="51209" name="Right Arrow 51208"/>
          <p:cNvSpPr/>
          <p:nvPr/>
        </p:nvSpPr>
        <p:spPr>
          <a:xfrm>
            <a:off x="2505456" y="4925568"/>
            <a:ext cx="292608" cy="457200"/>
          </a:xfrm>
          <a:prstGeom prst="rightArrow">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10" name="Step Round 1"/>
          <p:cNvSpPr/>
          <p:nvPr/>
        </p:nvSpPr>
        <p:spPr>
          <a:xfrm>
            <a:off x="2834639" y="4724400"/>
            <a:ext cx="2743200" cy="86868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dirty="0">
                <a:solidFill>
                  <a:srgbClr val="FFFFFF"/>
                </a:solidFill>
              </a:rPr>
              <a:t>Round 1  </a:t>
            </a:r>
            <a:r>
              <a:rPr sz="1600" dirty="0">
                <a:solidFill>
                  <a:srgbClr val="FFFFFF"/>
                </a:solidFill>
              </a:rPr>
              <a:t>~7 min</a:t>
            </a:r>
          </a:p>
        </p:txBody>
      </p:sp>
      <p:sp>
        <p:nvSpPr>
          <p:cNvPr id="51211" name="Right Arrow 51210"/>
          <p:cNvSpPr/>
          <p:nvPr/>
        </p:nvSpPr>
        <p:spPr>
          <a:xfrm>
            <a:off x="5614416" y="4925568"/>
            <a:ext cx="292608" cy="457200"/>
          </a:xfrm>
          <a:prstGeom prst="rightArrow">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12" name="Step Swap: Round 2"/>
          <p:cNvSpPr/>
          <p:nvPr/>
        </p:nvSpPr>
        <p:spPr>
          <a:xfrm>
            <a:off x="5943600" y="4724400"/>
            <a:ext cx="2743200" cy="86868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dirty="0">
                <a:solidFill>
                  <a:srgbClr val="FFFFFF"/>
                </a:solidFill>
              </a:rPr>
              <a:t>Swap: Round 2  </a:t>
            </a:r>
            <a:r>
              <a:rPr sz="1600" dirty="0">
                <a:solidFill>
                  <a:srgbClr val="FFFFFF"/>
                </a:solidFill>
              </a:rPr>
              <a:t>~7 min</a:t>
            </a:r>
          </a:p>
        </p:txBody>
      </p:sp>
      <p:sp>
        <p:nvSpPr>
          <p:cNvPr id="51213" name="Right Arrow 51212"/>
          <p:cNvSpPr/>
          <p:nvPr/>
        </p:nvSpPr>
        <p:spPr>
          <a:xfrm>
            <a:off x="8723376" y="4925568"/>
            <a:ext cx="292608" cy="457200"/>
          </a:xfrm>
          <a:prstGeom prst="rightArrow">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14" name="Step Debrief"/>
          <p:cNvSpPr/>
          <p:nvPr/>
        </p:nvSpPr>
        <p:spPr>
          <a:xfrm>
            <a:off x="9052560" y="4724400"/>
            <a:ext cx="2103120" cy="86868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b="1" dirty="0">
                <a:solidFill>
                  <a:srgbClr val="000000"/>
                </a:solidFill>
              </a:rPr>
              <a:t>Debrief  </a:t>
            </a:r>
            <a:r>
              <a:rPr sz="1600" dirty="0">
                <a:solidFill>
                  <a:srgbClr val="000000"/>
                </a:solidFill>
              </a:rPr>
              <a:t>3 min</a:t>
            </a:r>
          </a:p>
        </p:txBody>
      </p:sp>
      <p:sp>
        <p:nvSpPr>
          <p:cNvPr id="51215"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3"/>
              </a:rPr>
              <a:t>Mock Interview Practice · second-hand-tigers/badocter-career-learnings Wiki</a:t>
            </a:r>
          </a:p>
        </p:txBody>
      </p:sp>
      <p:sp>
        <p:nvSpPr>
          <p:cNvPr id="4" name="TextBox 3">
            <a:extLst>
              <a:ext uri="{FF2B5EF4-FFF2-40B4-BE49-F238E27FC236}">
                <a16:creationId xmlns:a16="http://schemas.microsoft.com/office/drawing/2014/main" id="{7B37D33B-4161-77CA-6380-B66D36CA6371}"/>
              </a:ext>
            </a:extLst>
          </p:cNvPr>
          <p:cNvSpPr txBox="1"/>
          <p:nvPr/>
        </p:nvSpPr>
        <p:spPr>
          <a:xfrm>
            <a:off x="203200" y="5741910"/>
            <a:ext cx="11892746" cy="400110"/>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 real interviewer works through 5-6 of these per one-hour interview: about 7 minutes each, notes taken live.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Debrief</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15</a:t>
            </a:fld>
            <a:endParaRPr lang="en-US" altLang="en-US" sz="1400"/>
          </a:p>
        </p:txBody>
      </p:sp>
      <p:sp>
        <p:nvSpPr>
          <p:cNvPr id="51205" name="TextBox 51204"/>
          <p:cNvSpPr txBox="1"/>
          <p:nvPr/>
        </p:nvSpPr>
        <p:spPr>
          <a:xfrm>
            <a:off x="365760" y="1005840"/>
            <a:ext cx="11430000" cy="914400"/>
          </a:xfrm>
          <a:prstGeom prst="rect">
            <a:avLst/>
          </a:prstGeom>
          <a:noFill/>
        </p:spPr>
        <p:txBody>
          <a:bodyPr wrap="square" lIns="73152" tIns="73152" rIns="73152" bIns="73152" anchor="t">
            <a:spAutoFit/>
          </a:bodyPr>
          <a:lstStyle/>
          <a:p>
            <a:pPr>
              <a:spcAft>
                <a:spcPts val="600"/>
              </a:spcAft>
            </a:pPr>
            <a:r>
              <a:rPr sz="3600" b="1" i="0">
                <a:solidFill>
                  <a:srgbClr val="007A5C"/>
                </a:solidFill>
                <a:latin typeface="Arial"/>
              </a:rPr>
              <a:t>Interviewers: what was hard?</a:t>
            </a:r>
          </a:p>
        </p:txBody>
      </p:sp>
      <p:sp>
        <p:nvSpPr>
          <p:cNvPr id="51206" name="Card That's the actual sk"/>
          <p:cNvSpPr/>
          <p:nvPr/>
        </p:nvSpPr>
        <p:spPr>
          <a:xfrm>
            <a:off x="365760" y="2194560"/>
            <a:ext cx="3675887" cy="274320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07" name="Card Header That's the actual sk"/>
          <p:cNvSpPr/>
          <p:nvPr/>
        </p:nvSpPr>
        <p:spPr>
          <a:xfrm>
            <a:off x="365760" y="2194560"/>
            <a:ext cx="3675887"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That's the actual skill</a:t>
            </a:r>
          </a:p>
        </p:txBody>
      </p:sp>
      <p:sp>
        <p:nvSpPr>
          <p:cNvPr id="51208" name="TextBox 51207"/>
          <p:cNvSpPr txBox="1"/>
          <p:nvPr/>
        </p:nvSpPr>
        <p:spPr>
          <a:xfrm>
            <a:off x="429768" y="2816352"/>
            <a:ext cx="3547871" cy="208483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Asking a good question, actually listening, and writing down what was said, all without an awkward pause. It gets easier with practice.</a:t>
            </a:r>
          </a:p>
        </p:txBody>
      </p:sp>
      <p:sp>
        <p:nvSpPr>
          <p:cNvPr id="51209" name="Card Now you've felt it"/>
          <p:cNvSpPr/>
          <p:nvPr/>
        </p:nvSpPr>
        <p:spPr>
          <a:xfrm>
            <a:off x="4224528" y="2194560"/>
            <a:ext cx="3675887" cy="274320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0" name="Card Header Now you've felt it"/>
          <p:cNvSpPr/>
          <p:nvPr/>
        </p:nvSpPr>
        <p:spPr>
          <a:xfrm>
            <a:off x="4224528" y="2194560"/>
            <a:ext cx="3675887"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Now you've felt it</a:t>
            </a:r>
          </a:p>
        </p:txBody>
      </p:sp>
      <p:sp>
        <p:nvSpPr>
          <p:cNvPr id="51211" name="TextBox 51210"/>
          <p:cNvSpPr txBox="1"/>
          <p:nvPr/>
        </p:nvSpPr>
        <p:spPr>
          <a:xfrm>
            <a:off x="4288536" y="2816352"/>
            <a:ext cx="3547871" cy="208483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That's what the person across the table is doing in a real interview. They're nervous too.</a:t>
            </a:r>
          </a:p>
        </p:txBody>
      </p:sp>
      <p:sp>
        <p:nvSpPr>
          <p:cNvPr id="51212" name="Card Take it further"/>
          <p:cNvSpPr/>
          <p:nvPr/>
        </p:nvSpPr>
        <p:spPr>
          <a:xfrm>
            <a:off x="8083296" y="2194560"/>
            <a:ext cx="3675887" cy="2743200"/>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3" name="Card Header Take it further"/>
          <p:cNvSpPr/>
          <p:nvPr/>
        </p:nvSpPr>
        <p:spPr>
          <a:xfrm>
            <a:off x="8083296" y="2194560"/>
            <a:ext cx="3675887" cy="548640"/>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r>
              <a:rPr sz="1800" b="1">
                <a:solidFill>
                  <a:srgbClr val="FFFFFF"/>
                </a:solidFill>
              </a:rPr>
              <a:t>Take it further</a:t>
            </a:r>
          </a:p>
        </p:txBody>
      </p:sp>
      <p:sp>
        <p:nvSpPr>
          <p:cNvPr id="51214" name="TextBox 51213"/>
          <p:cNvSpPr txBox="1"/>
          <p:nvPr/>
        </p:nvSpPr>
        <p:spPr>
          <a:xfrm>
            <a:off x="8147304" y="2816352"/>
            <a:ext cx="3547871" cy="2084831"/>
          </a:xfrm>
          <a:prstGeom prst="rect">
            <a:avLst/>
          </a:prstGeom>
          <a:noFill/>
        </p:spPr>
        <p:txBody>
          <a:bodyPr wrap="square" lIns="73152" tIns="73152" rIns="73152" bIns="73152" anchor="t">
            <a:spAutoFit/>
          </a:bodyPr>
          <a:lstStyle/>
          <a:p>
            <a:pPr>
              <a:spcAft>
                <a:spcPts val="600"/>
              </a:spcAft>
            </a:pPr>
            <a:r>
              <a:rPr sz="1800" b="0" i="0">
                <a:solidFill>
                  <a:srgbClr val="000000"/>
                </a:solidFill>
                <a:latin typeface="Arial"/>
              </a:rPr>
              <a:t>A real mock interview event is this same game, with a working professional in the Interviewer's chair. Chase those when you can.</a:t>
            </a:r>
          </a:p>
        </p:txBody>
      </p:sp>
      <p:sp>
        <p:nvSpPr>
          <p:cNvPr id="51215" name="TextBox 51214"/>
          <p:cNvSpPr txBox="1"/>
          <p:nvPr/>
        </p:nvSpPr>
        <p:spPr>
          <a:xfrm>
            <a:off x="365760" y="5440680"/>
            <a:ext cx="11430000" cy="548640"/>
          </a:xfrm>
          <a:prstGeom prst="rect">
            <a:avLst/>
          </a:prstGeom>
          <a:noFill/>
        </p:spPr>
        <p:txBody>
          <a:bodyPr wrap="square" lIns="73152" tIns="73152" rIns="73152" bIns="73152" anchor="t">
            <a:spAutoFit/>
          </a:bodyPr>
          <a:lstStyle/>
          <a:p>
            <a:pPr>
              <a:spcAft>
                <a:spcPts val="600"/>
              </a:spcAft>
            </a:pPr>
            <a:r>
              <a:rPr sz="1600" b="0" i="1">
                <a:solidFill>
                  <a:srgbClr val="595959"/>
                </a:solidFill>
                <a:latin typeface="Arial"/>
              </a:rPr>
              <a:t>Practicing the Interviewer's chair is worth as much as practicing the Interviewee's.</a:t>
            </a:r>
          </a:p>
        </p:txBody>
      </p:sp>
      <p:sp>
        <p:nvSpPr>
          <p:cNvPr id="51216"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3"/>
              </a:rPr>
              <a:t>Mock Interview Practice · second-hand-tigers/badocter-career-learnings Wiki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More Than a Toolb</a:t>
            </a:r>
            <a:r>
              <a:rPr lang="en-US" dirty="0"/>
              <a:t>ox</a:t>
            </a:r>
            <a:r>
              <a:rPr dirty="0"/>
              <a:t> of Technical Skills</a:t>
            </a:r>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16</a:t>
            </a:fld>
            <a:endParaRPr lang="en-US" altLang="en-US" sz="1400"/>
          </a:p>
        </p:txBody>
      </p:sp>
      <p:sp>
        <p:nvSpPr>
          <p:cNvPr id="51205" name="Label Development Plan"/>
          <p:cNvSpPr/>
          <p:nvPr/>
        </p:nvSpPr>
        <p:spPr>
          <a:xfrm>
            <a:off x="365760" y="960120"/>
            <a:ext cx="2926080" cy="713232"/>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000" b="1">
                <a:solidFill>
                  <a:srgbClr val="FFFFFF"/>
                </a:solidFill>
              </a:rPr>
              <a:t>Activities</a:t>
            </a:r>
          </a:p>
        </p:txBody>
      </p:sp>
      <p:sp>
        <p:nvSpPr>
          <p:cNvPr id="51206" name="Row Development Plan"/>
          <p:cNvSpPr/>
          <p:nvPr/>
        </p:nvSpPr>
        <p:spPr>
          <a:xfrm>
            <a:off x="3383280" y="960120"/>
            <a:ext cx="8412480" cy="713232"/>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07" name="TextBox 51206"/>
          <p:cNvSpPr txBox="1"/>
          <p:nvPr/>
        </p:nvSpPr>
        <p:spPr>
          <a:xfrm>
            <a:off x="3520440" y="960120"/>
            <a:ext cx="8229600" cy="713232"/>
          </a:xfrm>
          <a:prstGeom prst="rect">
            <a:avLst/>
          </a:prstGeom>
          <a:noFill/>
        </p:spPr>
        <p:txBody>
          <a:bodyPr wrap="square" lIns="73152" tIns="73152" rIns="73152" bIns="73152" anchor="ctr">
            <a:spAutoFit/>
          </a:bodyPr>
          <a:lstStyle/>
          <a:p>
            <a:pPr>
              <a:spcAft>
                <a:spcPts val="600"/>
              </a:spcAft>
            </a:pPr>
            <a:r>
              <a:rPr sz="1800" b="0" i="0">
                <a:solidFill>
                  <a:srgbClr val="000000"/>
                </a:solidFill>
                <a:latin typeface="Arial"/>
              </a:rPr>
              <a:t>Pick ones that develop more than one dimension</a:t>
            </a:r>
          </a:p>
        </p:txBody>
      </p:sp>
      <p:sp>
        <p:nvSpPr>
          <p:cNvPr id="51208" name="Label Resume"/>
          <p:cNvSpPr/>
          <p:nvPr/>
        </p:nvSpPr>
        <p:spPr>
          <a:xfrm>
            <a:off x="365760" y="1828800"/>
            <a:ext cx="2926080" cy="713232"/>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000" b="1">
                <a:solidFill>
                  <a:srgbClr val="FFFFFF"/>
                </a:solidFill>
              </a:rPr>
              <a:t>Resume</a:t>
            </a:r>
          </a:p>
        </p:txBody>
      </p:sp>
      <p:sp>
        <p:nvSpPr>
          <p:cNvPr id="51209" name="Row Resume"/>
          <p:cNvSpPr/>
          <p:nvPr/>
        </p:nvSpPr>
        <p:spPr>
          <a:xfrm>
            <a:off x="3383280" y="1828800"/>
            <a:ext cx="8412480" cy="713232"/>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0" name="TextBox 51209"/>
          <p:cNvSpPr txBox="1"/>
          <p:nvPr/>
        </p:nvSpPr>
        <p:spPr>
          <a:xfrm>
            <a:off x="3520440" y="1828800"/>
            <a:ext cx="8229600" cy="713232"/>
          </a:xfrm>
          <a:prstGeom prst="rect">
            <a:avLst/>
          </a:prstGeom>
          <a:noFill/>
        </p:spPr>
        <p:txBody>
          <a:bodyPr wrap="square" lIns="73152" tIns="73152" rIns="73152" bIns="73152" anchor="ctr">
            <a:spAutoFit/>
          </a:bodyPr>
          <a:lstStyle/>
          <a:p>
            <a:pPr>
              <a:spcAft>
                <a:spcPts val="600"/>
              </a:spcAft>
            </a:pPr>
            <a:r>
              <a:rPr sz="1800" b="0" i="0">
                <a:solidFill>
                  <a:srgbClr val="000000"/>
                </a:solidFill>
                <a:latin typeface="Arial"/>
              </a:rPr>
              <a:t>Write bullets that hit more than one dimension</a:t>
            </a:r>
          </a:p>
        </p:txBody>
      </p:sp>
      <p:sp>
        <p:nvSpPr>
          <p:cNvPr id="51211" name="Label LinkedIn"/>
          <p:cNvSpPr/>
          <p:nvPr/>
        </p:nvSpPr>
        <p:spPr>
          <a:xfrm>
            <a:off x="365760" y="2697480"/>
            <a:ext cx="2926080" cy="713232"/>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000" b="1">
                <a:solidFill>
                  <a:srgbClr val="FFFFFF"/>
                </a:solidFill>
              </a:rPr>
              <a:t>LinkedIn</a:t>
            </a:r>
          </a:p>
        </p:txBody>
      </p:sp>
      <p:sp>
        <p:nvSpPr>
          <p:cNvPr id="51212" name="Row LinkedIn"/>
          <p:cNvSpPr/>
          <p:nvPr/>
        </p:nvSpPr>
        <p:spPr>
          <a:xfrm>
            <a:off x="3383280" y="2697480"/>
            <a:ext cx="8412480" cy="713232"/>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3" name="TextBox 51212"/>
          <p:cNvSpPr txBox="1"/>
          <p:nvPr/>
        </p:nvSpPr>
        <p:spPr>
          <a:xfrm>
            <a:off x="3520440" y="2697480"/>
            <a:ext cx="8229600" cy="713232"/>
          </a:xfrm>
          <a:prstGeom prst="rect">
            <a:avLst/>
          </a:prstGeom>
          <a:noFill/>
        </p:spPr>
        <p:txBody>
          <a:bodyPr wrap="square" lIns="73152" tIns="73152" rIns="73152" bIns="73152" anchor="ctr">
            <a:spAutoFit/>
          </a:bodyPr>
          <a:lstStyle/>
          <a:p>
            <a:pPr>
              <a:spcAft>
                <a:spcPts val="600"/>
              </a:spcAft>
            </a:pPr>
            <a:r>
              <a:rPr sz="1800" b="0" i="0">
                <a:solidFill>
                  <a:srgbClr val="000000"/>
                </a:solidFill>
                <a:latin typeface="Arial"/>
              </a:rPr>
              <a:t>Every entry is a potential probe; keep it current and professional</a:t>
            </a:r>
          </a:p>
        </p:txBody>
      </p:sp>
      <p:sp>
        <p:nvSpPr>
          <p:cNvPr id="51214" name="Label Interview"/>
          <p:cNvSpPr/>
          <p:nvPr/>
        </p:nvSpPr>
        <p:spPr>
          <a:xfrm>
            <a:off x="365760" y="3566159"/>
            <a:ext cx="2926080" cy="713232"/>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000" b="1">
                <a:solidFill>
                  <a:srgbClr val="FFFFFF"/>
                </a:solidFill>
              </a:rPr>
              <a:t>Interview</a:t>
            </a:r>
          </a:p>
        </p:txBody>
      </p:sp>
      <p:sp>
        <p:nvSpPr>
          <p:cNvPr id="51215" name="Row Interview"/>
          <p:cNvSpPr/>
          <p:nvPr/>
        </p:nvSpPr>
        <p:spPr>
          <a:xfrm>
            <a:off x="3383280" y="3566159"/>
            <a:ext cx="8412480" cy="713232"/>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6" name="TextBox 51215"/>
          <p:cNvSpPr txBox="1"/>
          <p:nvPr/>
        </p:nvSpPr>
        <p:spPr>
          <a:xfrm>
            <a:off x="3520440" y="3566159"/>
            <a:ext cx="8229600" cy="713232"/>
          </a:xfrm>
          <a:prstGeom prst="rect">
            <a:avLst/>
          </a:prstGeom>
          <a:noFill/>
        </p:spPr>
        <p:txBody>
          <a:bodyPr wrap="square" lIns="73152" tIns="73152" rIns="73152" bIns="73152" anchor="ctr">
            <a:spAutoFit/>
          </a:bodyPr>
          <a:lstStyle/>
          <a:p>
            <a:pPr>
              <a:spcAft>
                <a:spcPts val="600"/>
              </a:spcAft>
            </a:pPr>
            <a:r>
              <a:rPr sz="1800" b="0" i="0">
                <a:solidFill>
                  <a:srgbClr val="000000"/>
                </a:solidFill>
                <a:latin typeface="Arial"/>
              </a:rPr>
              <a:t>Cover all four dimensions before you're asked</a:t>
            </a:r>
          </a:p>
        </p:txBody>
      </p:sp>
      <p:sp>
        <p:nvSpPr>
          <p:cNvPr id="51217" name="Label Practice"/>
          <p:cNvSpPr/>
          <p:nvPr/>
        </p:nvSpPr>
        <p:spPr>
          <a:xfrm>
            <a:off x="365760" y="4434840"/>
            <a:ext cx="2926080" cy="713232"/>
          </a:xfrm>
          <a:prstGeom prst="roundRect">
            <a:avLst>
              <a:gd name="adj" fmla="val 8000"/>
            </a:avLst>
          </a:prstGeom>
          <a:solidFill>
            <a:srgbClr val="00CC99"/>
          </a:solidFill>
          <a:ln>
            <a:noFill/>
          </a:ln>
          <a:effectLst/>
        </p:spPr>
        <p:style>
          <a:lnRef idx="1">
            <a:schemeClr val="accent1"/>
          </a:lnRef>
          <a:fillRef idx="3">
            <a:schemeClr val="accent1"/>
          </a:fillRef>
          <a:effectRef idx="2">
            <a:schemeClr val="accent1"/>
          </a:effectRef>
          <a:fontRef idx="minor">
            <a:schemeClr val="lt1"/>
          </a:fontRef>
        </p:style>
        <p:txBody>
          <a:bodyPr lIns="182880" rtlCol="0" anchor="ctr"/>
          <a:lstStyle/>
          <a:p>
            <a:pPr algn="l"/>
            <a:r>
              <a:rPr sz="2000" b="1">
                <a:solidFill>
                  <a:srgbClr val="FFFFFF"/>
                </a:solidFill>
              </a:rPr>
              <a:t>Practice</a:t>
            </a:r>
          </a:p>
        </p:txBody>
      </p:sp>
      <p:sp>
        <p:nvSpPr>
          <p:cNvPr id="51218" name="Row Practice"/>
          <p:cNvSpPr/>
          <p:nvPr/>
        </p:nvSpPr>
        <p:spPr>
          <a:xfrm>
            <a:off x="3383280" y="4434840"/>
            <a:ext cx="8412480" cy="713232"/>
          </a:xfrm>
          <a:prstGeom prst="roundRect">
            <a:avLst>
              <a:gd name="adj" fmla="val 8000"/>
            </a:avLst>
          </a:prstGeom>
          <a:solidFill>
            <a:srgbClr val="E6F7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219" name="TextBox 51218"/>
          <p:cNvSpPr txBox="1"/>
          <p:nvPr/>
        </p:nvSpPr>
        <p:spPr>
          <a:xfrm>
            <a:off x="3520440" y="4434840"/>
            <a:ext cx="8229600" cy="713232"/>
          </a:xfrm>
          <a:prstGeom prst="rect">
            <a:avLst/>
          </a:prstGeom>
          <a:noFill/>
        </p:spPr>
        <p:txBody>
          <a:bodyPr wrap="square" lIns="73152" tIns="73152" rIns="73152" bIns="73152" anchor="ctr">
            <a:spAutoFit/>
          </a:bodyPr>
          <a:lstStyle/>
          <a:p>
            <a:pPr>
              <a:spcAft>
                <a:spcPts val="600"/>
              </a:spcAft>
            </a:pPr>
            <a:r>
              <a:rPr sz="1800" b="0" i="0">
                <a:solidFill>
                  <a:srgbClr val="000000"/>
                </a:solidFill>
                <a:latin typeface="Arial"/>
              </a:rPr>
              <a:t>Trade resumes with a classmate and play the mock interview game</a:t>
            </a:r>
          </a:p>
        </p:txBody>
      </p:sp>
      <p:sp>
        <p:nvSpPr>
          <p:cNvPr id="51220" name="TextBox 51219"/>
          <p:cNvSpPr txBox="1"/>
          <p:nvPr/>
        </p:nvSpPr>
        <p:spPr>
          <a:xfrm>
            <a:off x="341026" y="5657320"/>
            <a:ext cx="11430000" cy="424732"/>
          </a:xfrm>
          <a:prstGeom prst="rect">
            <a:avLst/>
          </a:prstGeom>
          <a:noFill/>
        </p:spPr>
        <p:txBody>
          <a:bodyPr wrap="square" lIns="73152" tIns="73152" rIns="73152" bIns="73152" anchor="t">
            <a:spAutoFit/>
          </a:bodyPr>
          <a:lstStyle/>
          <a:p>
            <a:pPr>
              <a:spcAft>
                <a:spcPts val="600"/>
              </a:spcAft>
            </a:pPr>
            <a:r>
              <a:rPr sz="1800" b="0" i="1" dirty="0">
                <a:solidFill>
                  <a:srgbClr val="595959"/>
                </a:solidFill>
                <a:latin typeface="Arial"/>
              </a:rPr>
              <a:t>More on the wiki: The Job Hunt hub links Resumes, LinkedIn, Interview Prep, and Mock Interview Practice.</a:t>
            </a:r>
          </a:p>
        </p:txBody>
      </p:sp>
      <p:sp>
        <p:nvSpPr>
          <p:cNvPr id="51221" name="Wiki Link"/>
          <p:cNvSpPr txBox="1"/>
          <p:nvPr/>
        </p:nvSpPr>
        <p:spPr>
          <a:xfrm>
            <a:off x="301752" y="6428232"/>
            <a:ext cx="9326880" cy="402336"/>
          </a:xfrm>
          <a:prstGeom prst="rect">
            <a:avLst/>
          </a:prstGeom>
          <a:noFill/>
        </p:spPr>
        <p:txBody>
          <a:bodyPr wrap="none">
            <a:spAutoFit/>
          </a:bodyPr>
          <a:lstStyle/>
          <a:p>
            <a:pPr algn="l"/>
            <a:r>
              <a:rPr sz="2000">
                <a:latin typeface="Calibri"/>
                <a:hlinkClick r:id="rId3"/>
              </a:rPr>
              <a:t>The Job Hunt · second-hand-tigers/badocter-career-learnings Wiki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BD412C-32EF-A7E7-C1EA-ED50BBEBFA40}"/>
              </a:ext>
            </a:extLst>
          </p:cNvPr>
          <p:cNvPicPr>
            <a:picLocks noChangeAspect="1"/>
          </p:cNvPicPr>
          <p:nvPr/>
        </p:nvPicPr>
        <p:blipFill>
          <a:blip r:embed="rId2"/>
          <a:stretch>
            <a:fillRect/>
          </a:stretch>
        </p:blipFill>
        <p:spPr>
          <a:xfrm>
            <a:off x="152400" y="1983822"/>
            <a:ext cx="6318575" cy="3041806"/>
          </a:xfrm>
          <a:prstGeom prst="rect">
            <a:avLst/>
          </a:prstGeom>
        </p:spPr>
      </p:pic>
      <p:sp>
        <p:nvSpPr>
          <p:cNvPr id="9" name="TextBox 8">
            <a:extLst>
              <a:ext uri="{FF2B5EF4-FFF2-40B4-BE49-F238E27FC236}">
                <a16:creationId xmlns:a16="http://schemas.microsoft.com/office/drawing/2014/main" id="{0B964FD6-4F91-4BA9-1F5F-AFA034B6236A}"/>
              </a:ext>
            </a:extLst>
          </p:cNvPr>
          <p:cNvSpPr txBox="1"/>
          <p:nvPr/>
        </p:nvSpPr>
        <p:spPr>
          <a:xfrm>
            <a:off x="5638800" y="5181600"/>
            <a:ext cx="6859022" cy="584775"/>
          </a:xfrm>
          <a:prstGeom prst="rect">
            <a:avLst/>
          </a:prstGeom>
          <a:noFill/>
        </p:spPr>
        <p:txBody>
          <a:bodyPr wrap="square">
            <a:spAutoFit/>
          </a:bodyPr>
          <a:lstStyle/>
          <a:p>
            <a:r>
              <a:rPr lang="en-US" dirty="0">
                <a:latin typeface="Calibri" panose="020F0502020204030204" pitchFamily="34" charset="0"/>
                <a:ea typeface="Calibri" panose="020F0502020204030204" pitchFamily="34" charset="0"/>
                <a:cs typeface="Calibri" panose="020F0502020204030204" pitchFamily="34" charset="0"/>
              </a:rPr>
              <a:t>https://second-hand-tigers.github.io/</a:t>
            </a:r>
          </a:p>
        </p:txBody>
      </p:sp>
      <p:pic>
        <p:nvPicPr>
          <p:cNvPr id="11" name="Picture 10">
            <a:extLst>
              <a:ext uri="{FF2B5EF4-FFF2-40B4-BE49-F238E27FC236}">
                <a16:creationId xmlns:a16="http://schemas.microsoft.com/office/drawing/2014/main" id="{F69E4AD2-FAE2-9ACF-64FA-16C8CCAD6461}"/>
              </a:ext>
            </a:extLst>
          </p:cNvPr>
          <p:cNvPicPr>
            <a:picLocks noChangeAspect="1"/>
          </p:cNvPicPr>
          <p:nvPr/>
        </p:nvPicPr>
        <p:blipFill>
          <a:blip r:embed="rId3"/>
          <a:stretch>
            <a:fillRect/>
          </a:stretch>
        </p:blipFill>
        <p:spPr>
          <a:xfrm>
            <a:off x="7696200" y="1964388"/>
            <a:ext cx="3061240" cy="3061240"/>
          </a:xfrm>
          <a:prstGeom prst="rect">
            <a:avLst/>
          </a:prstGeom>
        </p:spPr>
      </p:pic>
      <p:sp>
        <p:nvSpPr>
          <p:cNvPr id="13" name="TextBox 12">
            <a:extLst>
              <a:ext uri="{FF2B5EF4-FFF2-40B4-BE49-F238E27FC236}">
                <a16:creationId xmlns:a16="http://schemas.microsoft.com/office/drawing/2014/main" id="{80431A3A-30A7-E94D-3B7E-D0F6579615D9}"/>
              </a:ext>
            </a:extLst>
          </p:cNvPr>
          <p:cNvSpPr txBox="1"/>
          <p:nvPr/>
        </p:nvSpPr>
        <p:spPr>
          <a:xfrm>
            <a:off x="228600" y="381000"/>
            <a:ext cx="6019800" cy="584775"/>
          </a:xfrm>
          <a:prstGeom prst="rect">
            <a:avLst/>
          </a:prstGeom>
          <a:noFill/>
        </p:spPr>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Full Career Development Wiki</a:t>
            </a:r>
          </a:p>
        </p:txBody>
      </p:sp>
    </p:spTree>
    <p:extLst>
      <p:ext uri="{BB962C8B-B14F-4D97-AF65-F5344CB8AC3E}">
        <p14:creationId xmlns:p14="http://schemas.microsoft.com/office/powerpoint/2010/main" val="470885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89F43A-F46E-827E-84E5-AFF4ED59AED1}"/>
              </a:ext>
            </a:extLst>
          </p:cNvPr>
          <p:cNvSpPr txBox="1"/>
          <p:nvPr/>
        </p:nvSpPr>
        <p:spPr>
          <a:xfrm>
            <a:off x="533400" y="152400"/>
            <a:ext cx="1877437" cy="707886"/>
          </a:xfrm>
          <a:prstGeom prst="rect">
            <a:avLst/>
          </a:prstGeom>
          <a:noFill/>
        </p:spPr>
        <p:txBody>
          <a:bodyPr wrap="none" rtlCol="0">
            <a:spAutoFit/>
          </a:bodyPr>
          <a:lstStyle/>
          <a:p>
            <a:r>
              <a:rPr lang="en-US" sz="4000" dirty="0">
                <a:latin typeface="Calibri" panose="020F0502020204030204" pitchFamily="34" charset="0"/>
                <a:ea typeface="Calibri" panose="020F0502020204030204" pitchFamily="34" charset="0"/>
                <a:cs typeface="Calibri" panose="020F0502020204030204" pitchFamily="34" charset="0"/>
              </a:rPr>
              <a:t>BACKUP</a:t>
            </a:r>
          </a:p>
        </p:txBody>
      </p:sp>
    </p:spTree>
    <p:extLst>
      <p:ext uri="{BB962C8B-B14F-4D97-AF65-F5344CB8AC3E}">
        <p14:creationId xmlns:p14="http://schemas.microsoft.com/office/powerpoint/2010/main" val="1219829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4">
            <a:extLst>
              <a:ext uri="{FF2B5EF4-FFF2-40B4-BE49-F238E27FC236}">
                <a16:creationId xmlns:a16="http://schemas.microsoft.com/office/drawing/2014/main" id="{C99B8934-248B-C70F-F5D4-1459D20B14BA}"/>
              </a:ext>
            </a:extLst>
          </p:cNvPr>
          <p:cNvSpPr>
            <a:spLocks noGrp="1" noChangeArrowheads="1"/>
          </p:cNvSpPr>
          <p:nvPr>
            <p:ph type="title"/>
          </p:nvPr>
        </p:nvSpPr>
        <p:spPr>
          <a:xfrm>
            <a:off x="1289050" y="55563"/>
            <a:ext cx="11684000" cy="681037"/>
          </a:xfrm>
        </p:spPr>
        <p:txBody>
          <a:bodyPr/>
          <a:lstStyle/>
          <a:p>
            <a:r>
              <a:rPr lang="en-US" altLang="en-US" dirty="0"/>
              <a:t>Non-Technical Demand increases with Career Stages</a:t>
            </a:r>
          </a:p>
        </p:txBody>
      </p:sp>
      <p:sp>
        <p:nvSpPr>
          <p:cNvPr id="41987" name="Slide Number Placeholder 3">
            <a:extLst>
              <a:ext uri="{FF2B5EF4-FFF2-40B4-BE49-F238E27FC236}">
                <a16:creationId xmlns:a16="http://schemas.microsoft.com/office/drawing/2014/main" id="{6A9C55B8-FFA0-5DEB-6538-ABA9EF6B8E8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17270FF-FAF6-4C5E-A84E-6BCAC6A83FC8}" type="slidenum">
              <a:rPr lang="en-US" altLang="en-US" sz="1400" smtClean="0"/>
              <a:pPr>
                <a:spcBef>
                  <a:spcPct val="0"/>
                </a:spcBef>
                <a:buFontTx/>
                <a:buNone/>
              </a:pPr>
              <a:t>19</a:t>
            </a:fld>
            <a:endParaRPr lang="en-US" altLang="en-US" sz="1400"/>
          </a:p>
        </p:txBody>
      </p:sp>
      <p:graphicFrame>
        <p:nvGraphicFramePr>
          <p:cNvPr id="3" name="Table 3">
            <a:extLst>
              <a:ext uri="{FF2B5EF4-FFF2-40B4-BE49-F238E27FC236}">
                <a16:creationId xmlns:a16="http://schemas.microsoft.com/office/drawing/2014/main" id="{A7D78563-3E87-B09D-02B5-7A754B649D37}"/>
              </a:ext>
            </a:extLst>
          </p:cNvPr>
          <p:cNvGraphicFramePr>
            <a:graphicFrameLocks noGrp="1"/>
          </p:cNvGraphicFramePr>
          <p:nvPr>
            <p:extLst>
              <p:ext uri="{D42A27DB-BD31-4B8C-83A1-F6EECF244321}">
                <p14:modId xmlns:p14="http://schemas.microsoft.com/office/powerpoint/2010/main" val="1789868313"/>
              </p:ext>
            </p:extLst>
          </p:nvPr>
        </p:nvGraphicFramePr>
        <p:xfrm>
          <a:off x="122616" y="685800"/>
          <a:ext cx="11811000" cy="5674083"/>
        </p:xfrm>
        <a:graphic>
          <a:graphicData uri="http://schemas.openxmlformats.org/drawingml/2006/table">
            <a:tbl>
              <a:tblPr firstRow="1" bandRow="1">
                <a:tableStyleId>{5C22544A-7EE6-4342-B048-85BDC9FD1C3A}</a:tableStyleId>
              </a:tblPr>
              <a:tblGrid>
                <a:gridCol w="447387">
                  <a:extLst>
                    <a:ext uri="{9D8B030D-6E8A-4147-A177-3AD203B41FA5}">
                      <a16:colId xmlns:a16="http://schemas.microsoft.com/office/drawing/2014/main" val="20000"/>
                    </a:ext>
                  </a:extLst>
                </a:gridCol>
                <a:gridCol w="1533813">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gridCol w="6705600">
                  <a:extLst>
                    <a:ext uri="{9D8B030D-6E8A-4147-A177-3AD203B41FA5}">
                      <a16:colId xmlns:a16="http://schemas.microsoft.com/office/drawing/2014/main" val="20003"/>
                    </a:ext>
                  </a:extLst>
                </a:gridCol>
              </a:tblGrid>
              <a:tr h="370699">
                <a:tc>
                  <a:txBody>
                    <a:bodyPr/>
                    <a:lstStyle/>
                    <a:p>
                      <a:endParaRPr lang="en-US" sz="1800" dirty="0"/>
                    </a:p>
                  </a:txBody>
                  <a:tcPr marT="45703" marB="45703"/>
                </a:tc>
                <a:tc>
                  <a:txBody>
                    <a:bodyPr/>
                    <a:lstStyle/>
                    <a:p>
                      <a:r>
                        <a:rPr lang="en-US" sz="1800" dirty="0"/>
                        <a:t>Stage</a:t>
                      </a:r>
                    </a:p>
                  </a:txBody>
                  <a:tcPr marT="45703" marB="45703"/>
                </a:tc>
                <a:tc>
                  <a:txBody>
                    <a:bodyPr/>
                    <a:lstStyle/>
                    <a:p>
                      <a:r>
                        <a:rPr lang="en-US" sz="1800" dirty="0"/>
                        <a:t>Focus</a:t>
                      </a:r>
                    </a:p>
                  </a:txBody>
                  <a:tcPr marT="45703" marB="45703"/>
                </a:tc>
                <a:tc>
                  <a:txBody>
                    <a:bodyPr/>
                    <a:lstStyle/>
                    <a:p>
                      <a:r>
                        <a:rPr lang="en-US" sz="1800" dirty="0"/>
                        <a:t>Work Scope</a:t>
                      </a:r>
                    </a:p>
                  </a:txBody>
                  <a:tcPr marT="45703" marB="45703"/>
                </a:tc>
                <a:extLst>
                  <a:ext uri="{0D108BD9-81ED-4DB2-BD59-A6C34878D82A}">
                    <a16:rowId xmlns:a16="http://schemas.microsoft.com/office/drawing/2014/main" val="10000"/>
                  </a:ext>
                </a:extLst>
              </a:tr>
              <a:tr h="701000">
                <a:tc>
                  <a:txBody>
                    <a:bodyPr/>
                    <a:lstStyle/>
                    <a:p>
                      <a:r>
                        <a:rPr lang="en-US" sz="2000" dirty="0"/>
                        <a:t>1</a:t>
                      </a:r>
                    </a:p>
                  </a:txBody>
                  <a:tcPr marT="45703" marB="45703">
                    <a:solidFill>
                      <a:srgbClr val="00B050"/>
                    </a:solidFill>
                  </a:tcPr>
                </a:tc>
                <a:tc>
                  <a:txBody>
                    <a:bodyPr/>
                    <a:lstStyle/>
                    <a:p>
                      <a:r>
                        <a:rPr lang="en-US" sz="2000" b="1" dirty="0"/>
                        <a:t>Apprentice</a:t>
                      </a:r>
                    </a:p>
                    <a:p>
                      <a:r>
                        <a:rPr lang="en-US" sz="2000" dirty="0"/>
                        <a:t>   1-2 </a:t>
                      </a:r>
                      <a:r>
                        <a:rPr lang="en-US" sz="2000" dirty="0" err="1"/>
                        <a:t>yrs</a:t>
                      </a:r>
                      <a:endParaRPr lang="en-US" sz="2000" dirty="0"/>
                    </a:p>
                  </a:txBody>
                  <a:tcPr marT="45703" marB="45703"/>
                </a:tc>
                <a:tc>
                  <a:txBody>
                    <a:bodyPr/>
                    <a:lstStyle/>
                    <a:p>
                      <a:r>
                        <a:rPr lang="en-US" sz="2000" dirty="0"/>
                        <a:t>Learning the Business</a:t>
                      </a:r>
                    </a:p>
                    <a:p>
                      <a:endParaRPr lang="en-US" sz="2000" dirty="0"/>
                    </a:p>
                  </a:txBody>
                  <a:tcPr marT="45703" marB="45703"/>
                </a:tc>
                <a:tc>
                  <a:txBody>
                    <a:bodyPr/>
                    <a:lstStyle/>
                    <a:p>
                      <a:pPr marL="342900" indent="-342900">
                        <a:buFont typeface="Arial" panose="020B0604020202020204" pitchFamily="34" charset="0"/>
                        <a:buChar char="•"/>
                      </a:pPr>
                      <a:r>
                        <a:rPr lang="en-US" sz="1800" dirty="0"/>
                        <a:t>Training – Tools, Skills, Work Processes, Job Specific Theory</a:t>
                      </a:r>
                    </a:p>
                    <a:p>
                      <a:pPr marL="342900" indent="-342900">
                        <a:buFont typeface="Arial" panose="020B0604020202020204" pitchFamily="34" charset="0"/>
                        <a:buChar char="•"/>
                      </a:pPr>
                      <a:r>
                        <a:rPr lang="en-US" sz="1800" dirty="0"/>
                        <a:t>Tasks within project (under direction of Stage 2-3)</a:t>
                      </a:r>
                    </a:p>
                    <a:p>
                      <a:pPr marL="342900" indent="-342900">
                        <a:buFont typeface="Arial" panose="020B0604020202020204" pitchFamily="34" charset="0"/>
                        <a:buChar char="•"/>
                      </a:pPr>
                      <a:r>
                        <a:rPr lang="en-US" sz="1800" dirty="0">
                          <a:highlight>
                            <a:srgbClr val="FFFF00"/>
                          </a:highlight>
                        </a:rPr>
                        <a:t>Collaborating</a:t>
                      </a:r>
                    </a:p>
                  </a:txBody>
                  <a:tcPr marT="45703" marB="45703"/>
                </a:tc>
                <a:extLst>
                  <a:ext uri="{0D108BD9-81ED-4DB2-BD59-A6C34878D82A}">
                    <a16:rowId xmlns:a16="http://schemas.microsoft.com/office/drawing/2014/main" val="10001"/>
                  </a:ext>
                </a:extLst>
              </a:tr>
              <a:tr h="1188676">
                <a:tc>
                  <a:txBody>
                    <a:bodyPr/>
                    <a:lstStyle/>
                    <a:p>
                      <a:r>
                        <a:rPr lang="en-US" sz="2000" dirty="0"/>
                        <a:t>2</a:t>
                      </a:r>
                    </a:p>
                  </a:txBody>
                  <a:tcPr marT="45703" marB="45703">
                    <a:solidFill>
                      <a:srgbClr val="FF99CC"/>
                    </a:solidFill>
                  </a:tcPr>
                </a:tc>
                <a:tc>
                  <a:txBody>
                    <a:bodyPr/>
                    <a:lstStyle/>
                    <a:p>
                      <a:r>
                        <a:rPr lang="en-US" sz="2000" b="1" dirty="0"/>
                        <a:t>Colleague</a:t>
                      </a:r>
                    </a:p>
                    <a:p>
                      <a:r>
                        <a:rPr lang="en-US" sz="2000" dirty="0"/>
                        <a:t>   5-10+ </a:t>
                      </a:r>
                      <a:r>
                        <a:rPr lang="en-US" sz="2000" dirty="0" err="1"/>
                        <a:t>yrs</a:t>
                      </a:r>
                      <a:endParaRPr lang="en-US" sz="2000" dirty="0"/>
                    </a:p>
                  </a:txBody>
                  <a:tcPr marT="45703" marB="45703"/>
                </a:tc>
                <a:tc>
                  <a:txBody>
                    <a:bodyPr/>
                    <a:lstStyle/>
                    <a:p>
                      <a:r>
                        <a:rPr lang="en-US" sz="2000" dirty="0"/>
                        <a:t>Implementing</a:t>
                      </a:r>
                    </a:p>
                  </a:txBody>
                  <a:tcPr marT="45703" marB="45703"/>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Competent on standard Application and Troubleshooting in own discipline</a:t>
                      </a:r>
                    </a:p>
                    <a:p>
                      <a:pPr marL="342900" indent="-342900">
                        <a:buFont typeface="Arial" panose="020B0604020202020204" pitchFamily="34" charset="0"/>
                        <a:buChar char="•"/>
                      </a:pPr>
                      <a:r>
                        <a:rPr lang="en-US" sz="1800" dirty="0">
                          <a:highlight>
                            <a:srgbClr val="FFFF00"/>
                          </a:highlight>
                        </a:rPr>
                        <a:t>Leading</a:t>
                      </a:r>
                      <a:r>
                        <a:rPr lang="en-US" sz="1800" dirty="0"/>
                        <a:t> and contributing to standard projects of predefined scope. </a:t>
                      </a:r>
                      <a:r>
                        <a:rPr lang="en-US" sz="1800" dirty="0">
                          <a:highlight>
                            <a:srgbClr val="FFFF00"/>
                          </a:highlight>
                        </a:rPr>
                        <a:t>Onboarding and training Stage 1</a:t>
                      </a:r>
                    </a:p>
                    <a:p>
                      <a:pPr marL="342900" indent="-342900">
                        <a:buFont typeface="Arial" panose="020B0604020202020204" pitchFamily="34" charset="0"/>
                        <a:buChar char="•"/>
                      </a:pPr>
                      <a:r>
                        <a:rPr lang="en-US" sz="1800" dirty="0">
                          <a:highlight>
                            <a:srgbClr val="FFFF00"/>
                          </a:highlight>
                        </a:rPr>
                        <a:t>Managing Stakeholder Communication &amp; Expectations</a:t>
                      </a:r>
                    </a:p>
                  </a:txBody>
                  <a:tcPr marT="45703" marB="45703"/>
                </a:tc>
                <a:extLst>
                  <a:ext uri="{0D108BD9-81ED-4DB2-BD59-A6C34878D82A}">
                    <a16:rowId xmlns:a16="http://schemas.microsoft.com/office/drawing/2014/main" val="10002"/>
                  </a:ext>
                </a:extLst>
              </a:tr>
              <a:tr h="1737311">
                <a:tc>
                  <a:txBody>
                    <a:bodyPr/>
                    <a:lstStyle/>
                    <a:p>
                      <a:r>
                        <a:rPr lang="en-US" sz="2000" dirty="0"/>
                        <a:t>3</a:t>
                      </a:r>
                    </a:p>
                  </a:txBody>
                  <a:tcPr marT="45703" marB="45703">
                    <a:solidFill>
                      <a:srgbClr val="0066FF"/>
                    </a:solidFill>
                  </a:tcPr>
                </a:tc>
                <a:tc>
                  <a:txBody>
                    <a:bodyPr/>
                    <a:lstStyle/>
                    <a:p>
                      <a:r>
                        <a:rPr lang="en-US" sz="2000" b="1" dirty="0"/>
                        <a:t>Expert</a:t>
                      </a:r>
                    </a:p>
                    <a:p>
                      <a:r>
                        <a:rPr lang="en-US" sz="2000" dirty="0"/>
                        <a:t>   10+ </a:t>
                      </a:r>
                      <a:r>
                        <a:rPr lang="en-US" sz="2000" dirty="0" err="1"/>
                        <a:t>yrs</a:t>
                      </a:r>
                      <a:endParaRPr lang="en-US" sz="2000" dirty="0"/>
                    </a:p>
                  </a:txBody>
                  <a:tcPr marT="45703" marB="4570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dk1"/>
                          </a:solidFill>
                          <a:latin typeface="+mn-lt"/>
                          <a:ea typeface="+mn-ea"/>
                          <a:cs typeface="+mn-cs"/>
                        </a:rPr>
                        <a:t>Leadership/Mentoring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dk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kern="1200" dirty="0">
                        <a:solidFill>
                          <a:schemeClr val="dk1"/>
                        </a:solidFill>
                        <a:latin typeface="+mn-lt"/>
                        <a:ea typeface="+mn-ea"/>
                        <a:cs typeface="+mn-cs"/>
                      </a:endParaRPr>
                    </a:p>
                  </a:txBody>
                  <a:tcPr marT="45703" marB="45703"/>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Defining Projects and Initiatives (Scope, Benefit, Cost, Time)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t>Advanced Application &amp; Troubleshooting </a:t>
                      </a:r>
                    </a:p>
                    <a:p>
                      <a:pPr marL="342900" indent="-342900">
                        <a:buFont typeface="Arial" panose="020B0604020202020204" pitchFamily="34" charset="0"/>
                        <a:buChar char="•"/>
                      </a:pPr>
                      <a:r>
                        <a:rPr lang="en-US" sz="1800" dirty="0"/>
                        <a:t>Leading New Technology Pilots &amp; Commercialization</a:t>
                      </a:r>
                    </a:p>
                    <a:p>
                      <a:pPr marL="342900" indent="-342900">
                        <a:buFont typeface="Arial" panose="020B0604020202020204" pitchFamily="34" charset="0"/>
                        <a:buChar char="•"/>
                      </a:pPr>
                      <a:r>
                        <a:rPr lang="en-US" sz="1800" dirty="0">
                          <a:highlight>
                            <a:srgbClr val="FFFF00"/>
                          </a:highlight>
                        </a:rPr>
                        <a:t>Mentoring Stage 1-2</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highlight>
                            <a:srgbClr val="FFFF00"/>
                          </a:highlight>
                        </a:rPr>
                        <a:t>Coaching, 1-on-1s, Shadowing/Delegating</a:t>
                      </a:r>
                    </a:p>
                    <a:p>
                      <a:pPr marL="8001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highlight>
                            <a:srgbClr val="FFFF00"/>
                          </a:highlight>
                        </a:rPr>
                        <a:t>Accountability on “Individual Development Plans” </a:t>
                      </a:r>
                    </a:p>
                  </a:txBody>
                  <a:tcPr marT="45703" marB="45703"/>
                </a:tc>
                <a:extLst>
                  <a:ext uri="{0D108BD9-81ED-4DB2-BD59-A6C34878D82A}">
                    <a16:rowId xmlns:a16="http://schemas.microsoft.com/office/drawing/2014/main" val="10003"/>
                  </a:ext>
                </a:extLst>
              </a:tr>
              <a:tr h="1188676">
                <a:tc>
                  <a:txBody>
                    <a:bodyPr/>
                    <a:lstStyle/>
                    <a:p>
                      <a:r>
                        <a:rPr lang="en-US" sz="2000" dirty="0"/>
                        <a:t>4</a:t>
                      </a:r>
                    </a:p>
                  </a:txBody>
                  <a:tcPr marT="45703" marB="45703">
                    <a:solidFill>
                      <a:schemeClr val="accent6">
                        <a:lumMod val="60000"/>
                        <a:lumOff val="40000"/>
                      </a:schemeClr>
                    </a:solidFill>
                  </a:tcPr>
                </a:tc>
                <a:tc>
                  <a:txBody>
                    <a:bodyPr/>
                    <a:lstStyle/>
                    <a:p>
                      <a:r>
                        <a:rPr lang="en-US" sz="2000" b="1" dirty="0"/>
                        <a:t>Sponsor</a:t>
                      </a:r>
                    </a:p>
                  </a:txBody>
                  <a:tcPr marT="45703" marB="45703"/>
                </a:tc>
                <a:tc>
                  <a:txBody>
                    <a:bodyPr/>
                    <a:lstStyle/>
                    <a:p>
                      <a:r>
                        <a:rPr lang="en-US" sz="2000" dirty="0"/>
                        <a:t>Strategic Vision</a:t>
                      </a:r>
                    </a:p>
                    <a:p>
                      <a:r>
                        <a:rPr lang="en-US" sz="2000" dirty="0"/>
                        <a:t>Regional/Global Influence</a:t>
                      </a:r>
                    </a:p>
                  </a:txBody>
                  <a:tcPr marT="45703" marB="45703"/>
                </a:tc>
                <a:tc>
                  <a:txBody>
                    <a:bodyPr/>
                    <a:lstStyle/>
                    <a:p>
                      <a:pPr marL="342900" indent="-342900">
                        <a:buFont typeface="Arial" panose="020B0604020202020204" pitchFamily="34" charset="0"/>
                        <a:buChar char="•"/>
                      </a:pPr>
                      <a:r>
                        <a:rPr lang="en-US" sz="1800" dirty="0">
                          <a:highlight>
                            <a:srgbClr val="FFFF00"/>
                          </a:highlight>
                        </a:rPr>
                        <a:t>Developing the Strategic Plan (1 &amp; 5 year)</a:t>
                      </a:r>
                    </a:p>
                    <a:p>
                      <a:pPr marL="342900" indent="-342900">
                        <a:buFont typeface="Arial" panose="020B0604020202020204" pitchFamily="34" charset="0"/>
                        <a:buChar char="•"/>
                      </a:pPr>
                      <a:r>
                        <a:rPr lang="en-US" sz="1800" dirty="0">
                          <a:highlight>
                            <a:srgbClr val="FFFF00"/>
                          </a:highlight>
                        </a:rPr>
                        <a:t>Promoting the Strategic plan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a:highlight>
                            <a:srgbClr val="FFFF00"/>
                          </a:highlight>
                        </a:rPr>
                        <a:t>Driving Emerging Technologies to Commercialization</a:t>
                      </a:r>
                    </a:p>
                    <a:p>
                      <a:pPr marL="342900" indent="-342900">
                        <a:buFont typeface="Arial" panose="020B0604020202020204" pitchFamily="34" charset="0"/>
                        <a:buChar char="•"/>
                      </a:pPr>
                      <a:r>
                        <a:rPr lang="en-US" sz="1800" dirty="0">
                          <a:highlight>
                            <a:srgbClr val="FFFF00"/>
                          </a:highlight>
                        </a:rPr>
                        <a:t>Regional/Global Discipline Health</a:t>
                      </a:r>
                    </a:p>
                  </a:txBody>
                  <a:tcPr marT="45703" marB="45703"/>
                </a:tc>
                <a:extLst>
                  <a:ext uri="{0D108BD9-81ED-4DB2-BD59-A6C34878D82A}">
                    <a16:rowId xmlns:a16="http://schemas.microsoft.com/office/drawing/2014/main" val="10004"/>
                  </a:ext>
                </a:extLst>
              </a:tr>
            </a:tbl>
          </a:graphicData>
        </a:graphic>
      </p:graphicFrame>
      <p:sp>
        <p:nvSpPr>
          <p:cNvPr id="2" name="Speech Bubble: Rectangle with Corners Rounded 1">
            <a:extLst>
              <a:ext uri="{FF2B5EF4-FFF2-40B4-BE49-F238E27FC236}">
                <a16:creationId xmlns:a16="http://schemas.microsoft.com/office/drawing/2014/main" id="{214DFEAB-8D89-D9B0-6127-32911834F3BB}"/>
              </a:ext>
            </a:extLst>
          </p:cNvPr>
          <p:cNvSpPr/>
          <p:nvPr/>
        </p:nvSpPr>
        <p:spPr bwMode="auto">
          <a:xfrm>
            <a:off x="2514600" y="3814762"/>
            <a:ext cx="2590800" cy="685800"/>
          </a:xfrm>
          <a:prstGeom prst="wedgeRoundRectCallout">
            <a:avLst>
              <a:gd name="adj1" fmla="val 72256"/>
              <a:gd name="adj2" fmla="val 3179"/>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a:ln>
                  <a:noFill/>
                </a:ln>
                <a:solidFill>
                  <a:schemeClr val="tx1"/>
                </a:solidFill>
                <a:effectLst/>
                <a:latin typeface="EMprint" panose="020B0503020204020204" pitchFamily="34" charset="0"/>
                <a:ea typeface="EMprint" panose="020B0503020204020204" pitchFamily="34" charset="0"/>
              </a:rPr>
              <a:t>R&amp;Rs with significant non-technical component</a:t>
            </a:r>
          </a:p>
        </p:txBody>
      </p:sp>
      <p:sp>
        <p:nvSpPr>
          <p:cNvPr id="4" name="TextBox 3">
            <a:extLst>
              <a:ext uri="{FF2B5EF4-FFF2-40B4-BE49-F238E27FC236}">
                <a16:creationId xmlns:a16="http://schemas.microsoft.com/office/drawing/2014/main" id="{6165FF05-7E9C-2B27-8327-D23E1346E14D}"/>
              </a:ext>
            </a:extLst>
          </p:cNvPr>
          <p:cNvSpPr txBox="1"/>
          <p:nvPr/>
        </p:nvSpPr>
        <p:spPr>
          <a:xfrm>
            <a:off x="116814" y="6463462"/>
            <a:ext cx="8134856" cy="400110"/>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hlinkClick r:id="rId2"/>
              </a:rPr>
              <a:t>Technical Career Stages · second-hand-tigers/</a:t>
            </a:r>
            <a:r>
              <a:rPr lang="en-US" sz="2000" dirty="0" err="1">
                <a:latin typeface="Calibri" panose="020F0502020204030204" pitchFamily="34" charset="0"/>
                <a:ea typeface="Calibri" panose="020F0502020204030204" pitchFamily="34" charset="0"/>
                <a:cs typeface="Calibri" panose="020F0502020204030204" pitchFamily="34" charset="0"/>
                <a:hlinkClick r:id="rId2"/>
              </a:rPr>
              <a:t>badocter</a:t>
            </a:r>
            <a:r>
              <a:rPr lang="en-US" sz="2000" dirty="0">
                <a:latin typeface="Calibri" panose="020F0502020204030204" pitchFamily="34" charset="0"/>
                <a:ea typeface="Calibri" panose="020F0502020204030204" pitchFamily="34" charset="0"/>
                <a:cs typeface="Calibri" panose="020F0502020204030204" pitchFamily="34" charset="0"/>
                <a:hlinkClick r:id="rId2"/>
              </a:rPr>
              <a:t>-career-learnings Wiki</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B47C9A4-4B7E-6316-3B8D-ACB403E0B8A5}"/>
              </a:ext>
            </a:extLst>
          </p:cNvPr>
          <p:cNvSpPr txBox="1"/>
          <p:nvPr/>
        </p:nvSpPr>
        <p:spPr>
          <a:xfrm>
            <a:off x="762000" y="5638800"/>
            <a:ext cx="1141659" cy="584775"/>
          </a:xfrm>
          <a:prstGeom prst="rect">
            <a:avLst/>
          </a:prstGeom>
          <a:noFill/>
        </p:spPr>
        <p:txBody>
          <a:bodyPr wrap="none" rtlCol="0">
            <a:spAutoFit/>
          </a:bodyPr>
          <a:lstStyle/>
          <a:p>
            <a:r>
              <a:rPr lang="en-US" dirty="0">
                <a:highlight>
                  <a:srgbClr val="FFFF00"/>
                </a:highlight>
                <a:latin typeface="Calibri" panose="020F0502020204030204" pitchFamily="34" charset="0"/>
                <a:ea typeface="Calibri" panose="020F0502020204030204" pitchFamily="34" charset="0"/>
                <a:cs typeface="Calibri" panose="020F0502020204030204" pitchFamily="34" charset="0"/>
              </a:rPr>
              <a:t>100%</a:t>
            </a:r>
          </a:p>
        </p:txBody>
      </p:sp>
      <p:sp>
        <p:nvSpPr>
          <p:cNvPr id="7" name="TextBox 6">
            <a:extLst>
              <a:ext uri="{FF2B5EF4-FFF2-40B4-BE49-F238E27FC236}">
                <a16:creationId xmlns:a16="http://schemas.microsoft.com/office/drawing/2014/main" id="{3D32CBCD-DD2B-CABC-1188-D1818981E0B3}"/>
              </a:ext>
            </a:extLst>
          </p:cNvPr>
          <p:cNvSpPr txBox="1"/>
          <p:nvPr/>
        </p:nvSpPr>
        <p:spPr>
          <a:xfrm>
            <a:off x="841650" y="4267200"/>
            <a:ext cx="894797" cy="584775"/>
          </a:xfrm>
          <a:prstGeom prst="rect">
            <a:avLst/>
          </a:prstGeom>
          <a:noFill/>
        </p:spPr>
        <p:txBody>
          <a:bodyPr wrap="none" rtlCol="0">
            <a:spAutoFit/>
          </a:bodyPr>
          <a:lstStyle/>
          <a:p>
            <a:r>
              <a:rPr lang="en-US" dirty="0">
                <a:highlight>
                  <a:srgbClr val="FFFF00"/>
                </a:highlight>
                <a:latin typeface="Calibri" panose="020F0502020204030204" pitchFamily="34" charset="0"/>
                <a:ea typeface="Calibri" panose="020F0502020204030204" pitchFamily="34" charset="0"/>
                <a:cs typeface="Calibri" panose="020F0502020204030204" pitchFamily="34" charset="0"/>
              </a:rPr>
              <a:t>50%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a:extLst>
              <a:ext uri="{FF2B5EF4-FFF2-40B4-BE49-F238E27FC236}">
                <a16:creationId xmlns:a16="http://schemas.microsoft.com/office/drawing/2014/main" id="{1A674B71-2DBB-BAE8-DF75-BCDA412AE0D0}"/>
              </a:ext>
            </a:extLst>
          </p:cNvPr>
          <p:cNvSpPr>
            <a:spLocks noGrp="1" noChangeArrowheads="1"/>
          </p:cNvSpPr>
          <p:nvPr>
            <p:ph type="title"/>
          </p:nvPr>
        </p:nvSpPr>
        <p:spPr>
          <a:xfrm>
            <a:off x="1646238" y="76200"/>
            <a:ext cx="8763000" cy="681038"/>
          </a:xfrm>
        </p:spPr>
        <p:txBody>
          <a:bodyPr/>
          <a:lstStyle/>
          <a:p>
            <a:r>
              <a:rPr lang="en-US" altLang="en-US"/>
              <a:t>Crafting a Balanced Development Plan</a:t>
            </a:r>
          </a:p>
        </p:txBody>
      </p:sp>
      <p:sp>
        <p:nvSpPr>
          <p:cNvPr id="51203" name="Content Placeholder 2">
            <a:extLst>
              <a:ext uri="{FF2B5EF4-FFF2-40B4-BE49-F238E27FC236}">
                <a16:creationId xmlns:a16="http://schemas.microsoft.com/office/drawing/2014/main" id="{6E985B54-7305-4BF1-DAA1-CFB9AD8375CE}"/>
              </a:ext>
            </a:extLst>
          </p:cNvPr>
          <p:cNvSpPr>
            <a:spLocks noGrp="1" noChangeArrowheads="1"/>
          </p:cNvSpPr>
          <p:nvPr>
            <p:ph idx="1"/>
          </p:nvPr>
        </p:nvSpPr>
        <p:spPr>
          <a:xfrm>
            <a:off x="304800" y="2895600"/>
            <a:ext cx="10744200" cy="3124200"/>
          </a:xfrm>
        </p:spPr>
        <p:txBody>
          <a:bodyPr/>
          <a:lstStyle/>
          <a:p>
            <a:pPr marL="0" indent="0">
              <a:buFontTx/>
              <a:buNone/>
            </a:pPr>
            <a:r>
              <a:rPr lang="en-US" altLang="en-US" sz="2000" b="1" dirty="0"/>
              <a:t>Focus on Quality over Quantity</a:t>
            </a:r>
          </a:p>
          <a:p>
            <a:pPr lvl="1"/>
            <a:r>
              <a:rPr lang="en-US" altLang="en-US" sz="1800" dirty="0"/>
              <a:t>Setting too many goals can often result in none of them getting done well and feeling overwhelmed (3-4 items at most in each area)</a:t>
            </a:r>
          </a:p>
          <a:p>
            <a:pPr marL="0" indent="0">
              <a:buFontTx/>
              <a:buNone/>
            </a:pPr>
            <a:r>
              <a:rPr lang="en-US" altLang="en-US" sz="2000" b="1" dirty="0"/>
              <a:t>Tie each objective to a tangible deliverable that requires the competency</a:t>
            </a:r>
          </a:p>
          <a:p>
            <a:pPr lvl="1"/>
            <a:r>
              <a:rPr lang="en-US" altLang="en-US" sz="1800" dirty="0"/>
              <a:t>Training doesn’t stick or deliver value without practical reinforcement</a:t>
            </a:r>
          </a:p>
          <a:p>
            <a:pPr lvl="1"/>
            <a:r>
              <a:rPr lang="en-US" altLang="en-US" sz="1800" dirty="0"/>
              <a:t>Tie development accomplishments with value delivery in performance discussions</a:t>
            </a:r>
          </a:p>
          <a:p>
            <a:pPr marL="0" indent="0">
              <a:buFontTx/>
              <a:buNone/>
            </a:pPr>
            <a:r>
              <a:rPr lang="en-US" altLang="en-US" sz="2000" b="1" dirty="0"/>
              <a:t>Identify &amp; leverage a mentor strong in the competency</a:t>
            </a:r>
          </a:p>
          <a:p>
            <a:pPr lvl="1"/>
            <a:r>
              <a:rPr lang="en-US" altLang="en-US" sz="1800" dirty="0"/>
              <a:t>You can’t teach yourself if you don’t know what you don’t know</a:t>
            </a:r>
          </a:p>
          <a:p>
            <a:pPr lvl="1"/>
            <a:r>
              <a:rPr lang="en-US" altLang="en-US" sz="1800" dirty="0"/>
              <a:t>Discuss your development plan with your Mentor &amp; Supervisor regularly</a:t>
            </a:r>
          </a:p>
          <a:p>
            <a:pPr marL="0" indent="0">
              <a:buFontTx/>
              <a:buNone/>
            </a:pPr>
            <a:r>
              <a:rPr lang="en-US" altLang="en-US" sz="2000" b="1" dirty="0"/>
              <a:t>Get a Mentor’s input on your plan </a:t>
            </a:r>
            <a:r>
              <a:rPr lang="en-US" altLang="en-US" sz="2000" b="1" dirty="0">
                <a:sym typeface="Wingdings" panose="05000000000000000000" pitchFamily="2" charset="2"/>
              </a:rPr>
              <a:t> Flush out your blind spots!</a:t>
            </a:r>
            <a:endParaRPr lang="en-US" altLang="en-US" sz="2000" b="1" dirty="0"/>
          </a:p>
          <a:p>
            <a:pPr lvl="1"/>
            <a:endParaRPr lang="en-US" altLang="en-US" sz="1600" dirty="0"/>
          </a:p>
        </p:txBody>
      </p:sp>
      <p:sp>
        <p:nvSpPr>
          <p:cNvPr id="51204" name="Slide Number Placeholder 3">
            <a:extLst>
              <a:ext uri="{FF2B5EF4-FFF2-40B4-BE49-F238E27FC236}">
                <a16:creationId xmlns:a16="http://schemas.microsoft.com/office/drawing/2014/main" id="{89A7DA3B-8386-F35A-718E-761422FC1D5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E9BFFE8-EE29-4106-88CE-ED1B387196DD}" type="slidenum">
              <a:rPr lang="en-US" altLang="en-US" sz="1400" smtClean="0"/>
              <a:pPr>
                <a:spcBef>
                  <a:spcPct val="0"/>
                </a:spcBef>
                <a:buFontTx/>
                <a:buNone/>
              </a:pPr>
              <a:t>20</a:t>
            </a:fld>
            <a:endParaRPr lang="en-US" altLang="en-US" sz="1400"/>
          </a:p>
        </p:txBody>
      </p:sp>
      <p:sp>
        <p:nvSpPr>
          <p:cNvPr id="5" name="Content Placeholder 2">
            <a:extLst>
              <a:ext uri="{FF2B5EF4-FFF2-40B4-BE49-F238E27FC236}">
                <a16:creationId xmlns:a16="http://schemas.microsoft.com/office/drawing/2014/main" id="{17F02BAF-B018-8CC9-FD3E-85CC116A5196}"/>
              </a:ext>
            </a:extLst>
          </p:cNvPr>
          <p:cNvSpPr txBox="1">
            <a:spLocks noChangeArrowheads="1"/>
          </p:cNvSpPr>
          <p:nvPr/>
        </p:nvSpPr>
        <p:spPr bwMode="auto">
          <a:xfrm>
            <a:off x="304800" y="660400"/>
            <a:ext cx="7848600" cy="2138363"/>
          </a:xfrm>
          <a:prstGeom prst="rect">
            <a:avLst/>
          </a:prstGeom>
          <a:noFill/>
          <a:ln>
            <a:noFill/>
          </a:ln>
          <a:effectLst/>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buFontTx/>
              <a:buNone/>
              <a:defRPr/>
            </a:pPr>
            <a:r>
              <a:rPr lang="en-US" altLang="en-US" sz="2400" b="1" kern="0" dirty="0"/>
              <a:t>Set at least one objective each planning cycle (~yearly) in each Dimension</a:t>
            </a:r>
          </a:p>
          <a:p>
            <a:pPr marL="914400" lvl="1" indent="-457200">
              <a:buFont typeface="+mj-lt"/>
              <a:buAutoNum type="arabicPeriod"/>
              <a:defRPr/>
            </a:pPr>
            <a:r>
              <a:rPr lang="en-US" altLang="en-US" sz="2000" kern="0" dirty="0"/>
              <a:t>Leadership</a:t>
            </a:r>
          </a:p>
          <a:p>
            <a:pPr marL="914400" lvl="1" indent="-457200">
              <a:buFont typeface="+mj-lt"/>
              <a:buAutoNum type="arabicPeriod"/>
              <a:defRPr/>
            </a:pPr>
            <a:r>
              <a:rPr lang="en-US" altLang="en-US" sz="2000" kern="0" dirty="0"/>
              <a:t>Business</a:t>
            </a:r>
          </a:p>
          <a:p>
            <a:pPr marL="914400" lvl="1" indent="-457200">
              <a:buFont typeface="+mj-lt"/>
              <a:buAutoNum type="arabicPeriod"/>
              <a:defRPr/>
            </a:pPr>
            <a:r>
              <a:rPr lang="en-US" altLang="en-US" sz="2000" kern="0" dirty="0"/>
              <a:t>Interpersonal</a:t>
            </a:r>
          </a:p>
          <a:p>
            <a:pPr marL="914400" lvl="1" indent="-457200">
              <a:buFont typeface="+mj-lt"/>
              <a:buAutoNum type="arabicPeriod"/>
              <a:defRPr/>
            </a:pPr>
            <a:r>
              <a:rPr lang="en-US" altLang="en-US" sz="2000" kern="0" dirty="0"/>
              <a:t>Technical</a:t>
            </a:r>
          </a:p>
          <a:p>
            <a:pPr lvl="1">
              <a:defRPr/>
            </a:pPr>
            <a:endParaRPr lang="en-US" altLang="en-US" sz="1800" kern="0" dirty="0"/>
          </a:p>
        </p:txBody>
      </p:sp>
      <p:sp>
        <p:nvSpPr>
          <p:cNvPr id="2" name="TextBox 1">
            <a:extLst>
              <a:ext uri="{FF2B5EF4-FFF2-40B4-BE49-F238E27FC236}">
                <a16:creationId xmlns:a16="http://schemas.microsoft.com/office/drawing/2014/main" id="{FDAE59B7-A0FB-DFE1-ADCC-47FD35E07A6F}"/>
              </a:ext>
            </a:extLst>
          </p:cNvPr>
          <p:cNvSpPr txBox="1"/>
          <p:nvPr/>
        </p:nvSpPr>
        <p:spPr>
          <a:xfrm>
            <a:off x="446558" y="6355001"/>
            <a:ext cx="10460684" cy="400110"/>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hlinkClick r:id="rId2"/>
              </a:rPr>
              <a:t>Setting and Accomplishing Development Goals · second-hand-tigers/</a:t>
            </a:r>
            <a:r>
              <a:rPr lang="en-US" sz="2000" dirty="0" err="1">
                <a:latin typeface="Calibri" panose="020F0502020204030204" pitchFamily="34" charset="0"/>
                <a:ea typeface="Calibri" panose="020F0502020204030204" pitchFamily="34" charset="0"/>
                <a:cs typeface="Calibri" panose="020F0502020204030204" pitchFamily="34" charset="0"/>
                <a:hlinkClick r:id="rId2"/>
              </a:rPr>
              <a:t>badocter</a:t>
            </a:r>
            <a:r>
              <a:rPr lang="en-US" sz="2000" dirty="0">
                <a:latin typeface="Calibri" panose="020F0502020204030204" pitchFamily="34" charset="0"/>
                <a:ea typeface="Calibri" panose="020F0502020204030204" pitchFamily="34" charset="0"/>
                <a:cs typeface="Calibri" panose="020F0502020204030204" pitchFamily="34" charset="0"/>
                <a:hlinkClick r:id="rId2"/>
              </a:rPr>
              <a:t>-career-learnings Wiki</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1_BLANK PRESENTATION">
  <a:themeElements>
    <a:clrScheme name="1_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BLANK PRESENTATION">
      <a:majorFont>
        <a:latin typeface="Arial"/>
        <a:ea typeface=""/>
        <a:cs typeface=""/>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_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XOM Blank Presentation">
  <a:themeElements>
    <a:clrScheme name="XOM Blank Presentation 9">
      <a:dk1>
        <a:srgbClr val="000000"/>
      </a:dk1>
      <a:lt1>
        <a:srgbClr val="FFFFFF"/>
      </a:lt1>
      <a:dk2>
        <a:srgbClr val="000000"/>
      </a:dk2>
      <a:lt2>
        <a:srgbClr val="969696"/>
      </a:lt2>
      <a:accent1>
        <a:srgbClr val="99CCFF"/>
      </a:accent1>
      <a:accent2>
        <a:srgbClr val="FFFF99"/>
      </a:accent2>
      <a:accent3>
        <a:srgbClr val="FFFFFF"/>
      </a:accent3>
      <a:accent4>
        <a:srgbClr val="000000"/>
      </a:accent4>
      <a:accent5>
        <a:srgbClr val="CAE2FF"/>
      </a:accent5>
      <a:accent6>
        <a:srgbClr val="E7E78A"/>
      </a:accent6>
      <a:hlink>
        <a:srgbClr val="00CC99"/>
      </a:hlink>
      <a:folHlink>
        <a:srgbClr val="FF0000"/>
      </a:folHlink>
    </a:clrScheme>
    <a:fontScheme name="XOM Blank Presentation">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MS PGothic" pitchFamily="34" charset="-128"/>
          </a:defRPr>
        </a:defPPr>
      </a:lstStyle>
    </a:lnDef>
  </a:objectDefaults>
  <a:extraClrSchemeLst>
    <a:extraClrScheme>
      <a:clrScheme name="XOM 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XOM 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XOM 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XOM 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XOM 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XOM 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XOM 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XOM Blank Presentation 8">
        <a:dk1>
          <a:srgbClr val="000000"/>
        </a:dk1>
        <a:lt1>
          <a:srgbClr val="FFFFFF"/>
        </a:lt1>
        <a:dk2>
          <a:srgbClr val="0000FF"/>
        </a:dk2>
        <a:lt2>
          <a:srgbClr val="FFFFFF"/>
        </a:lt2>
        <a:accent1>
          <a:srgbClr val="99CCFF"/>
        </a:accent1>
        <a:accent2>
          <a:srgbClr val="FFFF99"/>
        </a:accent2>
        <a:accent3>
          <a:srgbClr val="AAAAFF"/>
        </a:accent3>
        <a:accent4>
          <a:srgbClr val="DADADA"/>
        </a:accent4>
        <a:accent5>
          <a:srgbClr val="CAE2FF"/>
        </a:accent5>
        <a:accent6>
          <a:srgbClr val="E7E78A"/>
        </a:accent6>
        <a:hlink>
          <a:srgbClr val="00CC99"/>
        </a:hlink>
        <a:folHlink>
          <a:srgbClr val="FF0000"/>
        </a:folHlink>
      </a:clrScheme>
      <a:clrMap bg1="dk2" tx1="lt1" bg2="dk1" tx2="lt2" accent1="accent1" accent2="accent2" accent3="accent3" accent4="accent4" accent5="accent5" accent6="accent6" hlink="hlink" folHlink="folHlink"/>
    </a:extraClrScheme>
    <a:extraClrScheme>
      <a:clrScheme name="XOM Blank Presentation 9">
        <a:dk1>
          <a:srgbClr val="000000"/>
        </a:dk1>
        <a:lt1>
          <a:srgbClr val="FFFFFF"/>
        </a:lt1>
        <a:dk2>
          <a:srgbClr val="000000"/>
        </a:dk2>
        <a:lt2>
          <a:srgbClr val="969696"/>
        </a:lt2>
        <a:accent1>
          <a:srgbClr val="99CCFF"/>
        </a:accent1>
        <a:accent2>
          <a:srgbClr val="FFFF99"/>
        </a:accent2>
        <a:accent3>
          <a:srgbClr val="FFFFFF"/>
        </a:accent3>
        <a:accent4>
          <a:srgbClr val="000000"/>
        </a:accent4>
        <a:accent5>
          <a:srgbClr val="CAE2FF"/>
        </a:accent5>
        <a:accent6>
          <a:srgbClr val="E7E78A"/>
        </a:accent6>
        <a:hlink>
          <a:srgbClr val="00CC99"/>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XOM Blank Presentation">
  <a:themeElements>
    <a:clrScheme name="XOM Blank Presentation 9">
      <a:dk1>
        <a:srgbClr val="000000"/>
      </a:dk1>
      <a:lt1>
        <a:srgbClr val="FFFFFF"/>
      </a:lt1>
      <a:dk2>
        <a:srgbClr val="000000"/>
      </a:dk2>
      <a:lt2>
        <a:srgbClr val="969696"/>
      </a:lt2>
      <a:accent1>
        <a:srgbClr val="99CCFF"/>
      </a:accent1>
      <a:accent2>
        <a:srgbClr val="FFFF99"/>
      </a:accent2>
      <a:accent3>
        <a:srgbClr val="FFFFFF"/>
      </a:accent3>
      <a:accent4>
        <a:srgbClr val="000000"/>
      </a:accent4>
      <a:accent5>
        <a:srgbClr val="CAE2FF"/>
      </a:accent5>
      <a:accent6>
        <a:srgbClr val="E7E78A"/>
      </a:accent6>
      <a:hlink>
        <a:srgbClr val="00CC99"/>
      </a:hlink>
      <a:folHlink>
        <a:srgbClr val="FF0000"/>
      </a:folHlink>
    </a:clrScheme>
    <a:fontScheme name="XOM Blank Presentation">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MS PGothic" pitchFamily="34"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Arial" charset="0"/>
            <a:ea typeface="MS PGothic" pitchFamily="34" charset="-128"/>
          </a:defRPr>
        </a:defPPr>
      </a:lstStyle>
    </a:lnDef>
  </a:objectDefaults>
  <a:extraClrSchemeLst>
    <a:extraClrScheme>
      <a:clrScheme name="XOM 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XOM 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XOM 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XOM 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XOM 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XOM 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XOM 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XOM Blank Presentation 8">
        <a:dk1>
          <a:srgbClr val="000000"/>
        </a:dk1>
        <a:lt1>
          <a:srgbClr val="FFFFFF"/>
        </a:lt1>
        <a:dk2>
          <a:srgbClr val="0000FF"/>
        </a:dk2>
        <a:lt2>
          <a:srgbClr val="FFFFFF"/>
        </a:lt2>
        <a:accent1>
          <a:srgbClr val="99CCFF"/>
        </a:accent1>
        <a:accent2>
          <a:srgbClr val="FFFF99"/>
        </a:accent2>
        <a:accent3>
          <a:srgbClr val="AAAAFF"/>
        </a:accent3>
        <a:accent4>
          <a:srgbClr val="DADADA"/>
        </a:accent4>
        <a:accent5>
          <a:srgbClr val="CAE2FF"/>
        </a:accent5>
        <a:accent6>
          <a:srgbClr val="E7E78A"/>
        </a:accent6>
        <a:hlink>
          <a:srgbClr val="00CC99"/>
        </a:hlink>
        <a:folHlink>
          <a:srgbClr val="FF0000"/>
        </a:folHlink>
      </a:clrScheme>
      <a:clrMap bg1="dk2" tx1="lt1" bg2="dk1" tx2="lt2" accent1="accent1" accent2="accent2" accent3="accent3" accent4="accent4" accent5="accent5" accent6="accent6" hlink="hlink" folHlink="folHlink"/>
    </a:extraClrScheme>
    <a:extraClrScheme>
      <a:clrScheme name="XOM Blank Presentation 9">
        <a:dk1>
          <a:srgbClr val="000000"/>
        </a:dk1>
        <a:lt1>
          <a:srgbClr val="FFFFFF"/>
        </a:lt1>
        <a:dk2>
          <a:srgbClr val="000000"/>
        </a:dk2>
        <a:lt2>
          <a:srgbClr val="969696"/>
        </a:lt2>
        <a:accent1>
          <a:srgbClr val="99CCFF"/>
        </a:accent1>
        <a:accent2>
          <a:srgbClr val="FFFF99"/>
        </a:accent2>
        <a:accent3>
          <a:srgbClr val="FFFFFF"/>
        </a:accent3>
        <a:accent4>
          <a:srgbClr val="000000"/>
        </a:accent4>
        <a:accent5>
          <a:srgbClr val="CAE2FF"/>
        </a:accent5>
        <a:accent6>
          <a:srgbClr val="E7E78A"/>
        </a:accent6>
        <a:hlink>
          <a:srgbClr val="00CC99"/>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efault Document" ma:contentTypeID="0x0101008E2A78AE2DDD7C4494E2F8EB84825A6F0045A20F75C7146E44A5355838CE3D6ED0" ma:contentTypeVersion="4" ma:contentTypeDescription="Default ExxonMobil Document" ma:contentTypeScope="" ma:versionID="27e655a3e93d6c6d66d92bab4cffce34">
  <xsd:schema xmlns:xsd="http://www.w3.org/2001/XMLSchema" xmlns:xs="http://www.w3.org/2001/XMLSchema" xmlns:p="http://schemas.microsoft.com/office/2006/metadata/properties" xmlns:ns2="7ae014b6-d307-456a-8363-1ce15ed89c71" targetNamespace="http://schemas.microsoft.com/office/2006/metadata/properties" ma:root="true" ma:fieldsID="c9609c60079367146d955150d1f2ed5b" ns2:_="">
    <xsd:import namespace="7ae014b6-d307-456a-8363-1ce15ed89c71"/>
    <xsd:element name="properties">
      <xsd:complexType>
        <xsd:sequence>
          <xsd:element name="documentManagement">
            <xsd:complexType>
              <xsd:all>
                <xsd:element ref="ns2:MPI_x005f_x0020_Classification"/>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e014b6-d307-456a-8363-1ce15ed89c71" elementFormDefault="qualified">
    <xsd:import namespace="http://schemas.microsoft.com/office/2006/documentManagement/types"/>
    <xsd:import namespace="http://schemas.microsoft.com/office/infopath/2007/PartnerControls"/>
    <xsd:element name="MPI_x005f_x0020_Classification" ma:index="8" ma:displayName="MPI Classification" ma:default="Not Classified" ma:description="" ma:format="Dropdown" ma:internalName="MPI_x0020_Classification" ma:readOnly="false">
      <xsd:simpleType>
        <xsd:restriction base="dms:Choice">
          <xsd:enumeration value="Not Classified"/>
          <xsd:enumeration value="Proprietary"/>
          <xsd:enumeration value="Private"/>
          <xsd:enumeration value="Restricted Distribution"/>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9"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PI_x005f_x0020_Classification xmlns="7ae014b6-d307-456a-8363-1ce15ed89c71">Not Classified</MPI_x005f_x0020_Classification>
  </documentManagement>
</p:properties>
</file>

<file path=customXml/itemProps1.xml><?xml version="1.0" encoding="utf-8"?>
<ds:datastoreItem xmlns:ds="http://schemas.openxmlformats.org/officeDocument/2006/customXml" ds:itemID="{E955D370-19F9-46FE-BCEF-26B7409F67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e014b6-d307-456a-8363-1ce15ed89c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308897B-2C9E-4D20-959C-E269EA052278}">
  <ds:schemaRefs>
    <ds:schemaRef ds:uri="http://purl.org/dc/terms/"/>
    <ds:schemaRef ds:uri="http://www.w3.org/XML/1998/namespace"/>
    <ds:schemaRef ds:uri="http://schemas.microsoft.com/office/2006/documentManagement/types"/>
    <ds:schemaRef ds:uri="http://purl.org/dc/elements/1.1/"/>
    <ds:schemaRef ds:uri="http://schemas.microsoft.com/office/infopath/2007/PartnerControls"/>
    <ds:schemaRef ds:uri="http://purl.org/dc/dcmitype/"/>
    <ds:schemaRef ds:uri="http://schemas.openxmlformats.org/package/2006/metadata/core-properties"/>
    <ds:schemaRef ds:uri="7ae014b6-d307-456a-8363-1ce15ed89c71"/>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54415</TotalTime>
  <Words>2916</Words>
  <Application>Microsoft Office PowerPoint</Application>
  <PresentationFormat>Widescreen</PresentationFormat>
  <Paragraphs>362</Paragraphs>
  <Slides>20</Slides>
  <Notes>6</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20</vt:i4>
      </vt:variant>
    </vt:vector>
  </HeadingPairs>
  <TitlesOfParts>
    <vt:vector size="31" baseType="lpstr">
      <vt:lpstr>Arial</vt:lpstr>
      <vt:lpstr>Calibri</vt:lpstr>
      <vt:lpstr>Century Gothic</vt:lpstr>
      <vt:lpstr>EMprint</vt:lpstr>
      <vt:lpstr>Symbol</vt:lpstr>
      <vt:lpstr>Times New Roman</vt:lpstr>
      <vt:lpstr>Wingdings</vt:lpstr>
      <vt:lpstr>1_BLANK PRESENTATION</vt:lpstr>
      <vt:lpstr>XOM Blank Presentation</vt:lpstr>
      <vt:lpstr>1_XOM Blank Presentation</vt:lpstr>
      <vt:lpstr>Office Theme</vt:lpstr>
      <vt:lpstr>PowerPoint Presentation</vt:lpstr>
      <vt:lpstr>Overview</vt:lpstr>
      <vt:lpstr>Dimensions of Development and Mentoring Focus</vt:lpstr>
      <vt:lpstr>Don’t Be the Technical “A” Who Gets an “F” on the Other Three</vt:lpstr>
      <vt:lpstr>Your LBIT Assessment Has Already Started</vt:lpstr>
      <vt:lpstr>LBIT Screenings in Your Job Hunt</vt:lpstr>
      <vt:lpstr>You Probably Have Highlights Across LBIT for Your Job Hunt</vt:lpstr>
      <vt:lpstr>Resume: One Bullet, Four Dimensions</vt:lpstr>
      <vt:lpstr>LinkedIn: Every Profile Entry Is a Potential Probe</vt:lpstr>
      <vt:lpstr>LinkedIn: Do Your Homework on the Interview Team</vt:lpstr>
      <vt:lpstr>The Interviewer Is Working From a Script</vt:lpstr>
      <vt:lpstr>One Resume Bullet, Four Probes</vt:lpstr>
      <vt:lpstr>Cover All Four Before You're Asked</vt:lpstr>
      <vt:lpstr>Mock Interview: The Game</vt:lpstr>
      <vt:lpstr>Debrief</vt:lpstr>
      <vt:lpstr>More Than a Toolbox of Technical Skills</vt:lpstr>
      <vt:lpstr>PowerPoint Presentation</vt:lpstr>
      <vt:lpstr>PowerPoint Presentation</vt:lpstr>
      <vt:lpstr>Non-Technical Demand increases with Career Stages</vt:lpstr>
      <vt:lpstr>Crafting a Balanced Development Plan</vt:lpstr>
    </vt:vector>
  </TitlesOfParts>
  <Company>Exxon Research and Engineering,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William Docter</dc:creator>
  <cp:lastModifiedBy>William Docter</cp:lastModifiedBy>
  <cp:revision>948</cp:revision>
  <cp:lastPrinted>2019-02-18T15:11:36Z</cp:lastPrinted>
  <dcterms:created xsi:type="dcterms:W3CDTF">1998-03-23T19:34:04Z</dcterms:created>
  <dcterms:modified xsi:type="dcterms:W3CDTF">2026-10-26T12:13:00Z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-1445636588</vt:i4>
  </property>
  <property fmtid="{D5CDD505-2E9C-101B-9397-08002B2CF9AE}" pid="3" name="_NewReviewCycle">
    <vt:lpwstr/>
  </property>
  <property fmtid="{D5CDD505-2E9C-101B-9397-08002B2CF9AE}" pid="4" name="_EmailSubject">
    <vt:lpwstr>Dr Dr's Career development deck</vt:lpwstr>
  </property>
  <property fmtid="{D5CDD505-2E9C-101B-9397-08002B2CF9AE}" pid="5" name="_AuthorEmail">
    <vt:lpwstr>william.a.docter@exxonmobil.com</vt:lpwstr>
  </property>
  <property fmtid="{D5CDD505-2E9C-101B-9397-08002B2CF9AE}" pid="6" name="_AuthorEmailDisplayName">
    <vt:lpwstr>Docter, William A</vt:lpwstr>
  </property>
  <property fmtid="{D5CDD505-2E9C-101B-9397-08002B2CF9AE}" pid="7" name="_PreviousAdHocReviewCycleID">
    <vt:i4>194732023</vt:i4>
  </property>
</Properties>
</file>